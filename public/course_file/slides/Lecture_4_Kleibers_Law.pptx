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6" r:id="rId3"/>
    <p:sldId id="267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74BB-24D7-78D2-E430-737C0EE36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A11A5-F159-1B1D-7307-91D98999C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B138E-8F3D-211E-CB41-DFDFD863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D68AF-E8FC-14DA-0CBB-F4AB7B51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32C8-E116-46EE-BF3B-FB92307C5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56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C3F70-B632-1C33-0E8D-AC3ADF9B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7C359-43AA-6B76-E854-DD1854DF4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ABA2B-C443-5B89-B7B9-8BF1041D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6683F-D518-C076-1DF5-CA28EF08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B9DB7-4F2D-8096-9242-23146E70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5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411E-C51A-F2D7-38F3-695091360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46646-F252-D0AE-724C-DB75572F1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A3BE9-4AF9-3EC5-0545-3104726AB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D0A03-BA95-8630-D0C8-D88361A5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3A93-8879-92F0-8D6F-ED34D047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6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6913-A2F5-FEC2-E974-5237B784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CE99-E802-988E-9A22-E0F3D2AA0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8EB77-BA08-5D0C-5F83-828DE82A1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73231-4D19-EDFB-C484-3EAEE954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1D06A-A9D1-0148-B58C-CC050B84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B26CA-EB27-6E23-F980-79FADBC3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1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F64A-14E9-F9DD-A3E8-21664A8F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F92A5-D87B-EE0D-16CC-9783B5A33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08654-247F-26EC-FE0D-517792AEE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3B9887-11A9-BDA6-61F0-9BCC480EF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4C9CCA-B660-F650-D987-1B648427D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C2EFE7-841A-B416-8147-3D5D5242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DB0AAD-6AD3-D0A7-E545-245066B3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21F9DE-04FC-7A6C-2962-54A5639C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30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28CA-2630-B077-0DAF-11313405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78520-1DEB-CC63-84FF-B08C64019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28EC6-CE2A-70A1-16B6-C92116E4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75B26-15B3-987E-0AAA-A1D28EC1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4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D9A854-D352-85FC-4992-B96F0D0F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54948D-BD70-2EDB-69D7-1AA6FA05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70C00-9451-3770-37EB-C7B2676C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4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A122-43B4-FA2C-5E21-0E837B4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C2A0-4B6D-8EB6-54A2-6AE5A199E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A50DB-2F44-6FCF-DA24-4CB3DCB08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F4411-4789-0258-C82E-CC2F3DF0C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BDE7D-537B-6557-C118-989BC0A1D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EF861-5AC9-92C7-3280-6750801B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0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6E463-6788-2CFD-AD06-4FF5FAF1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B2DB7-A47F-F5F9-9032-0F23E0AFF5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F86FC-2916-D6DB-19E2-A005E30D4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DB2E7-CA93-489D-8814-CDD9432B5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56D30-71E0-F0E7-EAB2-7721FDB15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6A093-A293-6669-7D45-ADCB8081E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1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8EF6-69C2-EE00-E0C6-4C2D446B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13F7F-7C9A-87C7-79E2-DDA87E17F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01F10-BE48-DCAD-13E0-77D1D3191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4135D-5FA1-63CE-5A70-004D98343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DC2B2-BA5B-6771-8523-2691B048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2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F5C628-37FB-38B9-35BA-EFD3CDAB2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3590F-969C-3910-FE78-245CA38DE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04DA8-B45B-3F37-7306-2F75B19E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37693-6E10-C85B-D527-2391EC0C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568FD-0695-C845-F290-50D876B1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45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70CBCC-0B39-6FF0-C6DB-A5753151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E4ABF-184E-B95A-8379-1D8BB3093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953A8-BB85-0D40-4D7E-B0EE924E1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2778C-78BA-FB43-A140-3D9BA749353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D4FDE-BFAA-D596-EC2A-4E77C344B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FB80A-6849-A441-6E95-B34E6CF82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3DA4B-5086-BC46-B613-F41EFAD43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7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enerated image 4">
            <a:extLst>
              <a:ext uri="{FF2B5EF4-FFF2-40B4-BE49-F238E27FC236}">
                <a16:creationId xmlns:a16="http://schemas.microsoft.com/office/drawing/2014/main" id="{B665D657-4440-36FB-4419-88FF2D686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748" y="1597212"/>
            <a:ext cx="5878775" cy="4587886"/>
          </a:xfrm>
          <a:prstGeom prst="rect">
            <a:avLst/>
          </a:prstGeom>
        </p:spPr>
      </p:pic>
      <p:sp>
        <p:nvSpPr>
          <p:cNvPr id="6" name="文本框 2">
            <a:extLst>
              <a:ext uri="{FF2B5EF4-FFF2-40B4-BE49-F238E27FC236}">
                <a16:creationId xmlns:a16="http://schemas.microsoft.com/office/drawing/2014/main" id="{1BDAB66F-CD26-D9BA-1451-0AF77AC1765F}"/>
              </a:ext>
            </a:extLst>
          </p:cNvPr>
          <p:cNvSpPr>
            <a:spLocks noGrp="1"/>
          </p:cNvSpPr>
          <p:nvPr/>
        </p:nvSpPr>
        <p:spPr>
          <a:xfrm>
            <a:off x="387694" y="6185098"/>
            <a:ext cx="11128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dirty="0">
                <a:latin typeface="Mazda Type" pitchFamily="2" charset="77"/>
              </a:rPr>
              <a:t>Source: West, B.J. Systems 2, 89–118 (2014), Fig. 1; data from Schmidt-Nielsen (1984). CC BY 3.0.</a:t>
            </a:r>
            <a:endParaRPr sz="1400" dirty="0">
              <a:latin typeface="Mazda Type" pitchFamily="2" charset="77"/>
              <a:ea typeface="Mazda Type"/>
              <a:cs typeface="Mazda Typ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66795F-C634-5E84-7097-CFE8CBA61EB1}"/>
              </a:ext>
            </a:extLst>
          </p:cNvPr>
          <p:cNvSpPr>
            <a:spLocks noGrp="1"/>
          </p:cNvSpPr>
          <p:nvPr/>
        </p:nvSpPr>
        <p:spPr>
          <a:xfrm>
            <a:off x="1149436" y="519028"/>
            <a:ext cx="9893128" cy="64636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3600" b="0">
                <a:solidFill>
                  <a:srgbClr val="202020"/>
                </a:solidFill>
                <a:latin typeface="Mazda Type"/>
                <a:ea typeface="Mazda Type"/>
                <a:cs typeface="Mazda Type"/>
              </a:defRPr>
            </a:pPr>
            <a:r>
              <a:rPr lang="en-US" sz="3200" dirty="0">
                <a:solidFill>
                  <a:srgbClr val="202020"/>
                </a:solidFill>
                <a:latin typeface="Mazda Type"/>
              </a:rPr>
              <a:t>Kleiber’s law: Larger animals use more energy, but less energy per unit mass</a:t>
            </a:r>
            <a:endParaRPr sz="3200" b="0" dirty="0">
              <a:solidFill>
                <a:srgbClr val="202020"/>
              </a:solidFill>
              <a:latin typeface="Mazda Type"/>
              <a:ea typeface="Mazda Type"/>
              <a:cs typeface="Mazda Type"/>
            </a:endParaRPr>
          </a:p>
        </p:txBody>
      </p:sp>
    </p:spTree>
    <p:extLst>
      <p:ext uri="{BB962C8B-B14F-4D97-AF65-F5344CB8AC3E}">
        <p14:creationId xmlns:p14="http://schemas.microsoft.com/office/powerpoint/2010/main" val="4195708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03D11-4D28-308F-5164-3800038E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>
            <a:extLst>
              <a:ext uri="{FF2B5EF4-FFF2-40B4-BE49-F238E27FC236}">
                <a16:creationId xmlns:a16="http://schemas.microsoft.com/office/drawing/2014/main" id="{7746226D-05A1-CCE9-6234-D7AA1B4EEECB}"/>
              </a:ext>
            </a:extLst>
          </p:cNvPr>
          <p:cNvSpPr>
            <a:spLocks noGrp="1"/>
          </p:cNvSpPr>
          <p:nvPr/>
        </p:nvSpPr>
        <p:spPr>
          <a:xfrm>
            <a:off x="387694" y="6315416"/>
            <a:ext cx="11128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dirty="0">
                <a:latin typeface="Mazda Type" pitchFamily="2" charset="77"/>
              </a:rPr>
              <a:t>West, Brown &amp; Enquist (1997), Science 276:122–126.</a:t>
            </a:r>
            <a:endParaRPr sz="1400" dirty="0">
              <a:latin typeface="Mazda Type" pitchFamily="2" charset="77"/>
              <a:ea typeface="Mazda Type"/>
              <a:cs typeface="Mazda Type"/>
            </a:endParaRPr>
          </a:p>
        </p:txBody>
      </p:sp>
      <p:pic>
        <p:nvPicPr>
          <p:cNvPr id="2" name="Picture 1" descr="WBE branching-network schematic">
            <a:extLst>
              <a:ext uri="{FF2B5EF4-FFF2-40B4-BE49-F238E27FC236}">
                <a16:creationId xmlns:a16="http://schemas.microsoft.com/office/drawing/2014/main" id="{07276DB6-CD43-8C5B-042A-BBFC214B6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702" y="1808205"/>
            <a:ext cx="6878595" cy="4241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79BF8D-E6A7-961B-8C36-26F5F5B42E95}"/>
              </a:ext>
            </a:extLst>
          </p:cNvPr>
          <p:cNvSpPr>
            <a:spLocks noGrp="1"/>
          </p:cNvSpPr>
          <p:nvPr/>
        </p:nvSpPr>
        <p:spPr>
          <a:xfrm>
            <a:off x="1511743" y="484811"/>
            <a:ext cx="9168512" cy="64636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3600" b="0">
                <a:solidFill>
                  <a:srgbClr val="202020"/>
                </a:solidFill>
                <a:latin typeface="Mazda Type"/>
                <a:ea typeface="Mazda Type"/>
                <a:cs typeface="Mazda Type"/>
              </a:defRPr>
            </a:pPr>
            <a:r>
              <a:rPr lang="en-US" sz="2800" dirty="0">
                <a:solidFill>
                  <a:srgbClr val="202020"/>
                </a:solidFill>
                <a:latin typeface="Mazda Type"/>
              </a:rPr>
              <a:t>WBE theory: Optimized fractal networks may explain ¾ scaling law of Kleiber</a:t>
            </a:r>
            <a:endParaRPr sz="2800" b="0" dirty="0">
              <a:solidFill>
                <a:srgbClr val="202020"/>
              </a:solidFill>
              <a:latin typeface="Mazda Type"/>
              <a:ea typeface="Mazda Type"/>
              <a:cs typeface="Mazda Type"/>
            </a:endParaRPr>
          </a:p>
        </p:txBody>
      </p:sp>
    </p:spTree>
    <p:extLst>
      <p:ext uri="{BB962C8B-B14F-4D97-AF65-F5344CB8AC3E}">
        <p14:creationId xmlns:p14="http://schemas.microsoft.com/office/powerpoint/2010/main" val="318782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1A791-865C-37DF-32AB-4EBEA627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>
            <a:extLst>
              <a:ext uri="{FF2B5EF4-FFF2-40B4-BE49-F238E27FC236}">
                <a16:creationId xmlns:a16="http://schemas.microsoft.com/office/drawing/2014/main" id="{038044DB-D28F-8A83-2ECE-CE424F100A24}"/>
              </a:ext>
            </a:extLst>
          </p:cNvPr>
          <p:cNvSpPr>
            <a:spLocks noGrp="1"/>
          </p:cNvSpPr>
          <p:nvPr/>
        </p:nvSpPr>
        <p:spPr>
          <a:xfrm>
            <a:off x="387694" y="6228918"/>
            <a:ext cx="11128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dirty="0">
                <a:latin typeface="Mazda Type" pitchFamily="2" charset="77"/>
              </a:rPr>
              <a:t>White &amp; Seymour (2003), PNAS 100:4046–4049.</a:t>
            </a:r>
            <a:endParaRPr sz="1400" dirty="0">
              <a:latin typeface="Mazda Type" pitchFamily="2" charset="77"/>
              <a:ea typeface="Mazda Type"/>
              <a:cs typeface="Mazda Type"/>
            </a:endParaRPr>
          </a:p>
        </p:txBody>
      </p:sp>
      <p:pic>
        <p:nvPicPr>
          <p:cNvPr id="2" name="Picture 1" descr="Figure 2">
            <a:extLst>
              <a:ext uri="{FF2B5EF4-FFF2-40B4-BE49-F238E27FC236}">
                <a16:creationId xmlns:a16="http://schemas.microsoft.com/office/drawing/2014/main" id="{291AA827-7F03-037E-585F-BC58168A9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157" y="1512216"/>
            <a:ext cx="3366570" cy="4554771"/>
          </a:xfrm>
          <a:prstGeom prst="rect">
            <a:avLst/>
          </a:prstGeom>
        </p:spPr>
      </p:pic>
      <p:pic>
        <p:nvPicPr>
          <p:cNvPr id="7" name="Picture 6" descr="Figure 3">
            <a:extLst>
              <a:ext uri="{FF2B5EF4-FFF2-40B4-BE49-F238E27FC236}">
                <a16:creationId xmlns:a16="http://schemas.microsoft.com/office/drawing/2014/main" id="{14686F3A-73E7-C1C2-79F6-49FFEB912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630" y="1425080"/>
            <a:ext cx="3366571" cy="46419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6C51642-4516-17A9-4A75-EAD41FA315A8}"/>
              </a:ext>
            </a:extLst>
          </p:cNvPr>
          <p:cNvSpPr>
            <a:spLocks noGrp="1"/>
          </p:cNvSpPr>
          <p:nvPr/>
        </p:nvSpPr>
        <p:spPr>
          <a:xfrm>
            <a:off x="531542" y="501012"/>
            <a:ext cx="11128915" cy="64636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3600" b="0">
                <a:solidFill>
                  <a:srgbClr val="202020"/>
                </a:solidFill>
                <a:latin typeface="Mazda Type"/>
                <a:ea typeface="Mazda Type"/>
                <a:cs typeface="Mazda Type"/>
              </a:defRPr>
            </a:pPr>
            <a:r>
              <a:rPr lang="en-US" sz="3200" dirty="0">
                <a:solidFill>
                  <a:srgbClr val="202020"/>
                </a:solidFill>
                <a:latin typeface="Mazda Type"/>
              </a:rPr>
              <a:t>Empirical studies disagree over whether metabolic rate scales as 3/4 or 2/3</a:t>
            </a:r>
            <a:endParaRPr sz="3200" b="0" dirty="0">
              <a:solidFill>
                <a:srgbClr val="202020"/>
              </a:solidFill>
              <a:latin typeface="Mazda Type"/>
              <a:ea typeface="Mazda Type"/>
              <a:cs typeface="Mazda Type"/>
            </a:endParaRPr>
          </a:p>
        </p:txBody>
      </p:sp>
    </p:spTree>
    <p:extLst>
      <p:ext uri="{BB962C8B-B14F-4D97-AF65-F5344CB8AC3E}">
        <p14:creationId xmlns:p14="http://schemas.microsoft.com/office/powerpoint/2010/main" val="311085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C69E3D-9C43-F545-C56A-AEF339B11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026" y="-4507351"/>
            <a:ext cx="7289157" cy="11154114"/>
          </a:xfrm>
          <a:prstGeom prst="rect">
            <a:avLst/>
          </a:prstGeom>
        </p:spPr>
      </p:pic>
      <p:sp>
        <p:nvSpPr>
          <p:cNvPr id="8" name="文本框 2">
            <a:extLst>
              <a:ext uri="{FF2B5EF4-FFF2-40B4-BE49-F238E27FC236}">
                <a16:creationId xmlns:a16="http://schemas.microsoft.com/office/drawing/2014/main" id="{1A21AC28-31D5-7A2F-36B9-12438E6B6FA0}"/>
              </a:ext>
            </a:extLst>
          </p:cNvPr>
          <p:cNvSpPr>
            <a:spLocks noGrp="1"/>
          </p:cNvSpPr>
          <p:nvPr/>
        </p:nvSpPr>
        <p:spPr>
          <a:xfrm>
            <a:off x="296256" y="6338986"/>
            <a:ext cx="11128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dirty="0">
                <a:latin typeface="Mazda Type" pitchFamily="2" charset="77"/>
              </a:rPr>
              <a:t>Uri Alon (2019) An Introduction to Systems Biology 2nd edition</a:t>
            </a:r>
            <a:endParaRPr sz="1400" dirty="0">
              <a:latin typeface="Mazda Type" pitchFamily="2" charset="77"/>
              <a:ea typeface="Mazda Type"/>
              <a:cs typeface="Mazda Typ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7B6348-66C8-5684-8AC1-53FBBE401709}"/>
              </a:ext>
            </a:extLst>
          </p:cNvPr>
          <p:cNvSpPr>
            <a:spLocks noGrp="1"/>
          </p:cNvSpPr>
          <p:nvPr/>
        </p:nvSpPr>
        <p:spPr>
          <a:xfrm>
            <a:off x="1474260" y="423339"/>
            <a:ext cx="9243480" cy="64636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3600" b="0">
                <a:solidFill>
                  <a:srgbClr val="202020"/>
                </a:solidFill>
                <a:latin typeface="Mazda Type"/>
                <a:ea typeface="Mazda Type"/>
                <a:cs typeface="Mazda Type"/>
              </a:defRPr>
            </a:pPr>
            <a:r>
              <a:rPr lang="en-US" sz="2800" b="0" dirty="0">
                <a:solidFill>
                  <a:srgbClr val="202020"/>
                </a:solidFill>
                <a:latin typeface="Mazda Type"/>
                <a:ea typeface="Mazda Type"/>
                <a:cs typeface="Mazda Type"/>
              </a:rPr>
              <a:t>A yet-to-be-discovered physiological factor operates independently to ¼ allometric scaling</a:t>
            </a:r>
            <a:endParaRPr sz="2800" b="0" dirty="0">
              <a:solidFill>
                <a:srgbClr val="202020"/>
              </a:solidFill>
              <a:latin typeface="Mazda Type"/>
              <a:ea typeface="Mazda Type"/>
              <a:cs typeface="Mazda Type"/>
            </a:endParaRPr>
          </a:p>
        </p:txBody>
      </p:sp>
    </p:spTree>
    <p:extLst>
      <p:ext uri="{BB962C8B-B14F-4D97-AF65-F5344CB8AC3E}">
        <p14:creationId xmlns:p14="http://schemas.microsoft.com/office/powerpoint/2010/main" val="422018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Mazda Type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Yifan YANG 杨一帆</dc:creator>
  <cp:lastModifiedBy>Yifan YANG 杨一帆</cp:lastModifiedBy>
  <cp:revision>1</cp:revision>
  <dcterms:created xsi:type="dcterms:W3CDTF">2026-09-11T09:41:57Z</dcterms:created>
  <dcterms:modified xsi:type="dcterms:W3CDTF">2026-09-11T09:42:15Z</dcterms:modified>
</cp:coreProperties>
</file>