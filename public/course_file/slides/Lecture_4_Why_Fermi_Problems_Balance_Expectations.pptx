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68" r:id="rId5"/>
    <p:sldId id="269" r:id="rId6"/>
    <p:sldId id="270"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79"/>
    <p:restoredTop sz="94658"/>
  </p:normalViewPr>
  <p:slideViewPr>
    <p:cSldViewPr snapToGrid="0">
      <p:cViewPr varScale="1">
        <p:scale>
          <a:sx n="120" d="100"/>
          <a:sy n="120" d="100"/>
        </p:scale>
        <p:origin x="4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Title intentionally omitted so the figure can accompany the instructor’s own title. All diagram components are native editable PowerPoint shapes and text. Masses are approximate illustrative reference values, not a dataset. Protein example: 50 </a:t>
            </a:r>
            <a:r>
              <a:rPr dirty="0" err="1"/>
              <a:t>kDa</a:t>
            </a:r>
            <a:r>
              <a:rPr dirty="0"/>
              <a:t> × 1.66054e-27 kg/Da ≈ 8.3e-23 kg. Cellular and tree masses vary widely. Sun and neutron-star masses share an order of magnitude but differ greatly in compactness. The theory bands are representative applications, not mass cutoffs. Context: https://</a:t>
            </a:r>
            <a:r>
              <a:rPr dirty="0" err="1"/>
              <a:t>www.einstein-online.info</a:t>
            </a:r>
            <a:r>
              <a:rPr dirty="0"/>
              <a:t>/</a:t>
            </a:r>
            <a:r>
              <a:rPr dirty="0" err="1"/>
              <a:t>en</a:t>
            </a:r>
            <a:r>
              <a:rPr dirty="0"/>
              <a:t>/spotlight/</a:t>
            </a:r>
            <a:r>
              <a:rPr dirty="0" err="1"/>
              <a:t>mass_and_more</a:t>
            </a:r>
            <a:r>
              <a:rPr dirty="0"/>
              <a:t>/ ; https://</a:t>
            </a:r>
            <a:r>
              <a:rPr dirty="0" err="1"/>
              <a:t>www.nobelprize.org</a:t>
            </a:r>
            <a:r>
              <a:rPr dirty="0"/>
              <a:t>/prizes/physics/2021/summary/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three numbered stages mark the central acts of scientific judgment: build a physical picture, identify a quantitative phenomenon, and construct a model. Mathematics develops the model. Its results can revise both the physical picture and the quantitative phenomenon, so research proceeds iteratively rather than in one direction.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Fermi problems train two closely related research steps: identifying a quantitative phenomenon from a physical picture, and turning that phenomenon into a model. Mathematics can then change how we understand the system and what phenomena we seek or recognize.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complete chain is iterative. Mathematics can revise both the physical picture and the quantitative phenomenon. The current emphasis of the course remains the physical picture. The brackets show overlapping disciplinary comfort zones, while the branched feedback arrow shows why researchers must move across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9DE69-9A82-1CFF-1C45-D3BE64E6460F}"/>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8CA435C7-33F3-9F7C-BB4D-8874A01A9F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2D4497FE-C9B2-CEF6-E61A-1B6E6914F958}"/>
              </a:ext>
            </a:extLst>
          </p:cNvPr>
          <p:cNvSpPr>
            <a:spLocks noGrp="1"/>
          </p:cNvSpPr>
          <p:nvPr>
            <p:ph type="dt" idx="10"/>
          </p:nvPr>
        </p:nvSpPr>
        <p:spPr/>
        <p:txBody>
          <a:bodyPr/>
          <a:lstStyle/>
          <a:p>
            <a:fld id="{E6CE3109-A386-3849-8ECC-EC45731BEEA0}" type="datetimeFigureOut">
              <a:t>9/11/26</a:t>
            </a:fld>
            <a:endParaRPr/>
          </a:p>
        </p:txBody>
      </p:sp>
      <p:sp>
        <p:nvSpPr>
          <p:cNvPr id="5" name="Footer Placeholder 4">
            <a:extLst>
              <a:ext uri="{FF2B5EF4-FFF2-40B4-BE49-F238E27FC236}">
                <a16:creationId xmlns:a16="http://schemas.microsoft.com/office/drawing/2014/main" id="{36B0DEA5-E39A-E51B-FEE5-CCB65D564E1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CFB65F4-1D0C-6115-1A50-4A2E2ED24030}"/>
              </a:ext>
            </a:extLst>
          </p:cNvPr>
          <p:cNvSpPr>
            <a:spLocks noGrp="1"/>
          </p:cNvSpPr>
          <p:nvPr>
            <p:ph type="sldNum" idx="12"/>
          </p:nvPr>
        </p:nvSpPr>
        <p:spPr/>
        <p:txBody>
          <a:bodyPr/>
          <a:lstStyle/>
          <a:p>
            <a:fld id="{CBC5B9F0-98DC-D84D-8172-1057BFD2C873}"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5184B-8327-17C7-652A-03BEF3FC626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95E14808-89A4-87A3-3577-2AC48820E9A4}"/>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416447A-0012-68A6-7C84-F580ADE61C1B}"/>
              </a:ext>
            </a:extLst>
          </p:cNvPr>
          <p:cNvSpPr>
            <a:spLocks noGrp="1"/>
          </p:cNvSpPr>
          <p:nvPr>
            <p:ph type="dt" idx="10"/>
          </p:nvPr>
        </p:nvSpPr>
        <p:spPr/>
        <p:txBody>
          <a:bodyPr/>
          <a:lstStyle/>
          <a:p>
            <a:fld id="{E6CE3109-A386-3849-8ECC-EC45731BEEA0}" type="datetimeFigureOut">
              <a:t>9/11/26</a:t>
            </a:fld>
            <a:endParaRPr/>
          </a:p>
        </p:txBody>
      </p:sp>
      <p:sp>
        <p:nvSpPr>
          <p:cNvPr id="5" name="Footer Placeholder 4">
            <a:extLst>
              <a:ext uri="{FF2B5EF4-FFF2-40B4-BE49-F238E27FC236}">
                <a16:creationId xmlns:a16="http://schemas.microsoft.com/office/drawing/2014/main" id="{89137F94-5181-B5CD-0FB4-7FDD680E124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F868738-C0AD-90CA-2080-F8D122D961A7}"/>
              </a:ext>
            </a:extLst>
          </p:cNvPr>
          <p:cNvSpPr>
            <a:spLocks noGrp="1"/>
          </p:cNvSpPr>
          <p:nvPr>
            <p:ph type="sldNum" idx="12"/>
          </p:nvPr>
        </p:nvSpPr>
        <p:spPr/>
        <p:txBody>
          <a:bodyPr/>
          <a:lstStyle/>
          <a:p>
            <a:fld id="{CBC5B9F0-98DC-D84D-8172-1057BFD2C873}"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3E0EB-E7DB-A75A-9FD3-B8356935FBB3}"/>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F0126C7B-B3E9-4A86-4677-980B3C826E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5B6539CA-73DE-F646-90DE-90F1438F46A5}"/>
              </a:ext>
            </a:extLst>
          </p:cNvPr>
          <p:cNvSpPr>
            <a:spLocks noGrp="1"/>
          </p:cNvSpPr>
          <p:nvPr>
            <p:ph type="dt" idx="10"/>
          </p:nvPr>
        </p:nvSpPr>
        <p:spPr/>
        <p:txBody>
          <a:bodyPr/>
          <a:lstStyle/>
          <a:p>
            <a:fld id="{E6CE3109-A386-3849-8ECC-EC45731BEEA0}" type="datetimeFigureOut">
              <a:t>9/11/26</a:t>
            </a:fld>
            <a:endParaRPr/>
          </a:p>
        </p:txBody>
      </p:sp>
      <p:sp>
        <p:nvSpPr>
          <p:cNvPr id="5" name="Footer Placeholder 4">
            <a:extLst>
              <a:ext uri="{FF2B5EF4-FFF2-40B4-BE49-F238E27FC236}">
                <a16:creationId xmlns:a16="http://schemas.microsoft.com/office/drawing/2014/main" id="{AB51B769-EB2B-6A72-F3E9-77B2E83AAA1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1B9EA6E-DBBF-771C-262E-88C30F6CC773}"/>
              </a:ext>
            </a:extLst>
          </p:cNvPr>
          <p:cNvSpPr>
            <a:spLocks noGrp="1"/>
          </p:cNvSpPr>
          <p:nvPr>
            <p:ph type="sldNum" idx="12"/>
          </p:nvPr>
        </p:nvSpPr>
        <p:spPr/>
        <p:txBody>
          <a:bodyPr/>
          <a:lstStyle/>
          <a:p>
            <a:fld id="{CBC5B9F0-98DC-D84D-8172-1057BFD2C873}"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623FC-B22B-8F52-0A6A-8DAA15B9EAED}"/>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C395FE1D-99A5-D1B2-4DA2-8F9E5C7FD845}"/>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FB360C8-E042-189C-B6CD-71327FD78A6F}"/>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712E5267-F7A9-9B9E-1729-9A19D00C3AF1}"/>
              </a:ext>
            </a:extLst>
          </p:cNvPr>
          <p:cNvSpPr>
            <a:spLocks noGrp="1"/>
          </p:cNvSpPr>
          <p:nvPr>
            <p:ph type="dt" idx="10"/>
          </p:nvPr>
        </p:nvSpPr>
        <p:spPr/>
        <p:txBody>
          <a:bodyPr/>
          <a:lstStyle/>
          <a:p>
            <a:fld id="{E6CE3109-A386-3849-8ECC-EC45731BEEA0}" type="datetimeFigureOut">
              <a:t>9/11/26</a:t>
            </a:fld>
            <a:endParaRPr/>
          </a:p>
        </p:txBody>
      </p:sp>
      <p:sp>
        <p:nvSpPr>
          <p:cNvPr id="6" name="Footer Placeholder 5">
            <a:extLst>
              <a:ext uri="{FF2B5EF4-FFF2-40B4-BE49-F238E27FC236}">
                <a16:creationId xmlns:a16="http://schemas.microsoft.com/office/drawing/2014/main" id="{0979CF99-CD67-B5EC-36A6-541FE79AEB4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9FDF2C6-A9DD-FCE5-165F-0BB51C4EB9E8}"/>
              </a:ext>
            </a:extLst>
          </p:cNvPr>
          <p:cNvSpPr>
            <a:spLocks noGrp="1"/>
          </p:cNvSpPr>
          <p:nvPr>
            <p:ph type="sldNum" idx="12"/>
          </p:nvPr>
        </p:nvSpPr>
        <p:spPr/>
        <p:txBody>
          <a:bodyPr/>
          <a:lstStyle/>
          <a:p>
            <a:fld id="{CBC5B9F0-98DC-D84D-8172-1057BFD2C873}"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C27E9-D58E-C333-CBCC-6DDD961FA566}"/>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AC846821-ECEC-6689-2ACA-CDE5DFDB2E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8E96845E-4467-40F6-F7F6-C7D5BAB96933}"/>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8C657A18-243F-B0EE-436D-627C70030002}"/>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6A1D8BB1-8D03-947B-5292-347F210FF3EF}"/>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ABEFEF35-5485-4338-642F-85ADBA13AF35}"/>
              </a:ext>
            </a:extLst>
          </p:cNvPr>
          <p:cNvSpPr>
            <a:spLocks noGrp="1"/>
          </p:cNvSpPr>
          <p:nvPr>
            <p:ph type="dt" idx="10"/>
          </p:nvPr>
        </p:nvSpPr>
        <p:spPr/>
        <p:txBody>
          <a:bodyPr/>
          <a:lstStyle/>
          <a:p>
            <a:fld id="{E6CE3109-A386-3849-8ECC-EC45731BEEA0}" type="datetimeFigureOut">
              <a:t>9/11/26</a:t>
            </a:fld>
            <a:endParaRPr/>
          </a:p>
        </p:txBody>
      </p:sp>
      <p:sp>
        <p:nvSpPr>
          <p:cNvPr id="8" name="Footer Placeholder 7">
            <a:extLst>
              <a:ext uri="{FF2B5EF4-FFF2-40B4-BE49-F238E27FC236}">
                <a16:creationId xmlns:a16="http://schemas.microsoft.com/office/drawing/2014/main" id="{B98DAF8F-D251-E035-70F8-64B1F0A2285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E7F671F-50B1-3319-BC12-7EBA060AAF33}"/>
              </a:ext>
            </a:extLst>
          </p:cNvPr>
          <p:cNvSpPr>
            <a:spLocks noGrp="1"/>
          </p:cNvSpPr>
          <p:nvPr>
            <p:ph type="sldNum" idx="12"/>
          </p:nvPr>
        </p:nvSpPr>
        <p:spPr/>
        <p:txBody>
          <a:bodyPr/>
          <a:lstStyle/>
          <a:p>
            <a:fld id="{CBC5B9F0-98DC-D84D-8172-1057BFD2C873}"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C0C62-DBEC-A042-5E12-2336BCD56490}"/>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B8E1E99-FA79-555B-6149-73B15907F003}"/>
              </a:ext>
            </a:extLst>
          </p:cNvPr>
          <p:cNvSpPr>
            <a:spLocks noGrp="1"/>
          </p:cNvSpPr>
          <p:nvPr>
            <p:ph type="dt" idx="10"/>
          </p:nvPr>
        </p:nvSpPr>
        <p:spPr/>
        <p:txBody>
          <a:bodyPr/>
          <a:lstStyle/>
          <a:p>
            <a:fld id="{E6CE3109-A386-3849-8ECC-EC45731BEEA0}" type="datetimeFigureOut">
              <a:t>9/11/26</a:t>
            </a:fld>
            <a:endParaRPr/>
          </a:p>
        </p:txBody>
      </p:sp>
      <p:sp>
        <p:nvSpPr>
          <p:cNvPr id="4" name="Footer Placeholder 3">
            <a:extLst>
              <a:ext uri="{FF2B5EF4-FFF2-40B4-BE49-F238E27FC236}">
                <a16:creationId xmlns:a16="http://schemas.microsoft.com/office/drawing/2014/main" id="{09AC0C0E-B179-A4D3-2C2B-580C7E6C3823}"/>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BDFBC6D-8B0E-0600-7F9F-D124D9D5CAF4}"/>
              </a:ext>
            </a:extLst>
          </p:cNvPr>
          <p:cNvSpPr>
            <a:spLocks noGrp="1"/>
          </p:cNvSpPr>
          <p:nvPr>
            <p:ph type="sldNum" idx="12"/>
          </p:nvPr>
        </p:nvSpPr>
        <p:spPr/>
        <p:txBody>
          <a:bodyPr/>
          <a:lstStyle/>
          <a:p>
            <a:fld id="{CBC5B9F0-98DC-D84D-8172-1057BFD2C873}"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543EF7-5E5D-D149-B430-4D16A4DB57F5}"/>
              </a:ext>
            </a:extLst>
          </p:cNvPr>
          <p:cNvSpPr>
            <a:spLocks noGrp="1"/>
          </p:cNvSpPr>
          <p:nvPr>
            <p:ph type="dt" idx="10"/>
          </p:nvPr>
        </p:nvSpPr>
        <p:spPr/>
        <p:txBody>
          <a:bodyPr/>
          <a:lstStyle/>
          <a:p>
            <a:fld id="{E6CE3109-A386-3849-8ECC-EC45731BEEA0}" type="datetimeFigureOut">
              <a:t>9/11/26</a:t>
            </a:fld>
            <a:endParaRPr/>
          </a:p>
        </p:txBody>
      </p:sp>
      <p:sp>
        <p:nvSpPr>
          <p:cNvPr id="3" name="Footer Placeholder 2">
            <a:extLst>
              <a:ext uri="{FF2B5EF4-FFF2-40B4-BE49-F238E27FC236}">
                <a16:creationId xmlns:a16="http://schemas.microsoft.com/office/drawing/2014/main" id="{3BB32C95-870E-411E-A1D0-8FBAE30C6988}"/>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8E572A36-6EDE-5D4A-AF88-9F6144BC449D}"/>
              </a:ext>
            </a:extLst>
          </p:cNvPr>
          <p:cNvSpPr>
            <a:spLocks noGrp="1"/>
          </p:cNvSpPr>
          <p:nvPr>
            <p:ph type="sldNum" idx="12"/>
          </p:nvPr>
        </p:nvSpPr>
        <p:spPr/>
        <p:txBody>
          <a:bodyPr/>
          <a:lstStyle/>
          <a:p>
            <a:fld id="{CBC5B9F0-98DC-D84D-8172-1057BFD2C873}"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9A2A4-5DC5-A4D3-1815-838A949B0CE2}"/>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3DEEF64C-5E38-5C53-F931-C31BECC5AEDB}"/>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8AF4C8E8-AE36-628C-B4F0-1E613D80967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1E57FE18-3C40-144E-278B-5AD7254DE612}"/>
              </a:ext>
            </a:extLst>
          </p:cNvPr>
          <p:cNvSpPr>
            <a:spLocks noGrp="1"/>
          </p:cNvSpPr>
          <p:nvPr>
            <p:ph type="dt" idx="10"/>
          </p:nvPr>
        </p:nvSpPr>
        <p:spPr/>
        <p:txBody>
          <a:bodyPr/>
          <a:lstStyle/>
          <a:p>
            <a:fld id="{E6CE3109-A386-3849-8ECC-EC45731BEEA0}" type="datetimeFigureOut">
              <a:t>9/11/26</a:t>
            </a:fld>
            <a:endParaRPr/>
          </a:p>
        </p:txBody>
      </p:sp>
      <p:sp>
        <p:nvSpPr>
          <p:cNvPr id="6" name="Footer Placeholder 5">
            <a:extLst>
              <a:ext uri="{FF2B5EF4-FFF2-40B4-BE49-F238E27FC236}">
                <a16:creationId xmlns:a16="http://schemas.microsoft.com/office/drawing/2014/main" id="{23FB7E68-6CB6-D5F8-5BF9-EE2AB912589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759BCA5-F73E-38AC-8002-3558374FE8CB}"/>
              </a:ext>
            </a:extLst>
          </p:cNvPr>
          <p:cNvSpPr>
            <a:spLocks noGrp="1"/>
          </p:cNvSpPr>
          <p:nvPr>
            <p:ph type="sldNum" idx="12"/>
          </p:nvPr>
        </p:nvSpPr>
        <p:spPr/>
        <p:txBody>
          <a:bodyPr/>
          <a:lstStyle/>
          <a:p>
            <a:fld id="{CBC5B9F0-98DC-D84D-8172-1057BFD2C873}"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145E8-6C52-8C80-D8B6-CDA40C813262}"/>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387DF859-8E80-3F2C-839A-B1CE014280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A0A2981-FC02-EFBE-1E3D-3A820102229B}"/>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C8A7DAFB-6E2D-7D3F-7B5E-96961C0B51B2}"/>
              </a:ext>
            </a:extLst>
          </p:cNvPr>
          <p:cNvSpPr>
            <a:spLocks noGrp="1"/>
          </p:cNvSpPr>
          <p:nvPr>
            <p:ph type="dt" idx="10"/>
          </p:nvPr>
        </p:nvSpPr>
        <p:spPr/>
        <p:txBody>
          <a:bodyPr/>
          <a:lstStyle/>
          <a:p>
            <a:fld id="{E6CE3109-A386-3849-8ECC-EC45731BEEA0}" type="datetimeFigureOut">
              <a:t>9/11/26</a:t>
            </a:fld>
            <a:endParaRPr/>
          </a:p>
        </p:txBody>
      </p:sp>
      <p:sp>
        <p:nvSpPr>
          <p:cNvPr id="6" name="Footer Placeholder 5">
            <a:extLst>
              <a:ext uri="{FF2B5EF4-FFF2-40B4-BE49-F238E27FC236}">
                <a16:creationId xmlns:a16="http://schemas.microsoft.com/office/drawing/2014/main" id="{89E1D1C9-F425-4B1F-59A0-CC469BB4BEC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D3F5199-4AB3-8653-9933-7CA622012FE9}"/>
              </a:ext>
            </a:extLst>
          </p:cNvPr>
          <p:cNvSpPr>
            <a:spLocks noGrp="1"/>
          </p:cNvSpPr>
          <p:nvPr>
            <p:ph type="sldNum" idx="12"/>
          </p:nvPr>
        </p:nvSpPr>
        <p:spPr/>
        <p:txBody>
          <a:bodyPr/>
          <a:lstStyle/>
          <a:p>
            <a:fld id="{CBC5B9F0-98DC-D84D-8172-1057BFD2C873}"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BD199-8086-082D-21B1-4A02EC1EBA49}"/>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638EDDB6-8CAF-D904-F589-02FF5F98090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2E9BF31-579B-397F-D766-965C149B4E7B}"/>
              </a:ext>
            </a:extLst>
          </p:cNvPr>
          <p:cNvSpPr>
            <a:spLocks noGrp="1"/>
          </p:cNvSpPr>
          <p:nvPr>
            <p:ph type="dt" idx="10"/>
          </p:nvPr>
        </p:nvSpPr>
        <p:spPr/>
        <p:txBody>
          <a:bodyPr/>
          <a:lstStyle/>
          <a:p>
            <a:fld id="{E6CE3109-A386-3849-8ECC-EC45731BEEA0}" type="datetimeFigureOut">
              <a:t>9/11/26</a:t>
            </a:fld>
            <a:endParaRPr/>
          </a:p>
        </p:txBody>
      </p:sp>
      <p:sp>
        <p:nvSpPr>
          <p:cNvPr id="5" name="Footer Placeholder 4">
            <a:extLst>
              <a:ext uri="{FF2B5EF4-FFF2-40B4-BE49-F238E27FC236}">
                <a16:creationId xmlns:a16="http://schemas.microsoft.com/office/drawing/2014/main" id="{FA73287C-A66F-42CF-5352-20F68501076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A2927AB-8FCE-F2F4-2367-68C19A5A0AD6}"/>
              </a:ext>
            </a:extLst>
          </p:cNvPr>
          <p:cNvSpPr>
            <a:spLocks noGrp="1"/>
          </p:cNvSpPr>
          <p:nvPr>
            <p:ph type="sldNum" idx="12"/>
          </p:nvPr>
        </p:nvSpPr>
        <p:spPr/>
        <p:txBody>
          <a:bodyPr/>
          <a:lstStyle/>
          <a:p>
            <a:fld id="{CBC5B9F0-98DC-D84D-8172-1057BFD2C873}"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6F856B-004B-58AF-0C1A-EDC3A2778F2D}"/>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CFEE516-F2D0-6EB5-DA62-BD0F1C4D5C59}"/>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D2EB3A2-F972-3416-3B37-677F0B805FB7}"/>
              </a:ext>
            </a:extLst>
          </p:cNvPr>
          <p:cNvSpPr>
            <a:spLocks noGrp="1"/>
          </p:cNvSpPr>
          <p:nvPr>
            <p:ph type="dt" idx="10"/>
          </p:nvPr>
        </p:nvSpPr>
        <p:spPr/>
        <p:txBody>
          <a:bodyPr/>
          <a:lstStyle/>
          <a:p>
            <a:fld id="{E6CE3109-A386-3849-8ECC-EC45731BEEA0}" type="datetimeFigureOut">
              <a:t>9/11/26</a:t>
            </a:fld>
            <a:endParaRPr/>
          </a:p>
        </p:txBody>
      </p:sp>
      <p:sp>
        <p:nvSpPr>
          <p:cNvPr id="5" name="Footer Placeholder 4">
            <a:extLst>
              <a:ext uri="{FF2B5EF4-FFF2-40B4-BE49-F238E27FC236}">
                <a16:creationId xmlns:a16="http://schemas.microsoft.com/office/drawing/2014/main" id="{2AD3A0E4-3340-CC1C-78B5-CC89300BB4C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4551565-A0A3-87E7-1865-50F822C8A20D}"/>
              </a:ext>
            </a:extLst>
          </p:cNvPr>
          <p:cNvSpPr>
            <a:spLocks noGrp="1"/>
          </p:cNvSpPr>
          <p:nvPr>
            <p:ph type="sldNum" idx="12"/>
          </p:nvPr>
        </p:nvSpPr>
        <p:spPr/>
        <p:txBody>
          <a:bodyPr/>
          <a:lstStyle/>
          <a:p>
            <a:fld id="{CBC5B9F0-98DC-D84D-8172-1057BFD2C873}"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AA4522-1B78-C5FD-97B0-FF5EEFDACCDA}"/>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34D720A-BC50-CFB0-F509-3D5A738FE37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6DF3016-B7F4-B5ED-3D52-6299B6EA39BA}"/>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E6CE3109-A386-3849-8ECC-EC45731BEEA0}" type="datetimeFigureOut">
              <a:t>9/11/26</a:t>
            </a:fld>
            <a:endParaRPr/>
          </a:p>
        </p:txBody>
      </p:sp>
      <p:sp>
        <p:nvSpPr>
          <p:cNvPr id="5" name="Footer Placeholder 4">
            <a:extLst>
              <a:ext uri="{FF2B5EF4-FFF2-40B4-BE49-F238E27FC236}">
                <a16:creationId xmlns:a16="http://schemas.microsoft.com/office/drawing/2014/main" id="{F03FED72-769A-B67F-B908-448911B33D43}"/>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16D7E784-1E1C-6D49-5993-F174523DFAD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CBC5B9F0-98DC-D84D-8172-1057BFD2C873}"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4BE4241-420C-7A56-5076-0FF5D41E174A}"/>
              </a:ext>
            </a:extLst>
          </p:cNvPr>
          <p:cNvSpPr>
            <a:spLocks noGrp="1"/>
          </p:cNvSpPr>
          <p:nvPr/>
        </p:nvSpPr>
        <p:spPr>
          <a:xfrm>
            <a:off x="1426182" y="843457"/>
            <a:ext cx="9339636" cy="4524315"/>
          </a:xfrm>
          <a:prstGeom prst="rect">
            <a:avLst/>
          </a:prstGeom>
          <a:noFill/>
        </p:spPr>
        <p:txBody>
          <a:bodyPr wrap="square">
            <a:spAutoFit/>
          </a:bodyPr>
          <a:lstStyle/>
          <a:p>
            <a:pPr algn="ctr">
              <a:buNone/>
            </a:pPr>
            <a:r>
              <a:rPr sz="3600">
                <a:latin typeface="Mazda Type"/>
                <a:ea typeface="Mazda Type"/>
                <a:cs typeface="Mazda Type"/>
              </a:rPr>
              <a:t>Why are we doing Fermi problems of cell biology?</a:t>
            </a:r>
          </a:p>
          <a:p>
            <a:pPr algn="ctr">
              <a:buNone/>
            </a:pPr>
            <a:endParaRPr sz="3600">
              <a:latin typeface="Mazda Type"/>
              <a:ea typeface="Mazda Type"/>
              <a:cs typeface="Mazda Type"/>
            </a:endParaRPr>
          </a:p>
          <a:p>
            <a:pPr algn="ctr">
              <a:buNone/>
            </a:pPr>
            <a:endParaRPr sz="3600">
              <a:latin typeface="Mazda Type"/>
              <a:ea typeface="Mazda Type"/>
              <a:cs typeface="Mazda Type"/>
            </a:endParaRPr>
          </a:p>
          <a:p>
            <a:pPr algn="ctr">
              <a:buNone/>
            </a:pPr>
            <a:r>
              <a:rPr sz="3600">
                <a:latin typeface="Mazda Type"/>
                <a:ea typeface="Mazda Type"/>
                <a:cs typeface="Mazda Type"/>
              </a:rPr>
              <a:t>Why am I showing you “random” numbers and names in biology?</a:t>
            </a:r>
          </a:p>
          <a:p>
            <a:pPr algn="ctr">
              <a:buNone/>
            </a:pPr>
            <a:endParaRPr sz="3600">
              <a:latin typeface="Mazda Type"/>
              <a:ea typeface="Mazda Type"/>
              <a:cs typeface="Mazda Type"/>
            </a:endParaRPr>
          </a:p>
          <a:p>
            <a:pPr algn="ctr">
              <a:buNone/>
            </a:pPr>
            <a:endParaRPr sz="3600">
              <a:latin typeface="Mazda Type"/>
              <a:ea typeface="Mazda Type"/>
              <a:cs typeface="Mazda Type"/>
            </a:endParaRPr>
          </a:p>
          <a:p>
            <a:pPr algn="ctr">
              <a:buNone/>
            </a:pPr>
            <a:r>
              <a:rPr sz="3600">
                <a:latin typeface="Mazda Type"/>
                <a:ea typeface="Mazda Type"/>
                <a:cs typeface="Mazda Type"/>
              </a:rPr>
              <a:t>Is this quantitative modelling?</a:t>
            </a:r>
          </a:p>
        </p:txBody>
      </p:sp>
    </p:spTree>
    <p:extLst>
      <p:ext uri="{BB962C8B-B14F-4D97-AF65-F5344CB8AC3E}">
        <p14:creationId xmlns:p14="http://schemas.microsoft.com/office/powerpoint/2010/main" val="446193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Living-systems-highlight">
            <a:extLst>
              <a:ext uri="{FF2B5EF4-FFF2-40B4-BE49-F238E27FC236}">
                <a16:creationId xmlns:a16="http://schemas.microsoft.com/office/drawing/2014/main" id="{316EF2BF-C4E6-4DC7-9901-F2E34426A84B}"/>
              </a:ext>
            </a:extLst>
          </p:cNvPr>
          <p:cNvSpPr>
            <a:spLocks noGrp="1"/>
          </p:cNvSpPr>
          <p:nvPr/>
        </p:nvSpPr>
        <p:spPr>
          <a:xfrm>
            <a:off x="2627759" y="2772147"/>
            <a:ext cx="4207451" cy="1749747"/>
          </a:xfrm>
          <a:prstGeom prst="rect">
            <a:avLst/>
          </a:prstGeom>
          <a:solidFill>
            <a:srgbClr val="FBEBD9"/>
          </a:solidFill>
          <a:ln w="0">
            <a:noFill/>
          </a:ln>
        </p:spPr>
        <p:txBody>
          <a:bodyPr/>
          <a:lstStyle/>
          <a:p>
            <a:endParaRPr sz="1440"/>
          </a:p>
        </p:txBody>
      </p:sp>
      <p:sp>
        <p:nvSpPr>
          <p:cNvPr id="2" name="ruler-line">
            <a:extLst>
              <a:ext uri="{FF2B5EF4-FFF2-40B4-BE49-F238E27FC236}">
                <a16:creationId xmlns:a16="http://schemas.microsoft.com/office/drawing/2014/main" id="{80703BA9-64AC-4DE1-8F85-E847951530EB}"/>
              </a:ext>
            </a:extLst>
          </p:cNvPr>
          <p:cNvSpPr>
            <a:spLocks noGrp="1"/>
          </p:cNvSpPr>
          <p:nvPr/>
        </p:nvSpPr>
        <p:spPr>
          <a:xfrm>
            <a:off x="995449" y="4101598"/>
            <a:ext cx="10474036" cy="15240"/>
          </a:xfrm>
          <a:prstGeom prst="rect">
            <a:avLst/>
          </a:prstGeom>
          <a:solidFill>
            <a:srgbClr val="202B36"/>
          </a:solidFill>
          <a:ln w="0">
            <a:noFill/>
          </a:ln>
        </p:spPr>
        <p:txBody>
          <a:bodyPr/>
          <a:lstStyle/>
          <a:p>
            <a:endParaRPr sz="1440"/>
          </a:p>
        </p:txBody>
      </p:sp>
      <p:sp>
        <p:nvSpPr>
          <p:cNvPr id="3" name="ruler-line">
            <a:extLst>
              <a:ext uri="{FF2B5EF4-FFF2-40B4-BE49-F238E27FC236}">
                <a16:creationId xmlns:a16="http://schemas.microsoft.com/office/drawing/2014/main" id="{FE9EC373-3EF0-4E50-86DE-9824373A876A}"/>
              </a:ext>
            </a:extLst>
          </p:cNvPr>
          <p:cNvSpPr>
            <a:spLocks noGrp="1"/>
          </p:cNvSpPr>
          <p:nvPr/>
        </p:nvSpPr>
        <p:spPr>
          <a:xfrm>
            <a:off x="997355" y="4015466"/>
            <a:ext cx="11430" cy="176075"/>
          </a:xfrm>
          <a:prstGeom prst="rect">
            <a:avLst/>
          </a:prstGeom>
          <a:solidFill>
            <a:srgbClr val="202B36"/>
          </a:solidFill>
          <a:ln w="0">
            <a:noFill/>
          </a:ln>
        </p:spPr>
        <p:txBody>
          <a:bodyPr/>
          <a:lstStyle/>
          <a:p>
            <a:endParaRPr sz="1440"/>
          </a:p>
        </p:txBody>
      </p:sp>
      <p:sp>
        <p:nvSpPr>
          <p:cNvPr id="4" name="10⁻³⁰">
            <a:extLst>
              <a:ext uri="{FF2B5EF4-FFF2-40B4-BE49-F238E27FC236}">
                <a16:creationId xmlns:a16="http://schemas.microsoft.com/office/drawing/2014/main" id="{77124DB7-773C-4817-B116-BFE5D9B67BE5}"/>
              </a:ext>
            </a:extLst>
          </p:cNvPr>
          <p:cNvSpPr>
            <a:spLocks noGrp="1"/>
          </p:cNvSpPr>
          <p:nvPr/>
        </p:nvSpPr>
        <p:spPr>
          <a:xfrm>
            <a:off x="698269" y="4274288"/>
            <a:ext cx="663736"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10⁻³⁰</a:t>
            </a:r>
          </a:p>
        </p:txBody>
      </p:sp>
      <p:sp>
        <p:nvSpPr>
          <p:cNvPr id="5" name="ruler-line">
            <a:extLst>
              <a:ext uri="{FF2B5EF4-FFF2-40B4-BE49-F238E27FC236}">
                <a16:creationId xmlns:a16="http://schemas.microsoft.com/office/drawing/2014/main" id="{F0679FFA-161F-499F-93B2-DE4D6DA39849}"/>
              </a:ext>
            </a:extLst>
          </p:cNvPr>
          <p:cNvSpPr>
            <a:spLocks noGrp="1"/>
          </p:cNvSpPr>
          <p:nvPr/>
        </p:nvSpPr>
        <p:spPr>
          <a:xfrm>
            <a:off x="1166657" y="4057030"/>
            <a:ext cx="5334" cy="99042"/>
          </a:xfrm>
          <a:prstGeom prst="rect">
            <a:avLst/>
          </a:prstGeom>
          <a:solidFill>
            <a:srgbClr val="202B36"/>
          </a:solidFill>
          <a:ln w="0">
            <a:noFill/>
          </a:ln>
        </p:spPr>
        <p:txBody>
          <a:bodyPr/>
          <a:lstStyle/>
          <a:p>
            <a:endParaRPr sz="1440"/>
          </a:p>
        </p:txBody>
      </p:sp>
      <p:sp>
        <p:nvSpPr>
          <p:cNvPr id="6" name="ruler-line">
            <a:extLst>
              <a:ext uri="{FF2B5EF4-FFF2-40B4-BE49-F238E27FC236}">
                <a16:creationId xmlns:a16="http://schemas.microsoft.com/office/drawing/2014/main" id="{451A7876-FDB6-4A4C-9506-BFDA42AF65FC}"/>
              </a:ext>
            </a:extLst>
          </p:cNvPr>
          <p:cNvSpPr>
            <a:spLocks noGrp="1"/>
          </p:cNvSpPr>
          <p:nvPr/>
        </p:nvSpPr>
        <p:spPr>
          <a:xfrm>
            <a:off x="1332911" y="4057030"/>
            <a:ext cx="5334" cy="99042"/>
          </a:xfrm>
          <a:prstGeom prst="rect">
            <a:avLst/>
          </a:prstGeom>
          <a:solidFill>
            <a:srgbClr val="202B36"/>
          </a:solidFill>
          <a:ln w="0">
            <a:noFill/>
          </a:ln>
        </p:spPr>
        <p:txBody>
          <a:bodyPr/>
          <a:lstStyle/>
          <a:p>
            <a:endParaRPr sz="1440"/>
          </a:p>
        </p:txBody>
      </p:sp>
      <p:sp>
        <p:nvSpPr>
          <p:cNvPr id="7" name="ruler-line">
            <a:extLst>
              <a:ext uri="{FF2B5EF4-FFF2-40B4-BE49-F238E27FC236}">
                <a16:creationId xmlns:a16="http://schemas.microsoft.com/office/drawing/2014/main" id="{498C8E65-18F0-48D2-8E58-F4B3EE9EEEE9}"/>
              </a:ext>
            </a:extLst>
          </p:cNvPr>
          <p:cNvSpPr>
            <a:spLocks noGrp="1"/>
          </p:cNvSpPr>
          <p:nvPr/>
        </p:nvSpPr>
        <p:spPr>
          <a:xfrm>
            <a:off x="1499166" y="4057030"/>
            <a:ext cx="5334" cy="99042"/>
          </a:xfrm>
          <a:prstGeom prst="rect">
            <a:avLst/>
          </a:prstGeom>
          <a:solidFill>
            <a:srgbClr val="202B36"/>
          </a:solidFill>
          <a:ln w="0">
            <a:noFill/>
          </a:ln>
        </p:spPr>
        <p:txBody>
          <a:bodyPr/>
          <a:lstStyle/>
          <a:p>
            <a:endParaRPr sz="1440"/>
          </a:p>
        </p:txBody>
      </p:sp>
      <p:sp>
        <p:nvSpPr>
          <p:cNvPr id="8" name="ruler-line">
            <a:extLst>
              <a:ext uri="{FF2B5EF4-FFF2-40B4-BE49-F238E27FC236}">
                <a16:creationId xmlns:a16="http://schemas.microsoft.com/office/drawing/2014/main" id="{ADC415BB-646E-4AF2-8D42-F542CC733AB8}"/>
              </a:ext>
            </a:extLst>
          </p:cNvPr>
          <p:cNvSpPr>
            <a:spLocks noGrp="1"/>
          </p:cNvSpPr>
          <p:nvPr/>
        </p:nvSpPr>
        <p:spPr>
          <a:xfrm>
            <a:off x="1665420" y="4057030"/>
            <a:ext cx="5334" cy="99042"/>
          </a:xfrm>
          <a:prstGeom prst="rect">
            <a:avLst/>
          </a:prstGeom>
          <a:solidFill>
            <a:srgbClr val="202B36"/>
          </a:solidFill>
          <a:ln w="0">
            <a:noFill/>
          </a:ln>
        </p:spPr>
        <p:txBody>
          <a:bodyPr/>
          <a:lstStyle/>
          <a:p>
            <a:endParaRPr sz="1440"/>
          </a:p>
        </p:txBody>
      </p:sp>
      <p:sp>
        <p:nvSpPr>
          <p:cNvPr id="9" name="ruler-line">
            <a:extLst>
              <a:ext uri="{FF2B5EF4-FFF2-40B4-BE49-F238E27FC236}">
                <a16:creationId xmlns:a16="http://schemas.microsoft.com/office/drawing/2014/main" id="{1D93D61F-5183-49AA-AD34-6BA1D8F2B4AD}"/>
              </a:ext>
            </a:extLst>
          </p:cNvPr>
          <p:cNvSpPr>
            <a:spLocks noGrp="1"/>
          </p:cNvSpPr>
          <p:nvPr/>
        </p:nvSpPr>
        <p:spPr>
          <a:xfrm>
            <a:off x="1831675" y="4057030"/>
            <a:ext cx="5334" cy="99042"/>
          </a:xfrm>
          <a:prstGeom prst="rect">
            <a:avLst/>
          </a:prstGeom>
          <a:solidFill>
            <a:srgbClr val="202B36"/>
          </a:solidFill>
          <a:ln w="0">
            <a:noFill/>
          </a:ln>
        </p:spPr>
        <p:txBody>
          <a:bodyPr/>
          <a:lstStyle/>
          <a:p>
            <a:endParaRPr sz="1440"/>
          </a:p>
        </p:txBody>
      </p:sp>
      <p:sp>
        <p:nvSpPr>
          <p:cNvPr id="10" name="ruler-line">
            <a:extLst>
              <a:ext uri="{FF2B5EF4-FFF2-40B4-BE49-F238E27FC236}">
                <a16:creationId xmlns:a16="http://schemas.microsoft.com/office/drawing/2014/main" id="{C4002B1D-14AA-4A5E-BC55-AF5794803295}"/>
              </a:ext>
            </a:extLst>
          </p:cNvPr>
          <p:cNvSpPr>
            <a:spLocks noGrp="1"/>
          </p:cNvSpPr>
          <p:nvPr/>
        </p:nvSpPr>
        <p:spPr>
          <a:xfrm>
            <a:off x="1994882" y="4015466"/>
            <a:ext cx="11430" cy="176075"/>
          </a:xfrm>
          <a:prstGeom prst="rect">
            <a:avLst/>
          </a:prstGeom>
          <a:solidFill>
            <a:srgbClr val="202B36"/>
          </a:solidFill>
          <a:ln w="0">
            <a:noFill/>
          </a:ln>
        </p:spPr>
        <p:txBody>
          <a:bodyPr/>
          <a:lstStyle/>
          <a:p>
            <a:endParaRPr sz="1440"/>
          </a:p>
        </p:txBody>
      </p:sp>
      <p:sp>
        <p:nvSpPr>
          <p:cNvPr id="11" name="10⁻²⁴">
            <a:extLst>
              <a:ext uri="{FF2B5EF4-FFF2-40B4-BE49-F238E27FC236}">
                <a16:creationId xmlns:a16="http://schemas.microsoft.com/office/drawing/2014/main" id="{33412F9E-5D90-41F7-8071-F6CFEE1B52A1}"/>
              </a:ext>
            </a:extLst>
          </p:cNvPr>
          <p:cNvSpPr>
            <a:spLocks noGrp="1"/>
          </p:cNvSpPr>
          <p:nvPr/>
        </p:nvSpPr>
        <p:spPr>
          <a:xfrm>
            <a:off x="1617294" y="4274288"/>
            <a:ext cx="755176"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10⁻²⁴</a:t>
            </a:r>
          </a:p>
        </p:txBody>
      </p:sp>
      <p:sp>
        <p:nvSpPr>
          <p:cNvPr id="12" name="ruler-line">
            <a:extLst>
              <a:ext uri="{FF2B5EF4-FFF2-40B4-BE49-F238E27FC236}">
                <a16:creationId xmlns:a16="http://schemas.microsoft.com/office/drawing/2014/main" id="{2FC7EC38-3891-4B00-A64D-8F6BED65A74B}"/>
              </a:ext>
            </a:extLst>
          </p:cNvPr>
          <p:cNvSpPr>
            <a:spLocks noGrp="1"/>
          </p:cNvSpPr>
          <p:nvPr/>
        </p:nvSpPr>
        <p:spPr>
          <a:xfrm>
            <a:off x="2164184" y="4057030"/>
            <a:ext cx="5334" cy="99042"/>
          </a:xfrm>
          <a:prstGeom prst="rect">
            <a:avLst/>
          </a:prstGeom>
          <a:solidFill>
            <a:srgbClr val="202B36"/>
          </a:solidFill>
          <a:ln w="0">
            <a:noFill/>
          </a:ln>
        </p:spPr>
        <p:txBody>
          <a:bodyPr/>
          <a:lstStyle/>
          <a:p>
            <a:endParaRPr sz="1440"/>
          </a:p>
        </p:txBody>
      </p:sp>
      <p:sp>
        <p:nvSpPr>
          <p:cNvPr id="13" name="ruler-line">
            <a:extLst>
              <a:ext uri="{FF2B5EF4-FFF2-40B4-BE49-F238E27FC236}">
                <a16:creationId xmlns:a16="http://schemas.microsoft.com/office/drawing/2014/main" id="{124F6490-791B-409E-903C-8F700E3E80F9}"/>
              </a:ext>
            </a:extLst>
          </p:cNvPr>
          <p:cNvSpPr>
            <a:spLocks noGrp="1"/>
          </p:cNvSpPr>
          <p:nvPr/>
        </p:nvSpPr>
        <p:spPr>
          <a:xfrm>
            <a:off x="2330439" y="4057030"/>
            <a:ext cx="5334" cy="99042"/>
          </a:xfrm>
          <a:prstGeom prst="rect">
            <a:avLst/>
          </a:prstGeom>
          <a:solidFill>
            <a:srgbClr val="202B36"/>
          </a:solidFill>
          <a:ln w="0">
            <a:noFill/>
          </a:ln>
        </p:spPr>
        <p:txBody>
          <a:bodyPr/>
          <a:lstStyle/>
          <a:p>
            <a:endParaRPr sz="1440"/>
          </a:p>
        </p:txBody>
      </p:sp>
      <p:sp>
        <p:nvSpPr>
          <p:cNvPr id="14" name="ruler-line">
            <a:extLst>
              <a:ext uri="{FF2B5EF4-FFF2-40B4-BE49-F238E27FC236}">
                <a16:creationId xmlns:a16="http://schemas.microsoft.com/office/drawing/2014/main" id="{320F92BC-9911-451F-B9B9-5359EB639025}"/>
              </a:ext>
            </a:extLst>
          </p:cNvPr>
          <p:cNvSpPr>
            <a:spLocks noGrp="1"/>
          </p:cNvSpPr>
          <p:nvPr/>
        </p:nvSpPr>
        <p:spPr>
          <a:xfrm>
            <a:off x="2496693" y="4057030"/>
            <a:ext cx="5334" cy="99042"/>
          </a:xfrm>
          <a:prstGeom prst="rect">
            <a:avLst/>
          </a:prstGeom>
          <a:solidFill>
            <a:srgbClr val="202B36"/>
          </a:solidFill>
          <a:ln w="0">
            <a:noFill/>
          </a:ln>
        </p:spPr>
        <p:txBody>
          <a:bodyPr/>
          <a:lstStyle/>
          <a:p>
            <a:endParaRPr sz="1440"/>
          </a:p>
        </p:txBody>
      </p:sp>
      <p:sp>
        <p:nvSpPr>
          <p:cNvPr id="15" name="ruler-line">
            <a:extLst>
              <a:ext uri="{FF2B5EF4-FFF2-40B4-BE49-F238E27FC236}">
                <a16:creationId xmlns:a16="http://schemas.microsoft.com/office/drawing/2014/main" id="{EEF9F14F-ADD8-4C65-8E82-CD39EC834D1A}"/>
              </a:ext>
            </a:extLst>
          </p:cNvPr>
          <p:cNvSpPr>
            <a:spLocks noGrp="1"/>
          </p:cNvSpPr>
          <p:nvPr/>
        </p:nvSpPr>
        <p:spPr>
          <a:xfrm>
            <a:off x="2662947" y="4057030"/>
            <a:ext cx="5334" cy="99042"/>
          </a:xfrm>
          <a:prstGeom prst="rect">
            <a:avLst/>
          </a:prstGeom>
          <a:solidFill>
            <a:srgbClr val="202B36"/>
          </a:solidFill>
          <a:ln w="0">
            <a:noFill/>
          </a:ln>
        </p:spPr>
        <p:txBody>
          <a:bodyPr/>
          <a:lstStyle/>
          <a:p>
            <a:endParaRPr sz="1440"/>
          </a:p>
        </p:txBody>
      </p:sp>
      <p:sp>
        <p:nvSpPr>
          <p:cNvPr id="16" name="ruler-line">
            <a:extLst>
              <a:ext uri="{FF2B5EF4-FFF2-40B4-BE49-F238E27FC236}">
                <a16:creationId xmlns:a16="http://schemas.microsoft.com/office/drawing/2014/main" id="{EE0E49A6-2816-47CF-A466-A7DB666A272A}"/>
              </a:ext>
            </a:extLst>
          </p:cNvPr>
          <p:cNvSpPr>
            <a:spLocks noGrp="1"/>
          </p:cNvSpPr>
          <p:nvPr/>
        </p:nvSpPr>
        <p:spPr>
          <a:xfrm>
            <a:off x="2829203" y="4057030"/>
            <a:ext cx="5334" cy="99042"/>
          </a:xfrm>
          <a:prstGeom prst="rect">
            <a:avLst/>
          </a:prstGeom>
          <a:solidFill>
            <a:srgbClr val="202B36"/>
          </a:solidFill>
          <a:ln w="0">
            <a:noFill/>
          </a:ln>
        </p:spPr>
        <p:txBody>
          <a:bodyPr/>
          <a:lstStyle/>
          <a:p>
            <a:endParaRPr sz="1440"/>
          </a:p>
        </p:txBody>
      </p:sp>
      <p:sp>
        <p:nvSpPr>
          <p:cNvPr id="17" name="ruler-line">
            <a:extLst>
              <a:ext uri="{FF2B5EF4-FFF2-40B4-BE49-F238E27FC236}">
                <a16:creationId xmlns:a16="http://schemas.microsoft.com/office/drawing/2014/main" id="{25228951-BC3C-467C-9CB4-1412639CEAC8}"/>
              </a:ext>
            </a:extLst>
          </p:cNvPr>
          <p:cNvSpPr>
            <a:spLocks noGrp="1"/>
          </p:cNvSpPr>
          <p:nvPr/>
        </p:nvSpPr>
        <p:spPr>
          <a:xfrm>
            <a:off x="2992409" y="4015466"/>
            <a:ext cx="11430" cy="176075"/>
          </a:xfrm>
          <a:prstGeom prst="rect">
            <a:avLst/>
          </a:prstGeom>
          <a:solidFill>
            <a:srgbClr val="202B36"/>
          </a:solidFill>
          <a:ln w="0">
            <a:noFill/>
          </a:ln>
        </p:spPr>
        <p:txBody>
          <a:bodyPr/>
          <a:lstStyle/>
          <a:p>
            <a:endParaRPr sz="1440"/>
          </a:p>
        </p:txBody>
      </p:sp>
      <p:sp>
        <p:nvSpPr>
          <p:cNvPr id="18" name="10⁻¹⁸">
            <a:extLst>
              <a:ext uri="{FF2B5EF4-FFF2-40B4-BE49-F238E27FC236}">
                <a16:creationId xmlns:a16="http://schemas.microsoft.com/office/drawing/2014/main" id="{BD023600-3BCD-4AA9-A0E2-7446389D7B52}"/>
              </a:ext>
            </a:extLst>
          </p:cNvPr>
          <p:cNvSpPr>
            <a:spLocks noGrp="1"/>
          </p:cNvSpPr>
          <p:nvPr/>
        </p:nvSpPr>
        <p:spPr>
          <a:xfrm>
            <a:off x="2576877" y="4274288"/>
            <a:ext cx="726047"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10⁻¹⁸</a:t>
            </a:r>
          </a:p>
        </p:txBody>
      </p:sp>
      <p:sp>
        <p:nvSpPr>
          <p:cNvPr id="19" name="ruler-line">
            <a:extLst>
              <a:ext uri="{FF2B5EF4-FFF2-40B4-BE49-F238E27FC236}">
                <a16:creationId xmlns:a16="http://schemas.microsoft.com/office/drawing/2014/main" id="{5C55D38E-7728-4B8C-8F53-380C15E70F3D}"/>
              </a:ext>
            </a:extLst>
          </p:cNvPr>
          <p:cNvSpPr>
            <a:spLocks noGrp="1"/>
          </p:cNvSpPr>
          <p:nvPr/>
        </p:nvSpPr>
        <p:spPr>
          <a:xfrm>
            <a:off x="3161711" y="4057030"/>
            <a:ext cx="5334" cy="99042"/>
          </a:xfrm>
          <a:prstGeom prst="rect">
            <a:avLst/>
          </a:prstGeom>
          <a:solidFill>
            <a:srgbClr val="202B36"/>
          </a:solidFill>
          <a:ln w="0">
            <a:noFill/>
          </a:ln>
        </p:spPr>
        <p:txBody>
          <a:bodyPr/>
          <a:lstStyle/>
          <a:p>
            <a:endParaRPr sz="1440"/>
          </a:p>
        </p:txBody>
      </p:sp>
      <p:sp>
        <p:nvSpPr>
          <p:cNvPr id="20" name="ruler-line">
            <a:extLst>
              <a:ext uri="{FF2B5EF4-FFF2-40B4-BE49-F238E27FC236}">
                <a16:creationId xmlns:a16="http://schemas.microsoft.com/office/drawing/2014/main" id="{336DAD6D-F034-4C17-AF57-345821D6F19F}"/>
              </a:ext>
            </a:extLst>
          </p:cNvPr>
          <p:cNvSpPr>
            <a:spLocks noGrp="1"/>
          </p:cNvSpPr>
          <p:nvPr/>
        </p:nvSpPr>
        <p:spPr>
          <a:xfrm>
            <a:off x="3327966" y="4057030"/>
            <a:ext cx="5334" cy="99042"/>
          </a:xfrm>
          <a:prstGeom prst="rect">
            <a:avLst/>
          </a:prstGeom>
          <a:solidFill>
            <a:srgbClr val="202B36"/>
          </a:solidFill>
          <a:ln w="0">
            <a:noFill/>
          </a:ln>
        </p:spPr>
        <p:txBody>
          <a:bodyPr/>
          <a:lstStyle/>
          <a:p>
            <a:endParaRPr sz="1440"/>
          </a:p>
        </p:txBody>
      </p:sp>
      <p:sp>
        <p:nvSpPr>
          <p:cNvPr id="21" name="ruler-line">
            <a:extLst>
              <a:ext uri="{FF2B5EF4-FFF2-40B4-BE49-F238E27FC236}">
                <a16:creationId xmlns:a16="http://schemas.microsoft.com/office/drawing/2014/main" id="{9E3C8F64-B1EC-4EEB-9890-5B0EF3120E17}"/>
              </a:ext>
            </a:extLst>
          </p:cNvPr>
          <p:cNvSpPr>
            <a:spLocks noGrp="1"/>
          </p:cNvSpPr>
          <p:nvPr/>
        </p:nvSpPr>
        <p:spPr>
          <a:xfrm>
            <a:off x="3494220" y="4057030"/>
            <a:ext cx="5334" cy="99042"/>
          </a:xfrm>
          <a:prstGeom prst="rect">
            <a:avLst/>
          </a:prstGeom>
          <a:solidFill>
            <a:srgbClr val="202B36"/>
          </a:solidFill>
          <a:ln w="0">
            <a:noFill/>
          </a:ln>
        </p:spPr>
        <p:txBody>
          <a:bodyPr/>
          <a:lstStyle/>
          <a:p>
            <a:endParaRPr sz="1440"/>
          </a:p>
        </p:txBody>
      </p:sp>
      <p:sp>
        <p:nvSpPr>
          <p:cNvPr id="22" name="ruler-line">
            <a:extLst>
              <a:ext uri="{FF2B5EF4-FFF2-40B4-BE49-F238E27FC236}">
                <a16:creationId xmlns:a16="http://schemas.microsoft.com/office/drawing/2014/main" id="{C4C8014A-3FDB-4C89-AB91-2F466088C28B}"/>
              </a:ext>
            </a:extLst>
          </p:cNvPr>
          <p:cNvSpPr>
            <a:spLocks noGrp="1"/>
          </p:cNvSpPr>
          <p:nvPr/>
        </p:nvSpPr>
        <p:spPr>
          <a:xfrm>
            <a:off x="3660475" y="4057030"/>
            <a:ext cx="5334" cy="99042"/>
          </a:xfrm>
          <a:prstGeom prst="rect">
            <a:avLst/>
          </a:prstGeom>
          <a:solidFill>
            <a:srgbClr val="202B36"/>
          </a:solidFill>
          <a:ln w="0">
            <a:noFill/>
          </a:ln>
        </p:spPr>
        <p:txBody>
          <a:bodyPr/>
          <a:lstStyle/>
          <a:p>
            <a:endParaRPr sz="1440"/>
          </a:p>
        </p:txBody>
      </p:sp>
      <p:sp>
        <p:nvSpPr>
          <p:cNvPr id="23" name="ruler-line">
            <a:extLst>
              <a:ext uri="{FF2B5EF4-FFF2-40B4-BE49-F238E27FC236}">
                <a16:creationId xmlns:a16="http://schemas.microsoft.com/office/drawing/2014/main" id="{A3FA863F-7E99-40E7-921E-49793106DF47}"/>
              </a:ext>
            </a:extLst>
          </p:cNvPr>
          <p:cNvSpPr>
            <a:spLocks noGrp="1"/>
          </p:cNvSpPr>
          <p:nvPr/>
        </p:nvSpPr>
        <p:spPr>
          <a:xfrm>
            <a:off x="3826730" y="4057030"/>
            <a:ext cx="5334" cy="99042"/>
          </a:xfrm>
          <a:prstGeom prst="rect">
            <a:avLst/>
          </a:prstGeom>
          <a:solidFill>
            <a:srgbClr val="202B36"/>
          </a:solidFill>
          <a:ln w="0">
            <a:noFill/>
          </a:ln>
        </p:spPr>
        <p:txBody>
          <a:bodyPr/>
          <a:lstStyle/>
          <a:p>
            <a:endParaRPr sz="1440"/>
          </a:p>
        </p:txBody>
      </p:sp>
      <p:sp>
        <p:nvSpPr>
          <p:cNvPr id="24" name="ruler-line">
            <a:extLst>
              <a:ext uri="{FF2B5EF4-FFF2-40B4-BE49-F238E27FC236}">
                <a16:creationId xmlns:a16="http://schemas.microsoft.com/office/drawing/2014/main" id="{0D65D26C-EA6D-44C4-A3B2-C65B0CCF38F8}"/>
              </a:ext>
            </a:extLst>
          </p:cNvPr>
          <p:cNvSpPr>
            <a:spLocks noGrp="1"/>
          </p:cNvSpPr>
          <p:nvPr/>
        </p:nvSpPr>
        <p:spPr>
          <a:xfrm>
            <a:off x="3989936" y="4015466"/>
            <a:ext cx="11430" cy="176075"/>
          </a:xfrm>
          <a:prstGeom prst="rect">
            <a:avLst/>
          </a:prstGeom>
          <a:solidFill>
            <a:srgbClr val="202B36"/>
          </a:solidFill>
          <a:ln w="0">
            <a:noFill/>
          </a:ln>
        </p:spPr>
        <p:txBody>
          <a:bodyPr/>
          <a:lstStyle/>
          <a:p>
            <a:endParaRPr sz="1440"/>
          </a:p>
        </p:txBody>
      </p:sp>
      <p:sp>
        <p:nvSpPr>
          <p:cNvPr id="25" name="10⁻¹²">
            <a:extLst>
              <a:ext uri="{FF2B5EF4-FFF2-40B4-BE49-F238E27FC236}">
                <a16:creationId xmlns:a16="http://schemas.microsoft.com/office/drawing/2014/main" id="{CB6C6648-FD36-459B-A116-CD257AF26D17}"/>
              </a:ext>
            </a:extLst>
          </p:cNvPr>
          <p:cNvSpPr>
            <a:spLocks noGrp="1"/>
          </p:cNvSpPr>
          <p:nvPr/>
        </p:nvSpPr>
        <p:spPr>
          <a:xfrm>
            <a:off x="3690851" y="4274288"/>
            <a:ext cx="609600"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10⁻¹²</a:t>
            </a:r>
          </a:p>
        </p:txBody>
      </p:sp>
      <p:sp>
        <p:nvSpPr>
          <p:cNvPr id="26" name="ruler-line">
            <a:extLst>
              <a:ext uri="{FF2B5EF4-FFF2-40B4-BE49-F238E27FC236}">
                <a16:creationId xmlns:a16="http://schemas.microsoft.com/office/drawing/2014/main" id="{BE721FB7-9E4A-43C4-85AC-12B85B46D08A}"/>
              </a:ext>
            </a:extLst>
          </p:cNvPr>
          <p:cNvSpPr>
            <a:spLocks noGrp="1"/>
          </p:cNvSpPr>
          <p:nvPr/>
        </p:nvSpPr>
        <p:spPr>
          <a:xfrm>
            <a:off x="4159239" y="4057030"/>
            <a:ext cx="5334" cy="99042"/>
          </a:xfrm>
          <a:prstGeom prst="rect">
            <a:avLst/>
          </a:prstGeom>
          <a:solidFill>
            <a:srgbClr val="202B36"/>
          </a:solidFill>
          <a:ln w="0">
            <a:noFill/>
          </a:ln>
        </p:spPr>
        <p:txBody>
          <a:bodyPr/>
          <a:lstStyle/>
          <a:p>
            <a:endParaRPr sz="1440"/>
          </a:p>
        </p:txBody>
      </p:sp>
      <p:sp>
        <p:nvSpPr>
          <p:cNvPr id="27" name="ruler-line">
            <a:extLst>
              <a:ext uri="{FF2B5EF4-FFF2-40B4-BE49-F238E27FC236}">
                <a16:creationId xmlns:a16="http://schemas.microsoft.com/office/drawing/2014/main" id="{BC12E9BD-DB7A-48D1-8ACC-C032A5F5A79B}"/>
              </a:ext>
            </a:extLst>
          </p:cNvPr>
          <p:cNvSpPr>
            <a:spLocks noGrp="1"/>
          </p:cNvSpPr>
          <p:nvPr/>
        </p:nvSpPr>
        <p:spPr>
          <a:xfrm>
            <a:off x="4325493" y="4057030"/>
            <a:ext cx="5334" cy="99042"/>
          </a:xfrm>
          <a:prstGeom prst="rect">
            <a:avLst/>
          </a:prstGeom>
          <a:solidFill>
            <a:srgbClr val="202B36"/>
          </a:solidFill>
          <a:ln w="0">
            <a:noFill/>
          </a:ln>
        </p:spPr>
        <p:txBody>
          <a:bodyPr/>
          <a:lstStyle/>
          <a:p>
            <a:endParaRPr sz="1440"/>
          </a:p>
        </p:txBody>
      </p:sp>
      <p:sp>
        <p:nvSpPr>
          <p:cNvPr id="28" name="ruler-line">
            <a:extLst>
              <a:ext uri="{FF2B5EF4-FFF2-40B4-BE49-F238E27FC236}">
                <a16:creationId xmlns:a16="http://schemas.microsoft.com/office/drawing/2014/main" id="{91B34791-4A58-45F6-856E-3E2622A3C477}"/>
              </a:ext>
            </a:extLst>
          </p:cNvPr>
          <p:cNvSpPr>
            <a:spLocks noGrp="1"/>
          </p:cNvSpPr>
          <p:nvPr/>
        </p:nvSpPr>
        <p:spPr>
          <a:xfrm>
            <a:off x="4491747" y="4057030"/>
            <a:ext cx="5334" cy="99042"/>
          </a:xfrm>
          <a:prstGeom prst="rect">
            <a:avLst/>
          </a:prstGeom>
          <a:solidFill>
            <a:srgbClr val="202B36"/>
          </a:solidFill>
          <a:ln w="0">
            <a:noFill/>
          </a:ln>
        </p:spPr>
        <p:txBody>
          <a:bodyPr/>
          <a:lstStyle/>
          <a:p>
            <a:endParaRPr sz="1440"/>
          </a:p>
        </p:txBody>
      </p:sp>
      <p:sp>
        <p:nvSpPr>
          <p:cNvPr id="29" name="ruler-line">
            <a:extLst>
              <a:ext uri="{FF2B5EF4-FFF2-40B4-BE49-F238E27FC236}">
                <a16:creationId xmlns:a16="http://schemas.microsoft.com/office/drawing/2014/main" id="{D91FFFD8-11AC-4420-BAAF-0BDB09FDE606}"/>
              </a:ext>
            </a:extLst>
          </p:cNvPr>
          <p:cNvSpPr>
            <a:spLocks noGrp="1"/>
          </p:cNvSpPr>
          <p:nvPr/>
        </p:nvSpPr>
        <p:spPr>
          <a:xfrm>
            <a:off x="4658003" y="4057030"/>
            <a:ext cx="5334" cy="99042"/>
          </a:xfrm>
          <a:prstGeom prst="rect">
            <a:avLst/>
          </a:prstGeom>
          <a:solidFill>
            <a:srgbClr val="202B36"/>
          </a:solidFill>
          <a:ln w="0">
            <a:noFill/>
          </a:ln>
        </p:spPr>
        <p:txBody>
          <a:bodyPr/>
          <a:lstStyle/>
          <a:p>
            <a:endParaRPr sz="1440"/>
          </a:p>
        </p:txBody>
      </p:sp>
      <p:sp>
        <p:nvSpPr>
          <p:cNvPr id="30" name="ruler-line">
            <a:extLst>
              <a:ext uri="{FF2B5EF4-FFF2-40B4-BE49-F238E27FC236}">
                <a16:creationId xmlns:a16="http://schemas.microsoft.com/office/drawing/2014/main" id="{97C548C9-8638-4508-B802-87F4F37DBF75}"/>
              </a:ext>
            </a:extLst>
          </p:cNvPr>
          <p:cNvSpPr>
            <a:spLocks noGrp="1"/>
          </p:cNvSpPr>
          <p:nvPr/>
        </p:nvSpPr>
        <p:spPr>
          <a:xfrm>
            <a:off x="4824257" y="4057030"/>
            <a:ext cx="5334" cy="99042"/>
          </a:xfrm>
          <a:prstGeom prst="rect">
            <a:avLst/>
          </a:prstGeom>
          <a:solidFill>
            <a:srgbClr val="202B36"/>
          </a:solidFill>
          <a:ln w="0">
            <a:noFill/>
          </a:ln>
        </p:spPr>
        <p:txBody>
          <a:bodyPr/>
          <a:lstStyle/>
          <a:p>
            <a:endParaRPr sz="1440"/>
          </a:p>
        </p:txBody>
      </p:sp>
      <p:sp>
        <p:nvSpPr>
          <p:cNvPr id="31" name="ruler-line">
            <a:extLst>
              <a:ext uri="{FF2B5EF4-FFF2-40B4-BE49-F238E27FC236}">
                <a16:creationId xmlns:a16="http://schemas.microsoft.com/office/drawing/2014/main" id="{EAECB39C-8C5A-4604-A335-6851939201F6}"/>
              </a:ext>
            </a:extLst>
          </p:cNvPr>
          <p:cNvSpPr>
            <a:spLocks noGrp="1"/>
          </p:cNvSpPr>
          <p:nvPr/>
        </p:nvSpPr>
        <p:spPr>
          <a:xfrm>
            <a:off x="4987463" y="4015466"/>
            <a:ext cx="11430" cy="176075"/>
          </a:xfrm>
          <a:prstGeom prst="rect">
            <a:avLst/>
          </a:prstGeom>
          <a:solidFill>
            <a:srgbClr val="202B36"/>
          </a:solidFill>
          <a:ln w="0">
            <a:noFill/>
          </a:ln>
        </p:spPr>
        <p:txBody>
          <a:bodyPr/>
          <a:lstStyle/>
          <a:p>
            <a:endParaRPr sz="1440"/>
          </a:p>
        </p:txBody>
      </p:sp>
      <p:sp>
        <p:nvSpPr>
          <p:cNvPr id="32" name="10⁻⁶">
            <a:extLst>
              <a:ext uri="{FF2B5EF4-FFF2-40B4-BE49-F238E27FC236}">
                <a16:creationId xmlns:a16="http://schemas.microsoft.com/office/drawing/2014/main" id="{5655FC01-7343-4567-9F9F-4C49AB6D8615}"/>
              </a:ext>
            </a:extLst>
          </p:cNvPr>
          <p:cNvSpPr>
            <a:spLocks noGrp="1"/>
          </p:cNvSpPr>
          <p:nvPr/>
        </p:nvSpPr>
        <p:spPr>
          <a:xfrm>
            <a:off x="4688378" y="4274288"/>
            <a:ext cx="609600"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10⁻⁶</a:t>
            </a:r>
          </a:p>
        </p:txBody>
      </p:sp>
      <p:sp>
        <p:nvSpPr>
          <p:cNvPr id="33" name="ruler-line">
            <a:extLst>
              <a:ext uri="{FF2B5EF4-FFF2-40B4-BE49-F238E27FC236}">
                <a16:creationId xmlns:a16="http://schemas.microsoft.com/office/drawing/2014/main" id="{E6A33387-6831-4B7E-8DA6-9F386D36BA03}"/>
              </a:ext>
            </a:extLst>
          </p:cNvPr>
          <p:cNvSpPr>
            <a:spLocks noGrp="1"/>
          </p:cNvSpPr>
          <p:nvPr/>
        </p:nvSpPr>
        <p:spPr>
          <a:xfrm>
            <a:off x="5156766" y="4057030"/>
            <a:ext cx="5334" cy="99042"/>
          </a:xfrm>
          <a:prstGeom prst="rect">
            <a:avLst/>
          </a:prstGeom>
          <a:solidFill>
            <a:srgbClr val="202B36"/>
          </a:solidFill>
          <a:ln w="0">
            <a:noFill/>
          </a:ln>
        </p:spPr>
        <p:txBody>
          <a:bodyPr/>
          <a:lstStyle/>
          <a:p>
            <a:endParaRPr sz="1440"/>
          </a:p>
        </p:txBody>
      </p:sp>
      <p:sp>
        <p:nvSpPr>
          <p:cNvPr id="34" name="ruler-line">
            <a:extLst>
              <a:ext uri="{FF2B5EF4-FFF2-40B4-BE49-F238E27FC236}">
                <a16:creationId xmlns:a16="http://schemas.microsoft.com/office/drawing/2014/main" id="{0D4DB973-2CDF-4A02-8B67-C4509AFFFF98}"/>
              </a:ext>
            </a:extLst>
          </p:cNvPr>
          <p:cNvSpPr>
            <a:spLocks noGrp="1"/>
          </p:cNvSpPr>
          <p:nvPr/>
        </p:nvSpPr>
        <p:spPr>
          <a:xfrm>
            <a:off x="5323020" y="4057030"/>
            <a:ext cx="5334" cy="99042"/>
          </a:xfrm>
          <a:prstGeom prst="rect">
            <a:avLst/>
          </a:prstGeom>
          <a:solidFill>
            <a:srgbClr val="202B36"/>
          </a:solidFill>
          <a:ln w="0">
            <a:noFill/>
          </a:ln>
        </p:spPr>
        <p:txBody>
          <a:bodyPr/>
          <a:lstStyle/>
          <a:p>
            <a:endParaRPr sz="1440"/>
          </a:p>
        </p:txBody>
      </p:sp>
      <p:sp>
        <p:nvSpPr>
          <p:cNvPr id="35" name="ruler-line">
            <a:extLst>
              <a:ext uri="{FF2B5EF4-FFF2-40B4-BE49-F238E27FC236}">
                <a16:creationId xmlns:a16="http://schemas.microsoft.com/office/drawing/2014/main" id="{71DEEF4A-ED08-4A48-875C-EEE1C28A2E43}"/>
              </a:ext>
            </a:extLst>
          </p:cNvPr>
          <p:cNvSpPr>
            <a:spLocks noGrp="1"/>
          </p:cNvSpPr>
          <p:nvPr/>
        </p:nvSpPr>
        <p:spPr>
          <a:xfrm>
            <a:off x="5489275" y="4057030"/>
            <a:ext cx="5334" cy="99042"/>
          </a:xfrm>
          <a:prstGeom prst="rect">
            <a:avLst/>
          </a:prstGeom>
          <a:solidFill>
            <a:srgbClr val="202B36"/>
          </a:solidFill>
          <a:ln w="0">
            <a:noFill/>
          </a:ln>
        </p:spPr>
        <p:txBody>
          <a:bodyPr/>
          <a:lstStyle/>
          <a:p>
            <a:endParaRPr sz="1440"/>
          </a:p>
        </p:txBody>
      </p:sp>
      <p:sp>
        <p:nvSpPr>
          <p:cNvPr id="36" name="ruler-line">
            <a:extLst>
              <a:ext uri="{FF2B5EF4-FFF2-40B4-BE49-F238E27FC236}">
                <a16:creationId xmlns:a16="http://schemas.microsoft.com/office/drawing/2014/main" id="{09D41A65-1C09-4879-82B4-A9A57177C236}"/>
              </a:ext>
            </a:extLst>
          </p:cNvPr>
          <p:cNvSpPr>
            <a:spLocks noGrp="1"/>
          </p:cNvSpPr>
          <p:nvPr/>
        </p:nvSpPr>
        <p:spPr>
          <a:xfrm>
            <a:off x="5655530" y="4057030"/>
            <a:ext cx="5334" cy="99042"/>
          </a:xfrm>
          <a:prstGeom prst="rect">
            <a:avLst/>
          </a:prstGeom>
          <a:solidFill>
            <a:srgbClr val="202B36"/>
          </a:solidFill>
          <a:ln w="0">
            <a:noFill/>
          </a:ln>
        </p:spPr>
        <p:txBody>
          <a:bodyPr/>
          <a:lstStyle/>
          <a:p>
            <a:endParaRPr sz="1440"/>
          </a:p>
        </p:txBody>
      </p:sp>
      <p:sp>
        <p:nvSpPr>
          <p:cNvPr id="37" name="ruler-line">
            <a:extLst>
              <a:ext uri="{FF2B5EF4-FFF2-40B4-BE49-F238E27FC236}">
                <a16:creationId xmlns:a16="http://schemas.microsoft.com/office/drawing/2014/main" id="{30B0520C-2D85-4BA5-B0CA-3B92B71275CE}"/>
              </a:ext>
            </a:extLst>
          </p:cNvPr>
          <p:cNvSpPr>
            <a:spLocks noGrp="1"/>
          </p:cNvSpPr>
          <p:nvPr/>
        </p:nvSpPr>
        <p:spPr>
          <a:xfrm>
            <a:off x="5821784" y="4057030"/>
            <a:ext cx="5334" cy="99042"/>
          </a:xfrm>
          <a:prstGeom prst="rect">
            <a:avLst/>
          </a:prstGeom>
          <a:solidFill>
            <a:srgbClr val="202B36"/>
          </a:solidFill>
          <a:ln w="0">
            <a:noFill/>
          </a:ln>
        </p:spPr>
        <p:txBody>
          <a:bodyPr/>
          <a:lstStyle/>
          <a:p>
            <a:endParaRPr sz="1440"/>
          </a:p>
        </p:txBody>
      </p:sp>
      <p:sp>
        <p:nvSpPr>
          <p:cNvPr id="38" name="ruler-line">
            <a:extLst>
              <a:ext uri="{FF2B5EF4-FFF2-40B4-BE49-F238E27FC236}">
                <a16:creationId xmlns:a16="http://schemas.microsoft.com/office/drawing/2014/main" id="{27923652-9973-4FE1-8730-ED548B0A8195}"/>
              </a:ext>
            </a:extLst>
          </p:cNvPr>
          <p:cNvSpPr>
            <a:spLocks noGrp="1"/>
          </p:cNvSpPr>
          <p:nvPr/>
        </p:nvSpPr>
        <p:spPr>
          <a:xfrm>
            <a:off x="5984991" y="4015466"/>
            <a:ext cx="11430" cy="176075"/>
          </a:xfrm>
          <a:prstGeom prst="rect">
            <a:avLst/>
          </a:prstGeom>
          <a:solidFill>
            <a:srgbClr val="202B36"/>
          </a:solidFill>
          <a:ln w="0">
            <a:noFill/>
          </a:ln>
        </p:spPr>
        <p:txBody>
          <a:bodyPr/>
          <a:lstStyle/>
          <a:p>
            <a:endParaRPr sz="1440"/>
          </a:p>
        </p:txBody>
      </p:sp>
      <p:sp>
        <p:nvSpPr>
          <p:cNvPr id="39" name="10⁰">
            <a:extLst>
              <a:ext uri="{FF2B5EF4-FFF2-40B4-BE49-F238E27FC236}">
                <a16:creationId xmlns:a16="http://schemas.microsoft.com/office/drawing/2014/main" id="{8950756A-2C2E-4A3F-9375-BC1BB43242A5}"/>
              </a:ext>
            </a:extLst>
          </p:cNvPr>
          <p:cNvSpPr>
            <a:spLocks noGrp="1"/>
          </p:cNvSpPr>
          <p:nvPr/>
        </p:nvSpPr>
        <p:spPr>
          <a:xfrm>
            <a:off x="5685906" y="4274288"/>
            <a:ext cx="609600"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10⁰</a:t>
            </a:r>
          </a:p>
        </p:txBody>
      </p:sp>
      <p:sp>
        <p:nvSpPr>
          <p:cNvPr id="40" name="ruler-line">
            <a:extLst>
              <a:ext uri="{FF2B5EF4-FFF2-40B4-BE49-F238E27FC236}">
                <a16:creationId xmlns:a16="http://schemas.microsoft.com/office/drawing/2014/main" id="{995591C6-BECD-4BB3-AB54-41170F262D21}"/>
              </a:ext>
            </a:extLst>
          </p:cNvPr>
          <p:cNvSpPr>
            <a:spLocks noGrp="1"/>
          </p:cNvSpPr>
          <p:nvPr/>
        </p:nvSpPr>
        <p:spPr>
          <a:xfrm>
            <a:off x="6154293" y="4057030"/>
            <a:ext cx="5334" cy="99042"/>
          </a:xfrm>
          <a:prstGeom prst="rect">
            <a:avLst/>
          </a:prstGeom>
          <a:solidFill>
            <a:srgbClr val="202B36"/>
          </a:solidFill>
          <a:ln w="0">
            <a:noFill/>
          </a:ln>
        </p:spPr>
        <p:txBody>
          <a:bodyPr/>
          <a:lstStyle/>
          <a:p>
            <a:endParaRPr sz="1440"/>
          </a:p>
        </p:txBody>
      </p:sp>
      <p:sp>
        <p:nvSpPr>
          <p:cNvPr id="41" name="ruler-line">
            <a:extLst>
              <a:ext uri="{FF2B5EF4-FFF2-40B4-BE49-F238E27FC236}">
                <a16:creationId xmlns:a16="http://schemas.microsoft.com/office/drawing/2014/main" id="{B09CF920-9FC3-4C00-9D2D-0894E0880468}"/>
              </a:ext>
            </a:extLst>
          </p:cNvPr>
          <p:cNvSpPr>
            <a:spLocks noGrp="1"/>
          </p:cNvSpPr>
          <p:nvPr/>
        </p:nvSpPr>
        <p:spPr>
          <a:xfrm>
            <a:off x="6320547" y="4057030"/>
            <a:ext cx="5334" cy="99042"/>
          </a:xfrm>
          <a:prstGeom prst="rect">
            <a:avLst/>
          </a:prstGeom>
          <a:solidFill>
            <a:srgbClr val="202B36"/>
          </a:solidFill>
          <a:ln w="0">
            <a:noFill/>
          </a:ln>
        </p:spPr>
        <p:txBody>
          <a:bodyPr/>
          <a:lstStyle/>
          <a:p>
            <a:endParaRPr sz="1440"/>
          </a:p>
        </p:txBody>
      </p:sp>
      <p:sp>
        <p:nvSpPr>
          <p:cNvPr id="42" name="ruler-line">
            <a:extLst>
              <a:ext uri="{FF2B5EF4-FFF2-40B4-BE49-F238E27FC236}">
                <a16:creationId xmlns:a16="http://schemas.microsoft.com/office/drawing/2014/main" id="{CD266DD1-AD05-4CB2-A45F-97967F403CDB}"/>
              </a:ext>
            </a:extLst>
          </p:cNvPr>
          <p:cNvSpPr>
            <a:spLocks noGrp="1"/>
          </p:cNvSpPr>
          <p:nvPr/>
        </p:nvSpPr>
        <p:spPr>
          <a:xfrm>
            <a:off x="6486803" y="4057030"/>
            <a:ext cx="5334" cy="99042"/>
          </a:xfrm>
          <a:prstGeom prst="rect">
            <a:avLst/>
          </a:prstGeom>
          <a:solidFill>
            <a:srgbClr val="202B36"/>
          </a:solidFill>
          <a:ln w="0">
            <a:noFill/>
          </a:ln>
        </p:spPr>
        <p:txBody>
          <a:bodyPr/>
          <a:lstStyle/>
          <a:p>
            <a:endParaRPr sz="1440"/>
          </a:p>
        </p:txBody>
      </p:sp>
      <p:sp>
        <p:nvSpPr>
          <p:cNvPr id="43" name="ruler-line">
            <a:extLst>
              <a:ext uri="{FF2B5EF4-FFF2-40B4-BE49-F238E27FC236}">
                <a16:creationId xmlns:a16="http://schemas.microsoft.com/office/drawing/2014/main" id="{343011E3-DB98-4C40-A68A-3DF27BF70FEE}"/>
              </a:ext>
            </a:extLst>
          </p:cNvPr>
          <p:cNvSpPr>
            <a:spLocks noGrp="1"/>
          </p:cNvSpPr>
          <p:nvPr/>
        </p:nvSpPr>
        <p:spPr>
          <a:xfrm>
            <a:off x="6653057" y="4057030"/>
            <a:ext cx="5334" cy="99042"/>
          </a:xfrm>
          <a:prstGeom prst="rect">
            <a:avLst/>
          </a:prstGeom>
          <a:solidFill>
            <a:srgbClr val="202B36"/>
          </a:solidFill>
          <a:ln w="0">
            <a:noFill/>
          </a:ln>
        </p:spPr>
        <p:txBody>
          <a:bodyPr/>
          <a:lstStyle/>
          <a:p>
            <a:endParaRPr sz="1440"/>
          </a:p>
        </p:txBody>
      </p:sp>
      <p:sp>
        <p:nvSpPr>
          <p:cNvPr id="44" name="ruler-line">
            <a:extLst>
              <a:ext uri="{FF2B5EF4-FFF2-40B4-BE49-F238E27FC236}">
                <a16:creationId xmlns:a16="http://schemas.microsoft.com/office/drawing/2014/main" id="{D72FBCE3-1420-4750-9F52-76DF0AA41BED}"/>
              </a:ext>
            </a:extLst>
          </p:cNvPr>
          <p:cNvSpPr>
            <a:spLocks noGrp="1"/>
          </p:cNvSpPr>
          <p:nvPr/>
        </p:nvSpPr>
        <p:spPr>
          <a:xfrm>
            <a:off x="6819311" y="4057030"/>
            <a:ext cx="5334" cy="99042"/>
          </a:xfrm>
          <a:prstGeom prst="rect">
            <a:avLst/>
          </a:prstGeom>
          <a:solidFill>
            <a:srgbClr val="202B36"/>
          </a:solidFill>
          <a:ln w="0">
            <a:noFill/>
          </a:ln>
        </p:spPr>
        <p:txBody>
          <a:bodyPr/>
          <a:lstStyle/>
          <a:p>
            <a:endParaRPr sz="1440"/>
          </a:p>
        </p:txBody>
      </p:sp>
      <p:sp>
        <p:nvSpPr>
          <p:cNvPr id="45" name="ruler-line">
            <a:extLst>
              <a:ext uri="{FF2B5EF4-FFF2-40B4-BE49-F238E27FC236}">
                <a16:creationId xmlns:a16="http://schemas.microsoft.com/office/drawing/2014/main" id="{41AC4E45-9795-4746-94D5-4EB7BE726C44}"/>
              </a:ext>
            </a:extLst>
          </p:cNvPr>
          <p:cNvSpPr>
            <a:spLocks noGrp="1"/>
          </p:cNvSpPr>
          <p:nvPr/>
        </p:nvSpPr>
        <p:spPr>
          <a:xfrm>
            <a:off x="6982518" y="4015466"/>
            <a:ext cx="11430" cy="176075"/>
          </a:xfrm>
          <a:prstGeom prst="rect">
            <a:avLst/>
          </a:prstGeom>
          <a:solidFill>
            <a:srgbClr val="202B36"/>
          </a:solidFill>
          <a:ln w="0">
            <a:noFill/>
          </a:ln>
        </p:spPr>
        <p:txBody>
          <a:bodyPr/>
          <a:lstStyle/>
          <a:p>
            <a:endParaRPr sz="1440"/>
          </a:p>
        </p:txBody>
      </p:sp>
      <p:sp>
        <p:nvSpPr>
          <p:cNvPr id="46" name="10⁶">
            <a:extLst>
              <a:ext uri="{FF2B5EF4-FFF2-40B4-BE49-F238E27FC236}">
                <a16:creationId xmlns:a16="http://schemas.microsoft.com/office/drawing/2014/main" id="{42BCFED5-CFC5-45BF-A970-E2F9347015CD}"/>
              </a:ext>
            </a:extLst>
          </p:cNvPr>
          <p:cNvSpPr>
            <a:spLocks noGrp="1"/>
          </p:cNvSpPr>
          <p:nvPr/>
        </p:nvSpPr>
        <p:spPr>
          <a:xfrm>
            <a:off x="6683433" y="4274288"/>
            <a:ext cx="609600"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10⁶</a:t>
            </a:r>
          </a:p>
        </p:txBody>
      </p:sp>
      <p:sp>
        <p:nvSpPr>
          <p:cNvPr id="47" name="ruler-line">
            <a:extLst>
              <a:ext uri="{FF2B5EF4-FFF2-40B4-BE49-F238E27FC236}">
                <a16:creationId xmlns:a16="http://schemas.microsoft.com/office/drawing/2014/main" id="{29FB12E0-A7EA-480A-863D-E7C87F97A6EB}"/>
              </a:ext>
            </a:extLst>
          </p:cNvPr>
          <p:cNvSpPr>
            <a:spLocks noGrp="1"/>
          </p:cNvSpPr>
          <p:nvPr/>
        </p:nvSpPr>
        <p:spPr>
          <a:xfrm>
            <a:off x="7151820" y="4057030"/>
            <a:ext cx="5334" cy="99042"/>
          </a:xfrm>
          <a:prstGeom prst="rect">
            <a:avLst/>
          </a:prstGeom>
          <a:solidFill>
            <a:srgbClr val="202B36"/>
          </a:solidFill>
          <a:ln w="0">
            <a:noFill/>
          </a:ln>
        </p:spPr>
        <p:txBody>
          <a:bodyPr/>
          <a:lstStyle/>
          <a:p>
            <a:endParaRPr sz="1440"/>
          </a:p>
        </p:txBody>
      </p:sp>
      <p:sp>
        <p:nvSpPr>
          <p:cNvPr id="48" name="ruler-line">
            <a:extLst>
              <a:ext uri="{FF2B5EF4-FFF2-40B4-BE49-F238E27FC236}">
                <a16:creationId xmlns:a16="http://schemas.microsoft.com/office/drawing/2014/main" id="{9278D308-40B8-4DF0-9527-D3383C140C6A}"/>
              </a:ext>
            </a:extLst>
          </p:cNvPr>
          <p:cNvSpPr>
            <a:spLocks noGrp="1"/>
          </p:cNvSpPr>
          <p:nvPr/>
        </p:nvSpPr>
        <p:spPr>
          <a:xfrm>
            <a:off x="7318075" y="4057030"/>
            <a:ext cx="5334" cy="99042"/>
          </a:xfrm>
          <a:prstGeom prst="rect">
            <a:avLst/>
          </a:prstGeom>
          <a:solidFill>
            <a:srgbClr val="202B36"/>
          </a:solidFill>
          <a:ln w="0">
            <a:noFill/>
          </a:ln>
        </p:spPr>
        <p:txBody>
          <a:bodyPr/>
          <a:lstStyle/>
          <a:p>
            <a:endParaRPr sz="1440"/>
          </a:p>
        </p:txBody>
      </p:sp>
      <p:sp>
        <p:nvSpPr>
          <p:cNvPr id="49" name="ruler-line">
            <a:extLst>
              <a:ext uri="{FF2B5EF4-FFF2-40B4-BE49-F238E27FC236}">
                <a16:creationId xmlns:a16="http://schemas.microsoft.com/office/drawing/2014/main" id="{310991AD-1696-4B2D-AE17-2AED2ACED216}"/>
              </a:ext>
            </a:extLst>
          </p:cNvPr>
          <p:cNvSpPr>
            <a:spLocks noGrp="1"/>
          </p:cNvSpPr>
          <p:nvPr/>
        </p:nvSpPr>
        <p:spPr>
          <a:xfrm>
            <a:off x="7484330" y="4057030"/>
            <a:ext cx="5334" cy="99042"/>
          </a:xfrm>
          <a:prstGeom prst="rect">
            <a:avLst/>
          </a:prstGeom>
          <a:solidFill>
            <a:srgbClr val="202B36"/>
          </a:solidFill>
          <a:ln w="0">
            <a:noFill/>
          </a:ln>
        </p:spPr>
        <p:txBody>
          <a:bodyPr/>
          <a:lstStyle/>
          <a:p>
            <a:endParaRPr sz="1440"/>
          </a:p>
        </p:txBody>
      </p:sp>
      <p:sp>
        <p:nvSpPr>
          <p:cNvPr id="50" name="ruler-line">
            <a:extLst>
              <a:ext uri="{FF2B5EF4-FFF2-40B4-BE49-F238E27FC236}">
                <a16:creationId xmlns:a16="http://schemas.microsoft.com/office/drawing/2014/main" id="{7BB512C0-4C9B-4489-9D08-67538739070F}"/>
              </a:ext>
            </a:extLst>
          </p:cNvPr>
          <p:cNvSpPr>
            <a:spLocks noGrp="1"/>
          </p:cNvSpPr>
          <p:nvPr/>
        </p:nvSpPr>
        <p:spPr>
          <a:xfrm>
            <a:off x="7650584" y="4057030"/>
            <a:ext cx="5334" cy="99042"/>
          </a:xfrm>
          <a:prstGeom prst="rect">
            <a:avLst/>
          </a:prstGeom>
          <a:solidFill>
            <a:srgbClr val="202B36"/>
          </a:solidFill>
          <a:ln w="0">
            <a:noFill/>
          </a:ln>
        </p:spPr>
        <p:txBody>
          <a:bodyPr/>
          <a:lstStyle/>
          <a:p>
            <a:endParaRPr sz="1440"/>
          </a:p>
        </p:txBody>
      </p:sp>
      <p:sp>
        <p:nvSpPr>
          <p:cNvPr id="51" name="ruler-line">
            <a:extLst>
              <a:ext uri="{FF2B5EF4-FFF2-40B4-BE49-F238E27FC236}">
                <a16:creationId xmlns:a16="http://schemas.microsoft.com/office/drawing/2014/main" id="{40FC71E1-7C92-4AAC-9460-E938A9C4781F}"/>
              </a:ext>
            </a:extLst>
          </p:cNvPr>
          <p:cNvSpPr>
            <a:spLocks noGrp="1"/>
          </p:cNvSpPr>
          <p:nvPr/>
        </p:nvSpPr>
        <p:spPr>
          <a:xfrm>
            <a:off x="7816839" y="4057030"/>
            <a:ext cx="5334" cy="99042"/>
          </a:xfrm>
          <a:prstGeom prst="rect">
            <a:avLst/>
          </a:prstGeom>
          <a:solidFill>
            <a:srgbClr val="202B36"/>
          </a:solidFill>
          <a:ln w="0">
            <a:noFill/>
          </a:ln>
        </p:spPr>
        <p:txBody>
          <a:bodyPr/>
          <a:lstStyle/>
          <a:p>
            <a:endParaRPr sz="1440"/>
          </a:p>
        </p:txBody>
      </p:sp>
      <p:sp>
        <p:nvSpPr>
          <p:cNvPr id="52" name="ruler-line">
            <a:extLst>
              <a:ext uri="{FF2B5EF4-FFF2-40B4-BE49-F238E27FC236}">
                <a16:creationId xmlns:a16="http://schemas.microsoft.com/office/drawing/2014/main" id="{E23A903B-421A-4676-9190-B763CA54BA75}"/>
              </a:ext>
            </a:extLst>
          </p:cNvPr>
          <p:cNvSpPr>
            <a:spLocks noGrp="1"/>
          </p:cNvSpPr>
          <p:nvPr/>
        </p:nvSpPr>
        <p:spPr>
          <a:xfrm>
            <a:off x="7980045" y="4015466"/>
            <a:ext cx="11430" cy="176075"/>
          </a:xfrm>
          <a:prstGeom prst="rect">
            <a:avLst/>
          </a:prstGeom>
          <a:solidFill>
            <a:srgbClr val="202B36"/>
          </a:solidFill>
          <a:ln w="0">
            <a:noFill/>
          </a:ln>
        </p:spPr>
        <p:txBody>
          <a:bodyPr/>
          <a:lstStyle/>
          <a:p>
            <a:endParaRPr sz="1440"/>
          </a:p>
        </p:txBody>
      </p:sp>
      <p:sp>
        <p:nvSpPr>
          <p:cNvPr id="53" name="10¹²">
            <a:extLst>
              <a:ext uri="{FF2B5EF4-FFF2-40B4-BE49-F238E27FC236}">
                <a16:creationId xmlns:a16="http://schemas.microsoft.com/office/drawing/2014/main" id="{546FB1C7-0634-45D7-A83D-F16D805F8A2F}"/>
              </a:ext>
            </a:extLst>
          </p:cNvPr>
          <p:cNvSpPr>
            <a:spLocks noGrp="1"/>
          </p:cNvSpPr>
          <p:nvPr/>
        </p:nvSpPr>
        <p:spPr>
          <a:xfrm>
            <a:off x="7680960" y="4274288"/>
            <a:ext cx="609600"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10¹²</a:t>
            </a:r>
          </a:p>
        </p:txBody>
      </p:sp>
      <p:sp>
        <p:nvSpPr>
          <p:cNvPr id="54" name="ruler-line">
            <a:extLst>
              <a:ext uri="{FF2B5EF4-FFF2-40B4-BE49-F238E27FC236}">
                <a16:creationId xmlns:a16="http://schemas.microsoft.com/office/drawing/2014/main" id="{C0A3C844-BE19-40F8-9F89-D7FA1D7A7FAA}"/>
              </a:ext>
            </a:extLst>
          </p:cNvPr>
          <p:cNvSpPr>
            <a:spLocks noGrp="1"/>
          </p:cNvSpPr>
          <p:nvPr/>
        </p:nvSpPr>
        <p:spPr>
          <a:xfrm>
            <a:off x="8149347" y="4057030"/>
            <a:ext cx="5334" cy="99042"/>
          </a:xfrm>
          <a:prstGeom prst="rect">
            <a:avLst/>
          </a:prstGeom>
          <a:solidFill>
            <a:srgbClr val="202B36"/>
          </a:solidFill>
          <a:ln w="0">
            <a:noFill/>
          </a:ln>
        </p:spPr>
        <p:txBody>
          <a:bodyPr/>
          <a:lstStyle/>
          <a:p>
            <a:endParaRPr sz="1440"/>
          </a:p>
        </p:txBody>
      </p:sp>
      <p:sp>
        <p:nvSpPr>
          <p:cNvPr id="55" name="ruler-line">
            <a:extLst>
              <a:ext uri="{FF2B5EF4-FFF2-40B4-BE49-F238E27FC236}">
                <a16:creationId xmlns:a16="http://schemas.microsoft.com/office/drawing/2014/main" id="{C057E623-3929-4807-ABB7-F7A1BB6334BB}"/>
              </a:ext>
            </a:extLst>
          </p:cNvPr>
          <p:cNvSpPr>
            <a:spLocks noGrp="1"/>
          </p:cNvSpPr>
          <p:nvPr/>
        </p:nvSpPr>
        <p:spPr>
          <a:xfrm>
            <a:off x="8315603" y="4057030"/>
            <a:ext cx="5334" cy="99042"/>
          </a:xfrm>
          <a:prstGeom prst="rect">
            <a:avLst/>
          </a:prstGeom>
          <a:solidFill>
            <a:srgbClr val="202B36"/>
          </a:solidFill>
          <a:ln w="0">
            <a:noFill/>
          </a:ln>
        </p:spPr>
        <p:txBody>
          <a:bodyPr/>
          <a:lstStyle/>
          <a:p>
            <a:endParaRPr sz="1440"/>
          </a:p>
        </p:txBody>
      </p:sp>
      <p:sp>
        <p:nvSpPr>
          <p:cNvPr id="56" name="ruler-line">
            <a:extLst>
              <a:ext uri="{FF2B5EF4-FFF2-40B4-BE49-F238E27FC236}">
                <a16:creationId xmlns:a16="http://schemas.microsoft.com/office/drawing/2014/main" id="{7D764E3E-F34E-4C00-9067-8A9730FB6279}"/>
              </a:ext>
            </a:extLst>
          </p:cNvPr>
          <p:cNvSpPr>
            <a:spLocks noGrp="1"/>
          </p:cNvSpPr>
          <p:nvPr/>
        </p:nvSpPr>
        <p:spPr>
          <a:xfrm>
            <a:off x="8481857" y="4057030"/>
            <a:ext cx="5334" cy="99042"/>
          </a:xfrm>
          <a:prstGeom prst="rect">
            <a:avLst/>
          </a:prstGeom>
          <a:solidFill>
            <a:srgbClr val="202B36"/>
          </a:solidFill>
          <a:ln w="0">
            <a:noFill/>
          </a:ln>
        </p:spPr>
        <p:txBody>
          <a:bodyPr/>
          <a:lstStyle/>
          <a:p>
            <a:endParaRPr sz="1440"/>
          </a:p>
        </p:txBody>
      </p:sp>
      <p:sp>
        <p:nvSpPr>
          <p:cNvPr id="57" name="ruler-line">
            <a:extLst>
              <a:ext uri="{FF2B5EF4-FFF2-40B4-BE49-F238E27FC236}">
                <a16:creationId xmlns:a16="http://schemas.microsoft.com/office/drawing/2014/main" id="{DF9B61A9-9C35-428F-B54B-FAB2FA70ECCB}"/>
              </a:ext>
            </a:extLst>
          </p:cNvPr>
          <p:cNvSpPr>
            <a:spLocks noGrp="1"/>
          </p:cNvSpPr>
          <p:nvPr/>
        </p:nvSpPr>
        <p:spPr>
          <a:xfrm>
            <a:off x="8648111" y="4057030"/>
            <a:ext cx="5334" cy="99042"/>
          </a:xfrm>
          <a:prstGeom prst="rect">
            <a:avLst/>
          </a:prstGeom>
          <a:solidFill>
            <a:srgbClr val="202B36"/>
          </a:solidFill>
          <a:ln w="0">
            <a:noFill/>
          </a:ln>
        </p:spPr>
        <p:txBody>
          <a:bodyPr/>
          <a:lstStyle/>
          <a:p>
            <a:endParaRPr sz="1440"/>
          </a:p>
        </p:txBody>
      </p:sp>
      <p:sp>
        <p:nvSpPr>
          <p:cNvPr id="58" name="ruler-line">
            <a:extLst>
              <a:ext uri="{FF2B5EF4-FFF2-40B4-BE49-F238E27FC236}">
                <a16:creationId xmlns:a16="http://schemas.microsoft.com/office/drawing/2014/main" id="{D09CF589-B1D2-4926-8397-F50AEB2A4EE4}"/>
              </a:ext>
            </a:extLst>
          </p:cNvPr>
          <p:cNvSpPr>
            <a:spLocks noGrp="1"/>
          </p:cNvSpPr>
          <p:nvPr/>
        </p:nvSpPr>
        <p:spPr>
          <a:xfrm>
            <a:off x="8814366" y="4057030"/>
            <a:ext cx="5334" cy="99042"/>
          </a:xfrm>
          <a:prstGeom prst="rect">
            <a:avLst/>
          </a:prstGeom>
          <a:solidFill>
            <a:srgbClr val="202B36"/>
          </a:solidFill>
          <a:ln w="0">
            <a:noFill/>
          </a:ln>
        </p:spPr>
        <p:txBody>
          <a:bodyPr/>
          <a:lstStyle/>
          <a:p>
            <a:endParaRPr sz="1440"/>
          </a:p>
        </p:txBody>
      </p:sp>
      <p:sp>
        <p:nvSpPr>
          <p:cNvPr id="59" name="ruler-line">
            <a:extLst>
              <a:ext uri="{FF2B5EF4-FFF2-40B4-BE49-F238E27FC236}">
                <a16:creationId xmlns:a16="http://schemas.microsoft.com/office/drawing/2014/main" id="{F4A67C1D-4E8F-4CBC-AED2-9EEB3599E09B}"/>
              </a:ext>
            </a:extLst>
          </p:cNvPr>
          <p:cNvSpPr>
            <a:spLocks noGrp="1"/>
          </p:cNvSpPr>
          <p:nvPr/>
        </p:nvSpPr>
        <p:spPr>
          <a:xfrm>
            <a:off x="8977572" y="4015466"/>
            <a:ext cx="11430" cy="176075"/>
          </a:xfrm>
          <a:prstGeom prst="rect">
            <a:avLst/>
          </a:prstGeom>
          <a:solidFill>
            <a:srgbClr val="202B36"/>
          </a:solidFill>
          <a:ln w="0">
            <a:noFill/>
          </a:ln>
        </p:spPr>
        <p:txBody>
          <a:bodyPr/>
          <a:lstStyle/>
          <a:p>
            <a:endParaRPr sz="1440"/>
          </a:p>
        </p:txBody>
      </p:sp>
      <p:sp>
        <p:nvSpPr>
          <p:cNvPr id="60" name="10¹⁸">
            <a:extLst>
              <a:ext uri="{FF2B5EF4-FFF2-40B4-BE49-F238E27FC236}">
                <a16:creationId xmlns:a16="http://schemas.microsoft.com/office/drawing/2014/main" id="{060EE862-95B3-44F8-9AB4-09D9D710E2D7}"/>
              </a:ext>
            </a:extLst>
          </p:cNvPr>
          <p:cNvSpPr>
            <a:spLocks noGrp="1"/>
          </p:cNvSpPr>
          <p:nvPr/>
        </p:nvSpPr>
        <p:spPr>
          <a:xfrm>
            <a:off x="8678487" y="4274288"/>
            <a:ext cx="609600"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10¹⁸</a:t>
            </a:r>
          </a:p>
        </p:txBody>
      </p:sp>
      <p:sp>
        <p:nvSpPr>
          <p:cNvPr id="61" name="ruler-line">
            <a:extLst>
              <a:ext uri="{FF2B5EF4-FFF2-40B4-BE49-F238E27FC236}">
                <a16:creationId xmlns:a16="http://schemas.microsoft.com/office/drawing/2014/main" id="{D86D74DE-ECF0-4781-84AF-C1FBEEFCBB87}"/>
              </a:ext>
            </a:extLst>
          </p:cNvPr>
          <p:cNvSpPr>
            <a:spLocks noGrp="1"/>
          </p:cNvSpPr>
          <p:nvPr/>
        </p:nvSpPr>
        <p:spPr>
          <a:xfrm>
            <a:off x="9146875" y="4057030"/>
            <a:ext cx="5334" cy="99042"/>
          </a:xfrm>
          <a:prstGeom prst="rect">
            <a:avLst/>
          </a:prstGeom>
          <a:solidFill>
            <a:srgbClr val="202B36"/>
          </a:solidFill>
          <a:ln w="0">
            <a:noFill/>
          </a:ln>
        </p:spPr>
        <p:txBody>
          <a:bodyPr/>
          <a:lstStyle/>
          <a:p>
            <a:endParaRPr sz="1440"/>
          </a:p>
        </p:txBody>
      </p:sp>
      <p:sp>
        <p:nvSpPr>
          <p:cNvPr id="62" name="ruler-line">
            <a:extLst>
              <a:ext uri="{FF2B5EF4-FFF2-40B4-BE49-F238E27FC236}">
                <a16:creationId xmlns:a16="http://schemas.microsoft.com/office/drawing/2014/main" id="{F535D943-842D-494A-8BDD-FF3272874FE1}"/>
              </a:ext>
            </a:extLst>
          </p:cNvPr>
          <p:cNvSpPr>
            <a:spLocks noGrp="1"/>
          </p:cNvSpPr>
          <p:nvPr/>
        </p:nvSpPr>
        <p:spPr>
          <a:xfrm>
            <a:off x="9313130" y="4057030"/>
            <a:ext cx="5334" cy="99042"/>
          </a:xfrm>
          <a:prstGeom prst="rect">
            <a:avLst/>
          </a:prstGeom>
          <a:solidFill>
            <a:srgbClr val="202B36"/>
          </a:solidFill>
          <a:ln w="0">
            <a:noFill/>
          </a:ln>
        </p:spPr>
        <p:txBody>
          <a:bodyPr/>
          <a:lstStyle/>
          <a:p>
            <a:endParaRPr sz="1440"/>
          </a:p>
        </p:txBody>
      </p:sp>
      <p:sp>
        <p:nvSpPr>
          <p:cNvPr id="63" name="ruler-line">
            <a:extLst>
              <a:ext uri="{FF2B5EF4-FFF2-40B4-BE49-F238E27FC236}">
                <a16:creationId xmlns:a16="http://schemas.microsoft.com/office/drawing/2014/main" id="{34BDC4C6-8968-4019-8839-41A8E2D3BBD6}"/>
              </a:ext>
            </a:extLst>
          </p:cNvPr>
          <p:cNvSpPr>
            <a:spLocks noGrp="1"/>
          </p:cNvSpPr>
          <p:nvPr/>
        </p:nvSpPr>
        <p:spPr>
          <a:xfrm>
            <a:off x="9479384" y="4057030"/>
            <a:ext cx="5334" cy="99042"/>
          </a:xfrm>
          <a:prstGeom prst="rect">
            <a:avLst/>
          </a:prstGeom>
          <a:solidFill>
            <a:srgbClr val="202B36"/>
          </a:solidFill>
          <a:ln w="0">
            <a:noFill/>
          </a:ln>
        </p:spPr>
        <p:txBody>
          <a:bodyPr/>
          <a:lstStyle/>
          <a:p>
            <a:endParaRPr sz="1440"/>
          </a:p>
        </p:txBody>
      </p:sp>
      <p:sp>
        <p:nvSpPr>
          <p:cNvPr id="64" name="ruler-line">
            <a:extLst>
              <a:ext uri="{FF2B5EF4-FFF2-40B4-BE49-F238E27FC236}">
                <a16:creationId xmlns:a16="http://schemas.microsoft.com/office/drawing/2014/main" id="{2D79B511-36B5-436C-B803-788BC8D381D3}"/>
              </a:ext>
            </a:extLst>
          </p:cNvPr>
          <p:cNvSpPr>
            <a:spLocks noGrp="1"/>
          </p:cNvSpPr>
          <p:nvPr/>
        </p:nvSpPr>
        <p:spPr>
          <a:xfrm>
            <a:off x="9645639" y="4057030"/>
            <a:ext cx="5334" cy="99042"/>
          </a:xfrm>
          <a:prstGeom prst="rect">
            <a:avLst/>
          </a:prstGeom>
          <a:solidFill>
            <a:srgbClr val="202B36"/>
          </a:solidFill>
          <a:ln w="0">
            <a:noFill/>
          </a:ln>
        </p:spPr>
        <p:txBody>
          <a:bodyPr/>
          <a:lstStyle/>
          <a:p>
            <a:endParaRPr sz="1440"/>
          </a:p>
        </p:txBody>
      </p:sp>
      <p:sp>
        <p:nvSpPr>
          <p:cNvPr id="65" name="ruler-line">
            <a:extLst>
              <a:ext uri="{FF2B5EF4-FFF2-40B4-BE49-F238E27FC236}">
                <a16:creationId xmlns:a16="http://schemas.microsoft.com/office/drawing/2014/main" id="{ABACC6A7-3D21-4725-AD5A-2EC84009EE79}"/>
              </a:ext>
            </a:extLst>
          </p:cNvPr>
          <p:cNvSpPr>
            <a:spLocks noGrp="1"/>
          </p:cNvSpPr>
          <p:nvPr/>
        </p:nvSpPr>
        <p:spPr>
          <a:xfrm>
            <a:off x="9811893" y="4057030"/>
            <a:ext cx="5334" cy="99042"/>
          </a:xfrm>
          <a:prstGeom prst="rect">
            <a:avLst/>
          </a:prstGeom>
          <a:solidFill>
            <a:srgbClr val="202B36"/>
          </a:solidFill>
          <a:ln w="0">
            <a:noFill/>
          </a:ln>
        </p:spPr>
        <p:txBody>
          <a:bodyPr/>
          <a:lstStyle/>
          <a:p>
            <a:endParaRPr sz="1440"/>
          </a:p>
        </p:txBody>
      </p:sp>
      <p:sp>
        <p:nvSpPr>
          <p:cNvPr id="66" name="ruler-line">
            <a:extLst>
              <a:ext uri="{FF2B5EF4-FFF2-40B4-BE49-F238E27FC236}">
                <a16:creationId xmlns:a16="http://schemas.microsoft.com/office/drawing/2014/main" id="{5921E742-E5D8-447B-94D5-33514480FF24}"/>
              </a:ext>
            </a:extLst>
          </p:cNvPr>
          <p:cNvSpPr>
            <a:spLocks noGrp="1"/>
          </p:cNvSpPr>
          <p:nvPr/>
        </p:nvSpPr>
        <p:spPr>
          <a:xfrm>
            <a:off x="9975099" y="4015466"/>
            <a:ext cx="11430" cy="176075"/>
          </a:xfrm>
          <a:prstGeom prst="rect">
            <a:avLst/>
          </a:prstGeom>
          <a:solidFill>
            <a:srgbClr val="202B36"/>
          </a:solidFill>
          <a:ln w="0">
            <a:noFill/>
          </a:ln>
        </p:spPr>
        <p:txBody>
          <a:bodyPr/>
          <a:lstStyle/>
          <a:p>
            <a:endParaRPr sz="1440"/>
          </a:p>
        </p:txBody>
      </p:sp>
      <p:sp>
        <p:nvSpPr>
          <p:cNvPr id="67" name="10²⁴">
            <a:extLst>
              <a:ext uri="{FF2B5EF4-FFF2-40B4-BE49-F238E27FC236}">
                <a16:creationId xmlns:a16="http://schemas.microsoft.com/office/drawing/2014/main" id="{204FE4CA-634B-44A0-B72A-78E9BBEEE8ED}"/>
              </a:ext>
            </a:extLst>
          </p:cNvPr>
          <p:cNvSpPr>
            <a:spLocks noGrp="1"/>
          </p:cNvSpPr>
          <p:nvPr/>
        </p:nvSpPr>
        <p:spPr>
          <a:xfrm>
            <a:off x="9676014" y="4274288"/>
            <a:ext cx="609600"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10²⁴</a:t>
            </a:r>
          </a:p>
        </p:txBody>
      </p:sp>
      <p:sp>
        <p:nvSpPr>
          <p:cNvPr id="68" name="ruler-line">
            <a:extLst>
              <a:ext uri="{FF2B5EF4-FFF2-40B4-BE49-F238E27FC236}">
                <a16:creationId xmlns:a16="http://schemas.microsoft.com/office/drawing/2014/main" id="{2F28FF2A-AF55-4FAF-9938-2476F3505B4D}"/>
              </a:ext>
            </a:extLst>
          </p:cNvPr>
          <p:cNvSpPr>
            <a:spLocks noGrp="1"/>
          </p:cNvSpPr>
          <p:nvPr/>
        </p:nvSpPr>
        <p:spPr>
          <a:xfrm>
            <a:off x="10144403" y="4057030"/>
            <a:ext cx="5334" cy="99042"/>
          </a:xfrm>
          <a:prstGeom prst="rect">
            <a:avLst/>
          </a:prstGeom>
          <a:solidFill>
            <a:srgbClr val="202B36"/>
          </a:solidFill>
          <a:ln w="0">
            <a:noFill/>
          </a:ln>
        </p:spPr>
        <p:txBody>
          <a:bodyPr/>
          <a:lstStyle/>
          <a:p>
            <a:endParaRPr sz="1440"/>
          </a:p>
        </p:txBody>
      </p:sp>
      <p:sp>
        <p:nvSpPr>
          <p:cNvPr id="69" name="ruler-line">
            <a:extLst>
              <a:ext uri="{FF2B5EF4-FFF2-40B4-BE49-F238E27FC236}">
                <a16:creationId xmlns:a16="http://schemas.microsoft.com/office/drawing/2014/main" id="{869E7BD5-B9E3-4CC3-AF66-0C3A8BA50D68}"/>
              </a:ext>
            </a:extLst>
          </p:cNvPr>
          <p:cNvSpPr>
            <a:spLocks noGrp="1"/>
          </p:cNvSpPr>
          <p:nvPr/>
        </p:nvSpPr>
        <p:spPr>
          <a:xfrm>
            <a:off x="10310657" y="4057030"/>
            <a:ext cx="5334" cy="99042"/>
          </a:xfrm>
          <a:prstGeom prst="rect">
            <a:avLst/>
          </a:prstGeom>
          <a:solidFill>
            <a:srgbClr val="202B36"/>
          </a:solidFill>
          <a:ln w="0">
            <a:noFill/>
          </a:ln>
        </p:spPr>
        <p:txBody>
          <a:bodyPr/>
          <a:lstStyle/>
          <a:p>
            <a:endParaRPr sz="1440"/>
          </a:p>
        </p:txBody>
      </p:sp>
      <p:sp>
        <p:nvSpPr>
          <p:cNvPr id="70" name="ruler-line">
            <a:extLst>
              <a:ext uri="{FF2B5EF4-FFF2-40B4-BE49-F238E27FC236}">
                <a16:creationId xmlns:a16="http://schemas.microsoft.com/office/drawing/2014/main" id="{F5D99EA6-9694-47AE-89D9-E6E259B07F4B}"/>
              </a:ext>
            </a:extLst>
          </p:cNvPr>
          <p:cNvSpPr>
            <a:spLocks noGrp="1"/>
          </p:cNvSpPr>
          <p:nvPr/>
        </p:nvSpPr>
        <p:spPr>
          <a:xfrm>
            <a:off x="10476911" y="4057030"/>
            <a:ext cx="5334" cy="99042"/>
          </a:xfrm>
          <a:prstGeom prst="rect">
            <a:avLst/>
          </a:prstGeom>
          <a:solidFill>
            <a:srgbClr val="202B36"/>
          </a:solidFill>
          <a:ln w="0">
            <a:noFill/>
          </a:ln>
        </p:spPr>
        <p:txBody>
          <a:bodyPr/>
          <a:lstStyle/>
          <a:p>
            <a:endParaRPr sz="1440"/>
          </a:p>
        </p:txBody>
      </p:sp>
      <p:sp>
        <p:nvSpPr>
          <p:cNvPr id="71" name="ruler-line">
            <a:extLst>
              <a:ext uri="{FF2B5EF4-FFF2-40B4-BE49-F238E27FC236}">
                <a16:creationId xmlns:a16="http://schemas.microsoft.com/office/drawing/2014/main" id="{81EE0058-EAE6-4ECA-9BCD-8AFF859D2960}"/>
              </a:ext>
            </a:extLst>
          </p:cNvPr>
          <p:cNvSpPr>
            <a:spLocks noGrp="1"/>
          </p:cNvSpPr>
          <p:nvPr/>
        </p:nvSpPr>
        <p:spPr>
          <a:xfrm>
            <a:off x="10643166" y="4057030"/>
            <a:ext cx="5334" cy="99042"/>
          </a:xfrm>
          <a:prstGeom prst="rect">
            <a:avLst/>
          </a:prstGeom>
          <a:solidFill>
            <a:srgbClr val="202B36"/>
          </a:solidFill>
          <a:ln w="0">
            <a:noFill/>
          </a:ln>
        </p:spPr>
        <p:txBody>
          <a:bodyPr/>
          <a:lstStyle/>
          <a:p>
            <a:endParaRPr sz="1440"/>
          </a:p>
        </p:txBody>
      </p:sp>
      <p:sp>
        <p:nvSpPr>
          <p:cNvPr id="72" name="ruler-line">
            <a:extLst>
              <a:ext uri="{FF2B5EF4-FFF2-40B4-BE49-F238E27FC236}">
                <a16:creationId xmlns:a16="http://schemas.microsoft.com/office/drawing/2014/main" id="{D7CC066F-7037-4E00-BAA9-C250B79E38EE}"/>
              </a:ext>
            </a:extLst>
          </p:cNvPr>
          <p:cNvSpPr>
            <a:spLocks noGrp="1"/>
          </p:cNvSpPr>
          <p:nvPr/>
        </p:nvSpPr>
        <p:spPr>
          <a:xfrm>
            <a:off x="10809420" y="4057030"/>
            <a:ext cx="5334" cy="99042"/>
          </a:xfrm>
          <a:prstGeom prst="rect">
            <a:avLst/>
          </a:prstGeom>
          <a:solidFill>
            <a:srgbClr val="202B36"/>
          </a:solidFill>
          <a:ln w="0">
            <a:noFill/>
          </a:ln>
        </p:spPr>
        <p:txBody>
          <a:bodyPr/>
          <a:lstStyle/>
          <a:p>
            <a:endParaRPr sz="1440"/>
          </a:p>
        </p:txBody>
      </p:sp>
      <p:sp>
        <p:nvSpPr>
          <p:cNvPr id="73" name="ruler-line">
            <a:extLst>
              <a:ext uri="{FF2B5EF4-FFF2-40B4-BE49-F238E27FC236}">
                <a16:creationId xmlns:a16="http://schemas.microsoft.com/office/drawing/2014/main" id="{FC5D3F5A-134D-4136-876F-2E2A0058FC29}"/>
              </a:ext>
            </a:extLst>
          </p:cNvPr>
          <p:cNvSpPr>
            <a:spLocks noGrp="1"/>
          </p:cNvSpPr>
          <p:nvPr/>
        </p:nvSpPr>
        <p:spPr>
          <a:xfrm>
            <a:off x="10972627" y="4015466"/>
            <a:ext cx="11430" cy="176075"/>
          </a:xfrm>
          <a:prstGeom prst="rect">
            <a:avLst/>
          </a:prstGeom>
          <a:solidFill>
            <a:srgbClr val="202B36"/>
          </a:solidFill>
          <a:ln w="0">
            <a:noFill/>
          </a:ln>
        </p:spPr>
        <p:txBody>
          <a:bodyPr/>
          <a:lstStyle/>
          <a:p>
            <a:endParaRPr sz="1440"/>
          </a:p>
        </p:txBody>
      </p:sp>
      <p:sp>
        <p:nvSpPr>
          <p:cNvPr id="74" name="10³⁰">
            <a:extLst>
              <a:ext uri="{FF2B5EF4-FFF2-40B4-BE49-F238E27FC236}">
                <a16:creationId xmlns:a16="http://schemas.microsoft.com/office/drawing/2014/main" id="{A32BD1B7-E907-49AE-9C80-95F3BE8547B1}"/>
              </a:ext>
            </a:extLst>
          </p:cNvPr>
          <p:cNvSpPr>
            <a:spLocks noGrp="1"/>
          </p:cNvSpPr>
          <p:nvPr/>
        </p:nvSpPr>
        <p:spPr>
          <a:xfrm>
            <a:off x="10673542" y="4274288"/>
            <a:ext cx="609600"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10³⁰</a:t>
            </a:r>
          </a:p>
        </p:txBody>
      </p:sp>
      <p:sp>
        <p:nvSpPr>
          <p:cNvPr id="75" name="ruler-line">
            <a:extLst>
              <a:ext uri="{FF2B5EF4-FFF2-40B4-BE49-F238E27FC236}">
                <a16:creationId xmlns:a16="http://schemas.microsoft.com/office/drawing/2014/main" id="{D8136103-D461-41D1-9310-C6BA42A5CACB}"/>
              </a:ext>
            </a:extLst>
          </p:cNvPr>
          <p:cNvSpPr>
            <a:spLocks noGrp="1"/>
          </p:cNvSpPr>
          <p:nvPr/>
        </p:nvSpPr>
        <p:spPr>
          <a:xfrm>
            <a:off x="11141930" y="4057030"/>
            <a:ext cx="5334" cy="99042"/>
          </a:xfrm>
          <a:prstGeom prst="rect">
            <a:avLst/>
          </a:prstGeom>
          <a:solidFill>
            <a:srgbClr val="202B36"/>
          </a:solidFill>
          <a:ln w="0">
            <a:noFill/>
          </a:ln>
        </p:spPr>
        <p:txBody>
          <a:bodyPr/>
          <a:lstStyle/>
          <a:p>
            <a:endParaRPr sz="1440"/>
          </a:p>
        </p:txBody>
      </p:sp>
      <p:sp>
        <p:nvSpPr>
          <p:cNvPr id="76" name="ruler-line">
            <a:extLst>
              <a:ext uri="{FF2B5EF4-FFF2-40B4-BE49-F238E27FC236}">
                <a16:creationId xmlns:a16="http://schemas.microsoft.com/office/drawing/2014/main" id="{BEB9025F-C1E9-46FB-AF4D-D14EB0AC9097}"/>
              </a:ext>
            </a:extLst>
          </p:cNvPr>
          <p:cNvSpPr>
            <a:spLocks noGrp="1"/>
          </p:cNvSpPr>
          <p:nvPr/>
        </p:nvSpPr>
        <p:spPr>
          <a:xfrm>
            <a:off x="11308184" y="4057030"/>
            <a:ext cx="5334" cy="99042"/>
          </a:xfrm>
          <a:prstGeom prst="rect">
            <a:avLst/>
          </a:prstGeom>
          <a:solidFill>
            <a:srgbClr val="202B36"/>
          </a:solidFill>
          <a:ln w="0">
            <a:noFill/>
          </a:ln>
        </p:spPr>
        <p:txBody>
          <a:bodyPr/>
          <a:lstStyle/>
          <a:p>
            <a:endParaRPr sz="1440"/>
          </a:p>
        </p:txBody>
      </p:sp>
      <p:sp>
        <p:nvSpPr>
          <p:cNvPr id="77" name="ruler-line">
            <a:extLst>
              <a:ext uri="{FF2B5EF4-FFF2-40B4-BE49-F238E27FC236}">
                <a16:creationId xmlns:a16="http://schemas.microsoft.com/office/drawing/2014/main" id="{9FE4AC8A-C025-4150-AB0A-3DA8F4CAB110}"/>
              </a:ext>
            </a:extLst>
          </p:cNvPr>
          <p:cNvSpPr>
            <a:spLocks noGrp="1"/>
          </p:cNvSpPr>
          <p:nvPr/>
        </p:nvSpPr>
        <p:spPr>
          <a:xfrm>
            <a:off x="11474439" y="4057030"/>
            <a:ext cx="5334" cy="99042"/>
          </a:xfrm>
          <a:prstGeom prst="rect">
            <a:avLst/>
          </a:prstGeom>
          <a:solidFill>
            <a:srgbClr val="202B36"/>
          </a:solidFill>
          <a:ln w="0">
            <a:noFill/>
          </a:ln>
        </p:spPr>
        <p:txBody>
          <a:bodyPr/>
          <a:lstStyle/>
          <a:p>
            <a:endParaRPr sz="1440"/>
          </a:p>
        </p:txBody>
      </p:sp>
      <p:sp>
        <p:nvSpPr>
          <p:cNvPr id="78" name="kg">
            <a:extLst>
              <a:ext uri="{FF2B5EF4-FFF2-40B4-BE49-F238E27FC236}">
                <a16:creationId xmlns:a16="http://schemas.microsoft.com/office/drawing/2014/main" id="{D7797F2B-6968-432D-B393-12956601E169}"/>
              </a:ext>
            </a:extLst>
          </p:cNvPr>
          <p:cNvSpPr>
            <a:spLocks noGrp="1"/>
          </p:cNvSpPr>
          <p:nvPr/>
        </p:nvSpPr>
        <p:spPr>
          <a:xfrm>
            <a:off x="11439006" y="4274288"/>
            <a:ext cx="419100" cy="289179"/>
          </a:xfrm>
          <a:prstGeom prst="rect">
            <a:avLst/>
          </a:prstGeom>
          <a:noFill/>
          <a:ln w="0">
            <a:noFill/>
          </a:ln>
        </p:spPr>
        <p:txBody>
          <a:bodyPr>
            <a:noAutofit/>
          </a:bodyPr>
          <a:lstStyle/>
          <a:p>
            <a:pPr algn="ctr">
              <a:buNone/>
              <a:defRPr sz="1725" b="0">
                <a:solidFill>
                  <a:srgbClr val="202B36"/>
                </a:solidFill>
                <a:latin typeface="DejaVu Sans"/>
                <a:ea typeface="DejaVu Sans"/>
                <a:cs typeface="DejaVu Sans"/>
              </a:defRPr>
            </a:pPr>
            <a:r>
              <a:rPr sz="1380">
                <a:solidFill>
                  <a:srgbClr val="202B36"/>
                </a:solidFill>
                <a:latin typeface="DejaVu Sans"/>
                <a:ea typeface="DejaVu Sans"/>
                <a:cs typeface="DejaVu Sans"/>
              </a:rPr>
              <a:t>kg</a:t>
            </a:r>
          </a:p>
        </p:txBody>
      </p:sp>
      <p:sp>
        <p:nvSpPr>
          <p:cNvPr id="79" name="ruler-line">
            <a:extLst>
              <a:ext uri="{FF2B5EF4-FFF2-40B4-BE49-F238E27FC236}">
                <a16:creationId xmlns:a16="http://schemas.microsoft.com/office/drawing/2014/main" id="{A27A4A92-5740-4957-921C-A793F19EC267}"/>
              </a:ext>
            </a:extLst>
          </p:cNvPr>
          <p:cNvSpPr>
            <a:spLocks noGrp="1"/>
          </p:cNvSpPr>
          <p:nvPr/>
        </p:nvSpPr>
        <p:spPr>
          <a:xfrm>
            <a:off x="992990" y="3638090"/>
            <a:ext cx="6858" cy="440188"/>
          </a:xfrm>
          <a:prstGeom prst="rect">
            <a:avLst/>
          </a:prstGeom>
          <a:solidFill>
            <a:srgbClr val="66717B"/>
          </a:solidFill>
          <a:ln w="0">
            <a:noFill/>
          </a:ln>
        </p:spPr>
        <p:txBody>
          <a:bodyPr/>
          <a:lstStyle/>
          <a:p>
            <a:endParaRPr sz="1440"/>
          </a:p>
        </p:txBody>
      </p:sp>
      <p:sp>
        <p:nvSpPr>
          <p:cNvPr id="80" name="Electron position">
            <a:extLst>
              <a:ext uri="{FF2B5EF4-FFF2-40B4-BE49-F238E27FC236}">
                <a16:creationId xmlns:a16="http://schemas.microsoft.com/office/drawing/2014/main" id="{C9E6EE13-1DD6-4D47-805D-72EAE92E0A6F}"/>
              </a:ext>
            </a:extLst>
          </p:cNvPr>
          <p:cNvSpPr>
            <a:spLocks noGrp="1"/>
          </p:cNvSpPr>
          <p:nvPr/>
        </p:nvSpPr>
        <p:spPr>
          <a:xfrm>
            <a:off x="965939" y="4078738"/>
            <a:ext cx="60960" cy="60960"/>
          </a:xfrm>
          <a:prstGeom prst="ellipse">
            <a:avLst/>
          </a:prstGeom>
          <a:solidFill>
            <a:srgbClr val="66717B"/>
          </a:solidFill>
          <a:ln w="0">
            <a:noFill/>
          </a:ln>
        </p:spPr>
        <p:txBody>
          <a:bodyPr/>
          <a:lstStyle/>
          <a:p>
            <a:endParaRPr sz="1440"/>
          </a:p>
        </p:txBody>
      </p:sp>
      <p:sp>
        <p:nvSpPr>
          <p:cNvPr id="81" name="Electron">
            <a:extLst>
              <a:ext uri="{FF2B5EF4-FFF2-40B4-BE49-F238E27FC236}">
                <a16:creationId xmlns:a16="http://schemas.microsoft.com/office/drawing/2014/main" id="{1D1EFFF4-1285-4EB9-9942-34F8A7D62B2C}"/>
              </a:ext>
            </a:extLst>
          </p:cNvPr>
          <p:cNvSpPr>
            <a:spLocks noGrp="1"/>
          </p:cNvSpPr>
          <p:nvPr/>
        </p:nvSpPr>
        <p:spPr>
          <a:xfrm>
            <a:off x="443969" y="3299903"/>
            <a:ext cx="1104900" cy="276606"/>
          </a:xfrm>
          <a:prstGeom prst="rect">
            <a:avLst/>
          </a:prstGeom>
          <a:noFill/>
          <a:ln w="0">
            <a:noFill/>
          </a:ln>
        </p:spPr>
        <p:txBody>
          <a:bodyPr>
            <a:noAutofit/>
          </a:bodyPr>
          <a:lstStyle/>
          <a:p>
            <a:pPr algn="ctr">
              <a:buNone/>
              <a:defRPr sz="1650" b="1">
                <a:solidFill>
                  <a:srgbClr val="66717B"/>
                </a:solidFill>
                <a:latin typeface="DejaVu Sans"/>
                <a:ea typeface="DejaVu Sans"/>
                <a:cs typeface="DejaVu Sans"/>
              </a:defRPr>
            </a:pPr>
            <a:r>
              <a:rPr sz="1320" b="1">
                <a:solidFill>
                  <a:srgbClr val="66717B"/>
                </a:solidFill>
                <a:latin typeface="DejaVu Sans"/>
                <a:ea typeface="DejaVu Sans"/>
                <a:cs typeface="DejaVu Sans"/>
              </a:rPr>
              <a:t>Electron</a:t>
            </a:r>
          </a:p>
        </p:txBody>
      </p:sp>
      <p:sp>
        <p:nvSpPr>
          <p:cNvPr id="82" name="≈ 10⁻³⁰ kg">
            <a:extLst>
              <a:ext uri="{FF2B5EF4-FFF2-40B4-BE49-F238E27FC236}">
                <a16:creationId xmlns:a16="http://schemas.microsoft.com/office/drawing/2014/main" id="{B472EEB5-D523-4D7B-98B1-FAC9E17D0790}"/>
              </a:ext>
            </a:extLst>
          </p:cNvPr>
          <p:cNvSpPr>
            <a:spLocks noGrp="1"/>
          </p:cNvSpPr>
          <p:nvPr/>
        </p:nvSpPr>
        <p:spPr>
          <a:xfrm>
            <a:off x="443969" y="3597084"/>
            <a:ext cx="1104900" cy="226314"/>
          </a:xfrm>
          <a:prstGeom prst="rect">
            <a:avLst/>
          </a:prstGeom>
          <a:noFill/>
          <a:ln w="0">
            <a:noFill/>
          </a:ln>
        </p:spPr>
        <p:txBody>
          <a:bodyPr>
            <a:noAutofit/>
          </a:bodyPr>
          <a:lstStyle/>
          <a:p>
            <a:pPr algn="ctr">
              <a:buNone/>
              <a:defRPr sz="1350" b="0">
                <a:solidFill>
                  <a:srgbClr val="66717B"/>
                </a:solidFill>
                <a:latin typeface="DejaVu Sans"/>
                <a:ea typeface="DejaVu Sans"/>
                <a:cs typeface="DejaVu Sans"/>
              </a:defRPr>
            </a:pPr>
            <a:r>
              <a:rPr sz="1080">
                <a:solidFill>
                  <a:srgbClr val="66717B"/>
                </a:solidFill>
                <a:latin typeface="DejaVu Sans"/>
                <a:ea typeface="DejaVu Sans"/>
                <a:cs typeface="DejaVu Sans"/>
              </a:rPr>
              <a:t>≈ 10⁻³⁰ kg</a:t>
            </a:r>
          </a:p>
        </p:txBody>
      </p:sp>
      <p:sp>
        <p:nvSpPr>
          <p:cNvPr id="83" name="ruler-line">
            <a:extLst>
              <a:ext uri="{FF2B5EF4-FFF2-40B4-BE49-F238E27FC236}">
                <a16:creationId xmlns:a16="http://schemas.microsoft.com/office/drawing/2014/main" id="{0BD0AA06-1DBF-4829-8E0F-242A0539CB66}"/>
              </a:ext>
            </a:extLst>
          </p:cNvPr>
          <p:cNvSpPr>
            <a:spLocks noGrp="1"/>
          </p:cNvSpPr>
          <p:nvPr/>
        </p:nvSpPr>
        <p:spPr>
          <a:xfrm>
            <a:off x="1714535" y="3060343"/>
            <a:ext cx="6858" cy="1017934"/>
          </a:xfrm>
          <a:prstGeom prst="rect">
            <a:avLst/>
          </a:prstGeom>
          <a:solidFill>
            <a:srgbClr val="66717B"/>
          </a:solidFill>
          <a:ln w="0">
            <a:noFill/>
          </a:ln>
        </p:spPr>
        <p:txBody>
          <a:bodyPr/>
          <a:lstStyle/>
          <a:p>
            <a:endParaRPr sz="1440"/>
          </a:p>
        </p:txBody>
      </p:sp>
      <p:sp>
        <p:nvSpPr>
          <p:cNvPr id="84" name="Carbon atom position">
            <a:extLst>
              <a:ext uri="{FF2B5EF4-FFF2-40B4-BE49-F238E27FC236}">
                <a16:creationId xmlns:a16="http://schemas.microsoft.com/office/drawing/2014/main" id="{09397C3F-7EEC-498B-9216-515149CCCB49}"/>
              </a:ext>
            </a:extLst>
          </p:cNvPr>
          <p:cNvSpPr>
            <a:spLocks noGrp="1"/>
          </p:cNvSpPr>
          <p:nvPr/>
        </p:nvSpPr>
        <p:spPr>
          <a:xfrm>
            <a:off x="1687484" y="4078738"/>
            <a:ext cx="60960" cy="60960"/>
          </a:xfrm>
          <a:prstGeom prst="ellipse">
            <a:avLst/>
          </a:prstGeom>
          <a:solidFill>
            <a:srgbClr val="66717B"/>
          </a:solidFill>
          <a:ln w="0">
            <a:noFill/>
          </a:ln>
        </p:spPr>
        <p:txBody>
          <a:bodyPr/>
          <a:lstStyle/>
          <a:p>
            <a:endParaRPr sz="1440"/>
          </a:p>
        </p:txBody>
      </p:sp>
      <p:sp>
        <p:nvSpPr>
          <p:cNvPr id="85" name="Carbon atom">
            <a:extLst>
              <a:ext uri="{FF2B5EF4-FFF2-40B4-BE49-F238E27FC236}">
                <a16:creationId xmlns:a16="http://schemas.microsoft.com/office/drawing/2014/main" id="{A626A23C-F23E-4AE3-BB7B-5DE682651E4A}"/>
              </a:ext>
            </a:extLst>
          </p:cNvPr>
          <p:cNvSpPr>
            <a:spLocks noGrp="1"/>
          </p:cNvSpPr>
          <p:nvPr/>
        </p:nvSpPr>
        <p:spPr>
          <a:xfrm>
            <a:off x="1009996" y="2633844"/>
            <a:ext cx="1371600" cy="276606"/>
          </a:xfrm>
          <a:prstGeom prst="rect">
            <a:avLst/>
          </a:prstGeom>
          <a:noFill/>
          <a:ln w="0">
            <a:noFill/>
          </a:ln>
        </p:spPr>
        <p:txBody>
          <a:bodyPr>
            <a:noAutofit/>
          </a:bodyPr>
          <a:lstStyle/>
          <a:p>
            <a:pPr algn="ctr">
              <a:buNone/>
              <a:defRPr sz="1650" b="1">
                <a:solidFill>
                  <a:srgbClr val="66717B"/>
                </a:solidFill>
                <a:latin typeface="DejaVu Sans"/>
                <a:ea typeface="DejaVu Sans"/>
                <a:cs typeface="DejaVu Sans"/>
              </a:defRPr>
            </a:pPr>
            <a:r>
              <a:rPr sz="1320" b="1">
                <a:solidFill>
                  <a:srgbClr val="66717B"/>
                </a:solidFill>
                <a:latin typeface="DejaVu Sans"/>
                <a:ea typeface="DejaVu Sans"/>
                <a:cs typeface="DejaVu Sans"/>
              </a:rPr>
              <a:t>Carbon atom</a:t>
            </a:r>
          </a:p>
        </p:txBody>
      </p:sp>
      <p:sp>
        <p:nvSpPr>
          <p:cNvPr id="86" name="≈ 2 × 10⁻²⁶ kg">
            <a:extLst>
              <a:ext uri="{FF2B5EF4-FFF2-40B4-BE49-F238E27FC236}">
                <a16:creationId xmlns:a16="http://schemas.microsoft.com/office/drawing/2014/main" id="{902DC887-4F25-41FA-8F12-D15F2F3F7637}"/>
              </a:ext>
            </a:extLst>
          </p:cNvPr>
          <p:cNvSpPr>
            <a:spLocks noGrp="1"/>
          </p:cNvSpPr>
          <p:nvPr/>
        </p:nvSpPr>
        <p:spPr>
          <a:xfrm>
            <a:off x="1032164" y="3019337"/>
            <a:ext cx="1371600" cy="226314"/>
          </a:xfrm>
          <a:prstGeom prst="rect">
            <a:avLst/>
          </a:prstGeom>
          <a:noFill/>
          <a:ln w="0">
            <a:noFill/>
          </a:ln>
        </p:spPr>
        <p:txBody>
          <a:bodyPr>
            <a:noAutofit/>
          </a:bodyPr>
          <a:lstStyle/>
          <a:p>
            <a:pPr algn="ctr">
              <a:buNone/>
              <a:defRPr sz="1350" b="0">
                <a:solidFill>
                  <a:srgbClr val="66717B"/>
                </a:solidFill>
                <a:latin typeface="DejaVu Sans"/>
                <a:ea typeface="DejaVu Sans"/>
                <a:cs typeface="DejaVu Sans"/>
              </a:defRPr>
            </a:pPr>
            <a:r>
              <a:rPr sz="1080">
                <a:solidFill>
                  <a:srgbClr val="66717B"/>
                </a:solidFill>
                <a:latin typeface="DejaVu Sans"/>
                <a:ea typeface="DejaVu Sans"/>
                <a:cs typeface="DejaVu Sans"/>
              </a:rPr>
              <a:t>≈ 2 × 10⁻²⁶ kg</a:t>
            </a:r>
          </a:p>
        </p:txBody>
      </p:sp>
      <p:sp>
        <p:nvSpPr>
          <p:cNvPr id="87" name="ruler-line">
            <a:extLst>
              <a:ext uri="{FF2B5EF4-FFF2-40B4-BE49-F238E27FC236}">
                <a16:creationId xmlns:a16="http://schemas.microsoft.com/office/drawing/2014/main" id="{21AA5C16-AD5E-49CE-BE64-D425F45131B9}"/>
              </a:ext>
            </a:extLst>
          </p:cNvPr>
          <p:cNvSpPr>
            <a:spLocks noGrp="1"/>
          </p:cNvSpPr>
          <p:nvPr/>
        </p:nvSpPr>
        <p:spPr>
          <a:xfrm>
            <a:off x="2316377" y="3638090"/>
            <a:ext cx="6858" cy="440188"/>
          </a:xfrm>
          <a:prstGeom prst="rect">
            <a:avLst/>
          </a:prstGeom>
          <a:solidFill>
            <a:srgbClr val="66717B"/>
          </a:solidFill>
          <a:ln w="0">
            <a:noFill/>
          </a:ln>
        </p:spPr>
        <p:txBody>
          <a:bodyPr/>
          <a:lstStyle/>
          <a:p>
            <a:endParaRPr sz="1440"/>
          </a:p>
        </p:txBody>
      </p:sp>
      <p:sp>
        <p:nvSpPr>
          <p:cNvPr id="88" name="Protein position">
            <a:extLst>
              <a:ext uri="{FF2B5EF4-FFF2-40B4-BE49-F238E27FC236}">
                <a16:creationId xmlns:a16="http://schemas.microsoft.com/office/drawing/2014/main" id="{7435E280-5269-44AC-94D9-03A00DCD8A30}"/>
              </a:ext>
            </a:extLst>
          </p:cNvPr>
          <p:cNvSpPr>
            <a:spLocks noGrp="1"/>
          </p:cNvSpPr>
          <p:nvPr/>
        </p:nvSpPr>
        <p:spPr>
          <a:xfrm>
            <a:off x="2289325" y="4078738"/>
            <a:ext cx="60960" cy="60960"/>
          </a:xfrm>
          <a:prstGeom prst="ellipse">
            <a:avLst/>
          </a:prstGeom>
          <a:solidFill>
            <a:srgbClr val="66717B"/>
          </a:solidFill>
          <a:ln w="0">
            <a:noFill/>
          </a:ln>
        </p:spPr>
        <p:txBody>
          <a:bodyPr/>
          <a:lstStyle/>
          <a:p>
            <a:endParaRPr sz="1440"/>
          </a:p>
        </p:txBody>
      </p:sp>
      <p:sp>
        <p:nvSpPr>
          <p:cNvPr id="89" name="Protein">
            <a:extLst>
              <a:ext uri="{FF2B5EF4-FFF2-40B4-BE49-F238E27FC236}">
                <a16:creationId xmlns:a16="http://schemas.microsoft.com/office/drawing/2014/main" id="{DF504968-59EE-4117-AD84-3269264ABAEA}"/>
              </a:ext>
            </a:extLst>
          </p:cNvPr>
          <p:cNvSpPr>
            <a:spLocks noGrp="1"/>
          </p:cNvSpPr>
          <p:nvPr/>
        </p:nvSpPr>
        <p:spPr>
          <a:xfrm>
            <a:off x="1538756" y="3299903"/>
            <a:ext cx="1562100" cy="276606"/>
          </a:xfrm>
          <a:prstGeom prst="rect">
            <a:avLst/>
          </a:prstGeom>
          <a:noFill/>
          <a:ln w="0">
            <a:noFill/>
          </a:ln>
        </p:spPr>
        <p:txBody>
          <a:bodyPr>
            <a:noAutofit/>
          </a:bodyPr>
          <a:lstStyle/>
          <a:p>
            <a:pPr algn="ctr">
              <a:buNone/>
              <a:defRPr sz="1650" b="1">
                <a:solidFill>
                  <a:srgbClr val="66717B"/>
                </a:solidFill>
                <a:latin typeface="DejaVu Sans"/>
                <a:ea typeface="DejaVu Sans"/>
                <a:cs typeface="DejaVu Sans"/>
              </a:defRPr>
            </a:pPr>
            <a:r>
              <a:rPr sz="1320" b="1">
                <a:solidFill>
                  <a:srgbClr val="66717B"/>
                </a:solidFill>
                <a:latin typeface="DejaVu Sans"/>
                <a:ea typeface="DejaVu Sans"/>
                <a:cs typeface="DejaVu Sans"/>
              </a:rPr>
              <a:t>Protein</a:t>
            </a:r>
          </a:p>
        </p:txBody>
      </p:sp>
      <p:sp>
        <p:nvSpPr>
          <p:cNvPr id="90" name="50 kDa ≈ 10⁻²² kg">
            <a:extLst>
              <a:ext uri="{FF2B5EF4-FFF2-40B4-BE49-F238E27FC236}">
                <a16:creationId xmlns:a16="http://schemas.microsoft.com/office/drawing/2014/main" id="{FA4A548F-2C41-4CE0-9C31-058AB16D399F}"/>
              </a:ext>
            </a:extLst>
          </p:cNvPr>
          <p:cNvSpPr>
            <a:spLocks noGrp="1"/>
          </p:cNvSpPr>
          <p:nvPr/>
        </p:nvSpPr>
        <p:spPr>
          <a:xfrm>
            <a:off x="1538756" y="3597084"/>
            <a:ext cx="1562100" cy="226314"/>
          </a:xfrm>
          <a:prstGeom prst="rect">
            <a:avLst/>
          </a:prstGeom>
          <a:noFill/>
          <a:ln w="0">
            <a:noFill/>
          </a:ln>
        </p:spPr>
        <p:txBody>
          <a:bodyPr>
            <a:noAutofit/>
          </a:bodyPr>
          <a:lstStyle/>
          <a:p>
            <a:pPr algn="ctr">
              <a:buNone/>
              <a:defRPr sz="1350" b="0">
                <a:solidFill>
                  <a:srgbClr val="66717B"/>
                </a:solidFill>
                <a:latin typeface="DejaVu Sans"/>
                <a:ea typeface="DejaVu Sans"/>
                <a:cs typeface="DejaVu Sans"/>
              </a:defRPr>
            </a:pPr>
            <a:r>
              <a:rPr sz="1080">
                <a:solidFill>
                  <a:srgbClr val="66717B"/>
                </a:solidFill>
                <a:latin typeface="DejaVu Sans"/>
                <a:ea typeface="DejaVu Sans"/>
                <a:cs typeface="DejaVu Sans"/>
              </a:rPr>
              <a:t>50 kDa ≈ 10⁻²² kg</a:t>
            </a:r>
          </a:p>
        </p:txBody>
      </p:sp>
      <p:sp>
        <p:nvSpPr>
          <p:cNvPr id="91" name="ruler-line">
            <a:extLst>
              <a:ext uri="{FF2B5EF4-FFF2-40B4-BE49-F238E27FC236}">
                <a16:creationId xmlns:a16="http://schemas.microsoft.com/office/drawing/2014/main" id="{1F1FFB18-8987-4404-9F00-79C138513DA3}"/>
              </a:ext>
            </a:extLst>
          </p:cNvPr>
          <p:cNvSpPr>
            <a:spLocks noGrp="1"/>
          </p:cNvSpPr>
          <p:nvPr/>
        </p:nvSpPr>
        <p:spPr>
          <a:xfrm>
            <a:off x="3493459" y="3060343"/>
            <a:ext cx="6858" cy="1017934"/>
          </a:xfrm>
          <a:prstGeom prst="rect">
            <a:avLst/>
          </a:prstGeom>
          <a:solidFill>
            <a:srgbClr val="BC5D24"/>
          </a:solidFill>
          <a:ln w="0">
            <a:noFill/>
          </a:ln>
        </p:spPr>
        <p:txBody>
          <a:bodyPr/>
          <a:lstStyle/>
          <a:p>
            <a:endParaRPr sz="1440"/>
          </a:p>
        </p:txBody>
      </p:sp>
      <p:sp>
        <p:nvSpPr>
          <p:cNvPr id="92" name="Bacterium position">
            <a:extLst>
              <a:ext uri="{FF2B5EF4-FFF2-40B4-BE49-F238E27FC236}">
                <a16:creationId xmlns:a16="http://schemas.microsoft.com/office/drawing/2014/main" id="{1547E9B9-50E9-4AD4-8297-E036EF329A53}"/>
              </a:ext>
            </a:extLst>
          </p:cNvPr>
          <p:cNvSpPr>
            <a:spLocks noGrp="1"/>
          </p:cNvSpPr>
          <p:nvPr/>
        </p:nvSpPr>
        <p:spPr>
          <a:xfrm>
            <a:off x="3466407" y="4078738"/>
            <a:ext cx="60960" cy="60960"/>
          </a:xfrm>
          <a:prstGeom prst="ellipse">
            <a:avLst/>
          </a:prstGeom>
          <a:solidFill>
            <a:srgbClr val="BC5D24"/>
          </a:solidFill>
          <a:ln w="0">
            <a:noFill/>
          </a:ln>
        </p:spPr>
        <p:txBody>
          <a:bodyPr/>
          <a:lstStyle/>
          <a:p>
            <a:endParaRPr sz="1440"/>
          </a:p>
        </p:txBody>
      </p:sp>
      <p:sp>
        <p:nvSpPr>
          <p:cNvPr id="93" name="Bacterium">
            <a:extLst>
              <a:ext uri="{FF2B5EF4-FFF2-40B4-BE49-F238E27FC236}">
                <a16:creationId xmlns:a16="http://schemas.microsoft.com/office/drawing/2014/main" id="{CA37DBFD-E64A-4FBD-8901-B5D40FC1F1A9}"/>
              </a:ext>
            </a:extLst>
          </p:cNvPr>
          <p:cNvSpPr>
            <a:spLocks noGrp="1"/>
          </p:cNvSpPr>
          <p:nvPr/>
        </p:nvSpPr>
        <p:spPr>
          <a:xfrm>
            <a:off x="2849187" y="2722156"/>
            <a:ext cx="1295400" cy="276606"/>
          </a:xfrm>
          <a:prstGeom prst="rect">
            <a:avLst/>
          </a:prstGeom>
          <a:noFill/>
          <a:ln w="0">
            <a:noFill/>
          </a:ln>
        </p:spPr>
        <p:txBody>
          <a:bodyPr>
            <a:noAutofit/>
          </a:bodyPr>
          <a:lstStyle/>
          <a:p>
            <a:pPr algn="ctr">
              <a:buNone/>
              <a:defRPr sz="1650" b="1">
                <a:solidFill>
                  <a:srgbClr val="BC5D24"/>
                </a:solidFill>
                <a:latin typeface="DejaVu Sans"/>
                <a:ea typeface="DejaVu Sans"/>
                <a:cs typeface="DejaVu Sans"/>
              </a:defRPr>
            </a:pPr>
            <a:r>
              <a:rPr sz="1320" b="1">
                <a:solidFill>
                  <a:srgbClr val="BC5D24"/>
                </a:solidFill>
                <a:latin typeface="DejaVu Sans"/>
                <a:ea typeface="DejaVu Sans"/>
                <a:cs typeface="DejaVu Sans"/>
              </a:rPr>
              <a:t>Bacterium</a:t>
            </a:r>
          </a:p>
        </p:txBody>
      </p:sp>
      <p:sp>
        <p:nvSpPr>
          <p:cNvPr id="94" name="≈ 10⁻¹⁵ kg">
            <a:extLst>
              <a:ext uri="{FF2B5EF4-FFF2-40B4-BE49-F238E27FC236}">
                <a16:creationId xmlns:a16="http://schemas.microsoft.com/office/drawing/2014/main" id="{79EB437D-70D6-44D5-8A99-3809BA540807}"/>
              </a:ext>
            </a:extLst>
          </p:cNvPr>
          <p:cNvSpPr>
            <a:spLocks noGrp="1"/>
          </p:cNvSpPr>
          <p:nvPr/>
        </p:nvSpPr>
        <p:spPr>
          <a:xfrm>
            <a:off x="2849187" y="3019337"/>
            <a:ext cx="1295400" cy="226314"/>
          </a:xfrm>
          <a:prstGeom prst="rect">
            <a:avLst/>
          </a:prstGeom>
          <a:noFill/>
          <a:ln w="0">
            <a:noFill/>
          </a:ln>
        </p:spPr>
        <p:txBody>
          <a:bodyPr>
            <a:noAutofit/>
          </a:bodyPr>
          <a:lstStyle/>
          <a:p>
            <a:pPr algn="ctr">
              <a:buNone/>
              <a:defRPr sz="1350" b="0">
                <a:solidFill>
                  <a:srgbClr val="BC5D24"/>
                </a:solidFill>
                <a:latin typeface="DejaVu Sans"/>
                <a:ea typeface="DejaVu Sans"/>
                <a:cs typeface="DejaVu Sans"/>
              </a:defRPr>
            </a:pPr>
            <a:r>
              <a:rPr sz="1080">
                <a:solidFill>
                  <a:srgbClr val="BC5D24"/>
                </a:solidFill>
                <a:latin typeface="DejaVu Sans"/>
                <a:ea typeface="DejaVu Sans"/>
                <a:cs typeface="DejaVu Sans"/>
              </a:rPr>
              <a:t>≈ 10⁻¹⁵ kg</a:t>
            </a:r>
          </a:p>
        </p:txBody>
      </p:sp>
      <p:sp>
        <p:nvSpPr>
          <p:cNvPr id="95" name="ruler-line">
            <a:extLst>
              <a:ext uri="{FF2B5EF4-FFF2-40B4-BE49-F238E27FC236}">
                <a16:creationId xmlns:a16="http://schemas.microsoft.com/office/drawing/2014/main" id="{F27DB972-69A1-4294-B78A-3DFA183833D1}"/>
              </a:ext>
            </a:extLst>
          </p:cNvPr>
          <p:cNvSpPr>
            <a:spLocks noGrp="1"/>
          </p:cNvSpPr>
          <p:nvPr/>
        </p:nvSpPr>
        <p:spPr>
          <a:xfrm>
            <a:off x="3992222" y="3638090"/>
            <a:ext cx="6858" cy="440188"/>
          </a:xfrm>
          <a:prstGeom prst="rect">
            <a:avLst/>
          </a:prstGeom>
          <a:solidFill>
            <a:srgbClr val="BC5D24"/>
          </a:solidFill>
          <a:ln w="0">
            <a:noFill/>
          </a:ln>
        </p:spPr>
        <p:txBody>
          <a:bodyPr/>
          <a:lstStyle/>
          <a:p>
            <a:endParaRPr sz="1440"/>
          </a:p>
        </p:txBody>
      </p:sp>
      <p:sp>
        <p:nvSpPr>
          <p:cNvPr id="96" name="Mammalian cell position">
            <a:extLst>
              <a:ext uri="{FF2B5EF4-FFF2-40B4-BE49-F238E27FC236}">
                <a16:creationId xmlns:a16="http://schemas.microsoft.com/office/drawing/2014/main" id="{81001470-37A4-4B2F-9EF6-3DD3D7E3BD72}"/>
              </a:ext>
            </a:extLst>
          </p:cNvPr>
          <p:cNvSpPr>
            <a:spLocks noGrp="1"/>
          </p:cNvSpPr>
          <p:nvPr/>
        </p:nvSpPr>
        <p:spPr>
          <a:xfrm>
            <a:off x="3965171" y="4078738"/>
            <a:ext cx="60960" cy="60960"/>
          </a:xfrm>
          <a:prstGeom prst="ellipse">
            <a:avLst/>
          </a:prstGeom>
          <a:solidFill>
            <a:srgbClr val="BC5D24"/>
          </a:solidFill>
          <a:ln w="0">
            <a:noFill/>
          </a:ln>
        </p:spPr>
        <p:txBody>
          <a:bodyPr/>
          <a:lstStyle/>
          <a:p>
            <a:endParaRPr sz="1440"/>
          </a:p>
        </p:txBody>
      </p:sp>
      <p:sp>
        <p:nvSpPr>
          <p:cNvPr id="97" name="Mammalian cell">
            <a:extLst>
              <a:ext uri="{FF2B5EF4-FFF2-40B4-BE49-F238E27FC236}">
                <a16:creationId xmlns:a16="http://schemas.microsoft.com/office/drawing/2014/main" id="{8C3300B8-65ED-442E-818A-4937234A9061}"/>
              </a:ext>
            </a:extLst>
          </p:cNvPr>
          <p:cNvSpPr>
            <a:spLocks noGrp="1"/>
          </p:cNvSpPr>
          <p:nvPr/>
        </p:nvSpPr>
        <p:spPr>
          <a:xfrm>
            <a:off x="3185957" y="3212438"/>
            <a:ext cx="1638300" cy="276606"/>
          </a:xfrm>
          <a:prstGeom prst="rect">
            <a:avLst/>
          </a:prstGeom>
          <a:noFill/>
          <a:ln w="0">
            <a:noFill/>
          </a:ln>
        </p:spPr>
        <p:txBody>
          <a:bodyPr>
            <a:noAutofit/>
          </a:bodyPr>
          <a:lstStyle/>
          <a:p>
            <a:pPr algn="ctr">
              <a:buNone/>
              <a:defRPr sz="1650" b="1">
                <a:solidFill>
                  <a:srgbClr val="BC5D24"/>
                </a:solidFill>
                <a:latin typeface="DejaVu Sans"/>
                <a:ea typeface="DejaVu Sans"/>
                <a:cs typeface="DejaVu Sans"/>
              </a:defRPr>
            </a:pPr>
            <a:r>
              <a:rPr sz="1320" b="1">
                <a:solidFill>
                  <a:srgbClr val="BC5D24"/>
                </a:solidFill>
                <a:latin typeface="DejaVu Sans"/>
                <a:ea typeface="DejaVu Sans"/>
                <a:cs typeface="DejaVu Sans"/>
              </a:rPr>
              <a:t>Mammalian cell</a:t>
            </a:r>
          </a:p>
        </p:txBody>
      </p:sp>
      <p:sp>
        <p:nvSpPr>
          <p:cNvPr id="98" name="≈ 10⁻¹² kg">
            <a:extLst>
              <a:ext uri="{FF2B5EF4-FFF2-40B4-BE49-F238E27FC236}">
                <a16:creationId xmlns:a16="http://schemas.microsoft.com/office/drawing/2014/main" id="{60EA06EA-1C6C-4AC5-A468-DE2FC2CA3563}"/>
              </a:ext>
            </a:extLst>
          </p:cNvPr>
          <p:cNvSpPr>
            <a:spLocks noGrp="1"/>
          </p:cNvSpPr>
          <p:nvPr/>
        </p:nvSpPr>
        <p:spPr>
          <a:xfrm>
            <a:off x="3176501" y="3597084"/>
            <a:ext cx="1638300" cy="226314"/>
          </a:xfrm>
          <a:prstGeom prst="rect">
            <a:avLst/>
          </a:prstGeom>
          <a:noFill/>
          <a:ln w="0">
            <a:noFill/>
          </a:ln>
        </p:spPr>
        <p:txBody>
          <a:bodyPr>
            <a:noAutofit/>
          </a:bodyPr>
          <a:lstStyle/>
          <a:p>
            <a:pPr algn="ctr">
              <a:buNone/>
              <a:defRPr sz="1350" b="0">
                <a:solidFill>
                  <a:srgbClr val="BC5D24"/>
                </a:solidFill>
                <a:latin typeface="DejaVu Sans"/>
                <a:ea typeface="DejaVu Sans"/>
                <a:cs typeface="DejaVu Sans"/>
              </a:defRPr>
            </a:pPr>
            <a:r>
              <a:rPr sz="1080">
                <a:solidFill>
                  <a:srgbClr val="BC5D24"/>
                </a:solidFill>
                <a:latin typeface="DejaVu Sans"/>
                <a:ea typeface="DejaVu Sans"/>
                <a:cs typeface="DejaVu Sans"/>
              </a:rPr>
              <a:t>≈ 10⁻¹² kg</a:t>
            </a:r>
          </a:p>
        </p:txBody>
      </p:sp>
      <p:sp>
        <p:nvSpPr>
          <p:cNvPr id="99" name="ruler-line">
            <a:extLst>
              <a:ext uri="{FF2B5EF4-FFF2-40B4-BE49-F238E27FC236}">
                <a16:creationId xmlns:a16="http://schemas.microsoft.com/office/drawing/2014/main" id="{E0EF0DA6-289C-4DA6-9F39-81B57625D6BD}"/>
              </a:ext>
            </a:extLst>
          </p:cNvPr>
          <p:cNvSpPr>
            <a:spLocks noGrp="1"/>
          </p:cNvSpPr>
          <p:nvPr/>
        </p:nvSpPr>
        <p:spPr>
          <a:xfrm>
            <a:off x="6012215" y="3060343"/>
            <a:ext cx="6858" cy="1017934"/>
          </a:xfrm>
          <a:prstGeom prst="rect">
            <a:avLst/>
          </a:prstGeom>
          <a:solidFill>
            <a:srgbClr val="BC5D24"/>
          </a:solidFill>
          <a:ln w="0">
            <a:noFill/>
          </a:ln>
        </p:spPr>
        <p:txBody>
          <a:bodyPr/>
          <a:lstStyle/>
          <a:p>
            <a:endParaRPr sz="1440"/>
          </a:p>
        </p:txBody>
      </p:sp>
      <p:sp>
        <p:nvSpPr>
          <p:cNvPr id="100" name="Human brain position">
            <a:extLst>
              <a:ext uri="{FF2B5EF4-FFF2-40B4-BE49-F238E27FC236}">
                <a16:creationId xmlns:a16="http://schemas.microsoft.com/office/drawing/2014/main" id="{A9FD93EE-C150-4D1C-B394-5D82C82F2BAC}"/>
              </a:ext>
            </a:extLst>
          </p:cNvPr>
          <p:cNvSpPr>
            <a:spLocks noGrp="1"/>
          </p:cNvSpPr>
          <p:nvPr/>
        </p:nvSpPr>
        <p:spPr>
          <a:xfrm>
            <a:off x="5985164" y="4078738"/>
            <a:ext cx="60960" cy="60960"/>
          </a:xfrm>
          <a:prstGeom prst="ellipse">
            <a:avLst/>
          </a:prstGeom>
          <a:solidFill>
            <a:srgbClr val="BC5D24"/>
          </a:solidFill>
          <a:ln w="0">
            <a:noFill/>
          </a:ln>
        </p:spPr>
        <p:txBody>
          <a:bodyPr/>
          <a:lstStyle/>
          <a:p>
            <a:endParaRPr sz="1440"/>
          </a:p>
        </p:txBody>
      </p:sp>
      <p:sp>
        <p:nvSpPr>
          <p:cNvPr id="101" name="Human brain">
            <a:extLst>
              <a:ext uri="{FF2B5EF4-FFF2-40B4-BE49-F238E27FC236}">
                <a16:creationId xmlns:a16="http://schemas.microsoft.com/office/drawing/2014/main" id="{EFE877E8-805E-42AF-A295-6E11D503DB71}"/>
              </a:ext>
            </a:extLst>
          </p:cNvPr>
          <p:cNvSpPr>
            <a:spLocks noGrp="1"/>
          </p:cNvSpPr>
          <p:nvPr/>
        </p:nvSpPr>
        <p:spPr>
          <a:xfrm>
            <a:off x="5310794" y="2722156"/>
            <a:ext cx="1409700" cy="276606"/>
          </a:xfrm>
          <a:prstGeom prst="rect">
            <a:avLst/>
          </a:prstGeom>
          <a:noFill/>
          <a:ln w="0">
            <a:noFill/>
          </a:ln>
        </p:spPr>
        <p:txBody>
          <a:bodyPr>
            <a:noAutofit/>
          </a:bodyPr>
          <a:lstStyle/>
          <a:p>
            <a:pPr algn="ctr">
              <a:buNone/>
              <a:defRPr sz="1650" b="1">
                <a:solidFill>
                  <a:srgbClr val="BC5D24"/>
                </a:solidFill>
                <a:latin typeface="DejaVu Sans"/>
                <a:ea typeface="DejaVu Sans"/>
                <a:cs typeface="DejaVu Sans"/>
              </a:defRPr>
            </a:pPr>
            <a:r>
              <a:rPr sz="1320" b="1">
                <a:solidFill>
                  <a:srgbClr val="BC5D24"/>
                </a:solidFill>
                <a:latin typeface="DejaVu Sans"/>
                <a:ea typeface="DejaVu Sans"/>
                <a:cs typeface="DejaVu Sans"/>
              </a:rPr>
              <a:t>Human brain</a:t>
            </a:r>
          </a:p>
        </p:txBody>
      </p:sp>
      <p:sp>
        <p:nvSpPr>
          <p:cNvPr id="102" name="≈ 1 kg">
            <a:extLst>
              <a:ext uri="{FF2B5EF4-FFF2-40B4-BE49-F238E27FC236}">
                <a16:creationId xmlns:a16="http://schemas.microsoft.com/office/drawing/2014/main" id="{A8E4D131-B6CE-435F-B353-EB28F9B60CF9}"/>
              </a:ext>
            </a:extLst>
          </p:cNvPr>
          <p:cNvSpPr>
            <a:spLocks noGrp="1"/>
          </p:cNvSpPr>
          <p:nvPr/>
        </p:nvSpPr>
        <p:spPr>
          <a:xfrm>
            <a:off x="5310794" y="3019337"/>
            <a:ext cx="1409700" cy="226314"/>
          </a:xfrm>
          <a:prstGeom prst="rect">
            <a:avLst/>
          </a:prstGeom>
          <a:noFill/>
          <a:ln w="0">
            <a:noFill/>
          </a:ln>
        </p:spPr>
        <p:txBody>
          <a:bodyPr>
            <a:noAutofit/>
          </a:bodyPr>
          <a:lstStyle/>
          <a:p>
            <a:pPr algn="ctr">
              <a:buNone/>
              <a:defRPr sz="1350" b="0">
                <a:solidFill>
                  <a:srgbClr val="BC5D24"/>
                </a:solidFill>
                <a:latin typeface="DejaVu Sans"/>
                <a:ea typeface="DejaVu Sans"/>
                <a:cs typeface="DejaVu Sans"/>
              </a:defRPr>
            </a:pPr>
            <a:r>
              <a:rPr sz="1080">
                <a:solidFill>
                  <a:srgbClr val="BC5D24"/>
                </a:solidFill>
                <a:latin typeface="DejaVu Sans"/>
                <a:ea typeface="DejaVu Sans"/>
                <a:cs typeface="DejaVu Sans"/>
              </a:rPr>
              <a:t>≈ 1 kg</a:t>
            </a:r>
          </a:p>
        </p:txBody>
      </p:sp>
      <p:sp>
        <p:nvSpPr>
          <p:cNvPr id="103" name="ruler-line">
            <a:extLst>
              <a:ext uri="{FF2B5EF4-FFF2-40B4-BE49-F238E27FC236}">
                <a16:creationId xmlns:a16="http://schemas.microsoft.com/office/drawing/2014/main" id="{A2820467-A61A-418A-B789-B86D18AF92C2}"/>
              </a:ext>
            </a:extLst>
          </p:cNvPr>
          <p:cNvSpPr>
            <a:spLocks noGrp="1"/>
          </p:cNvSpPr>
          <p:nvPr/>
        </p:nvSpPr>
        <p:spPr>
          <a:xfrm>
            <a:off x="6294848" y="3638090"/>
            <a:ext cx="6858" cy="440188"/>
          </a:xfrm>
          <a:prstGeom prst="rect">
            <a:avLst/>
          </a:prstGeom>
          <a:solidFill>
            <a:srgbClr val="BC5D24"/>
          </a:solidFill>
          <a:ln w="0">
            <a:noFill/>
          </a:ln>
        </p:spPr>
        <p:txBody>
          <a:bodyPr/>
          <a:lstStyle/>
          <a:p>
            <a:endParaRPr sz="1440"/>
          </a:p>
        </p:txBody>
      </p:sp>
      <p:sp>
        <p:nvSpPr>
          <p:cNvPr id="104" name="Human position">
            <a:extLst>
              <a:ext uri="{FF2B5EF4-FFF2-40B4-BE49-F238E27FC236}">
                <a16:creationId xmlns:a16="http://schemas.microsoft.com/office/drawing/2014/main" id="{850A2AC1-F841-46D7-B532-94F6CD46E18A}"/>
              </a:ext>
            </a:extLst>
          </p:cNvPr>
          <p:cNvSpPr>
            <a:spLocks noGrp="1"/>
          </p:cNvSpPr>
          <p:nvPr/>
        </p:nvSpPr>
        <p:spPr>
          <a:xfrm>
            <a:off x="6267796" y="4078738"/>
            <a:ext cx="60960" cy="60960"/>
          </a:xfrm>
          <a:prstGeom prst="ellipse">
            <a:avLst/>
          </a:prstGeom>
          <a:solidFill>
            <a:srgbClr val="BC5D24"/>
          </a:solidFill>
          <a:ln w="0">
            <a:noFill/>
          </a:ln>
        </p:spPr>
        <p:txBody>
          <a:bodyPr/>
          <a:lstStyle/>
          <a:p>
            <a:endParaRPr sz="1440"/>
          </a:p>
        </p:txBody>
      </p:sp>
      <p:sp>
        <p:nvSpPr>
          <p:cNvPr id="105" name="Human">
            <a:extLst>
              <a:ext uri="{FF2B5EF4-FFF2-40B4-BE49-F238E27FC236}">
                <a16:creationId xmlns:a16="http://schemas.microsoft.com/office/drawing/2014/main" id="{6EDE32DD-2F07-407B-9319-7E17B3179AE2}"/>
              </a:ext>
            </a:extLst>
          </p:cNvPr>
          <p:cNvSpPr>
            <a:spLocks noGrp="1"/>
          </p:cNvSpPr>
          <p:nvPr/>
        </p:nvSpPr>
        <p:spPr>
          <a:xfrm>
            <a:off x="5726776" y="3299903"/>
            <a:ext cx="1143000" cy="276606"/>
          </a:xfrm>
          <a:prstGeom prst="rect">
            <a:avLst/>
          </a:prstGeom>
          <a:noFill/>
          <a:ln w="0">
            <a:noFill/>
          </a:ln>
        </p:spPr>
        <p:txBody>
          <a:bodyPr>
            <a:noAutofit/>
          </a:bodyPr>
          <a:lstStyle/>
          <a:p>
            <a:pPr algn="ctr">
              <a:buNone/>
              <a:defRPr sz="1650" b="1">
                <a:solidFill>
                  <a:srgbClr val="BC5D24"/>
                </a:solidFill>
                <a:latin typeface="DejaVu Sans"/>
                <a:ea typeface="DejaVu Sans"/>
                <a:cs typeface="DejaVu Sans"/>
              </a:defRPr>
            </a:pPr>
            <a:r>
              <a:rPr sz="1320" b="1">
                <a:solidFill>
                  <a:srgbClr val="BC5D24"/>
                </a:solidFill>
                <a:latin typeface="DejaVu Sans"/>
                <a:ea typeface="DejaVu Sans"/>
                <a:cs typeface="DejaVu Sans"/>
              </a:rPr>
              <a:t>Human</a:t>
            </a:r>
          </a:p>
        </p:txBody>
      </p:sp>
      <p:sp>
        <p:nvSpPr>
          <p:cNvPr id="106" name="≈ 70 kg">
            <a:extLst>
              <a:ext uri="{FF2B5EF4-FFF2-40B4-BE49-F238E27FC236}">
                <a16:creationId xmlns:a16="http://schemas.microsoft.com/office/drawing/2014/main" id="{ECC0426A-6AAF-4B7C-92FD-A8301641B3E9}"/>
              </a:ext>
            </a:extLst>
          </p:cNvPr>
          <p:cNvSpPr>
            <a:spLocks noGrp="1"/>
          </p:cNvSpPr>
          <p:nvPr/>
        </p:nvSpPr>
        <p:spPr>
          <a:xfrm>
            <a:off x="5726776" y="3597084"/>
            <a:ext cx="1143000" cy="226314"/>
          </a:xfrm>
          <a:prstGeom prst="rect">
            <a:avLst/>
          </a:prstGeom>
          <a:noFill/>
          <a:ln w="0">
            <a:noFill/>
          </a:ln>
        </p:spPr>
        <p:txBody>
          <a:bodyPr>
            <a:noAutofit/>
          </a:bodyPr>
          <a:lstStyle/>
          <a:p>
            <a:pPr algn="ctr">
              <a:buNone/>
              <a:defRPr sz="1350" b="0">
                <a:solidFill>
                  <a:srgbClr val="BC5D24"/>
                </a:solidFill>
                <a:latin typeface="DejaVu Sans"/>
                <a:ea typeface="DejaVu Sans"/>
                <a:cs typeface="DejaVu Sans"/>
              </a:defRPr>
            </a:pPr>
            <a:r>
              <a:rPr sz="1080">
                <a:solidFill>
                  <a:srgbClr val="BC5D24"/>
                </a:solidFill>
                <a:latin typeface="DejaVu Sans"/>
                <a:ea typeface="DejaVu Sans"/>
                <a:cs typeface="DejaVu Sans"/>
              </a:rPr>
              <a:t>≈ 70 kg</a:t>
            </a:r>
          </a:p>
        </p:txBody>
      </p:sp>
      <p:sp>
        <p:nvSpPr>
          <p:cNvPr id="107" name="ruler-line">
            <a:extLst>
              <a:ext uri="{FF2B5EF4-FFF2-40B4-BE49-F238E27FC236}">
                <a16:creationId xmlns:a16="http://schemas.microsoft.com/office/drawing/2014/main" id="{91CCD292-5CC2-4838-9F85-9E82AC2EDBD4}"/>
              </a:ext>
            </a:extLst>
          </p:cNvPr>
          <p:cNvSpPr>
            <a:spLocks noGrp="1"/>
          </p:cNvSpPr>
          <p:nvPr/>
        </p:nvSpPr>
        <p:spPr>
          <a:xfrm>
            <a:off x="6652295" y="4133301"/>
            <a:ext cx="6858" cy="660282"/>
          </a:xfrm>
          <a:prstGeom prst="rect">
            <a:avLst/>
          </a:prstGeom>
          <a:solidFill>
            <a:srgbClr val="BC5D24"/>
          </a:solidFill>
          <a:ln w="0">
            <a:noFill/>
          </a:ln>
        </p:spPr>
        <p:txBody>
          <a:bodyPr/>
          <a:lstStyle/>
          <a:p>
            <a:endParaRPr sz="1440"/>
          </a:p>
        </p:txBody>
      </p:sp>
      <p:sp>
        <p:nvSpPr>
          <p:cNvPr id="108" name="Large tree position">
            <a:extLst>
              <a:ext uri="{FF2B5EF4-FFF2-40B4-BE49-F238E27FC236}">
                <a16:creationId xmlns:a16="http://schemas.microsoft.com/office/drawing/2014/main" id="{9B2E5E5C-AB34-4BF4-ACBB-2B128C86193B}"/>
              </a:ext>
            </a:extLst>
          </p:cNvPr>
          <p:cNvSpPr>
            <a:spLocks noGrp="1"/>
          </p:cNvSpPr>
          <p:nvPr/>
        </p:nvSpPr>
        <p:spPr>
          <a:xfrm>
            <a:off x="6625244" y="4078738"/>
            <a:ext cx="60960" cy="60960"/>
          </a:xfrm>
          <a:prstGeom prst="ellipse">
            <a:avLst/>
          </a:prstGeom>
          <a:solidFill>
            <a:srgbClr val="BC5D24"/>
          </a:solidFill>
          <a:ln w="0">
            <a:noFill/>
          </a:ln>
        </p:spPr>
        <p:txBody>
          <a:bodyPr/>
          <a:lstStyle/>
          <a:p>
            <a:endParaRPr sz="1440"/>
          </a:p>
        </p:txBody>
      </p:sp>
      <p:sp>
        <p:nvSpPr>
          <p:cNvPr id="109" name="Large tree">
            <a:extLst>
              <a:ext uri="{FF2B5EF4-FFF2-40B4-BE49-F238E27FC236}">
                <a16:creationId xmlns:a16="http://schemas.microsoft.com/office/drawing/2014/main" id="{8900BAD7-03F5-40B1-9B19-1EEC9063B531}"/>
              </a:ext>
            </a:extLst>
          </p:cNvPr>
          <p:cNvSpPr>
            <a:spLocks noGrp="1"/>
          </p:cNvSpPr>
          <p:nvPr/>
        </p:nvSpPr>
        <p:spPr>
          <a:xfrm>
            <a:off x="5988974" y="4758026"/>
            <a:ext cx="1333500" cy="276606"/>
          </a:xfrm>
          <a:prstGeom prst="rect">
            <a:avLst/>
          </a:prstGeom>
          <a:noFill/>
          <a:ln w="0">
            <a:noFill/>
          </a:ln>
        </p:spPr>
        <p:txBody>
          <a:bodyPr>
            <a:noAutofit/>
          </a:bodyPr>
          <a:lstStyle/>
          <a:p>
            <a:pPr algn="ctr">
              <a:buNone/>
              <a:defRPr sz="1650" b="1">
                <a:solidFill>
                  <a:srgbClr val="BC5D24"/>
                </a:solidFill>
                <a:latin typeface="DejaVu Sans"/>
                <a:ea typeface="DejaVu Sans"/>
                <a:cs typeface="DejaVu Sans"/>
              </a:defRPr>
            </a:pPr>
            <a:r>
              <a:rPr sz="1320" b="1">
                <a:solidFill>
                  <a:srgbClr val="BC5D24"/>
                </a:solidFill>
                <a:latin typeface="DejaVu Sans"/>
                <a:ea typeface="DejaVu Sans"/>
                <a:cs typeface="DejaVu Sans"/>
              </a:rPr>
              <a:t>Large tree</a:t>
            </a:r>
          </a:p>
        </p:txBody>
      </p:sp>
      <p:sp>
        <p:nvSpPr>
          <p:cNvPr id="110" name="≈ 10⁴ kg">
            <a:extLst>
              <a:ext uri="{FF2B5EF4-FFF2-40B4-BE49-F238E27FC236}">
                <a16:creationId xmlns:a16="http://schemas.microsoft.com/office/drawing/2014/main" id="{813B08DB-23CC-4ECD-9609-417A435DDF39}"/>
              </a:ext>
            </a:extLst>
          </p:cNvPr>
          <p:cNvSpPr>
            <a:spLocks noGrp="1"/>
          </p:cNvSpPr>
          <p:nvPr/>
        </p:nvSpPr>
        <p:spPr>
          <a:xfrm>
            <a:off x="5988974" y="5055206"/>
            <a:ext cx="1333500" cy="226314"/>
          </a:xfrm>
          <a:prstGeom prst="rect">
            <a:avLst/>
          </a:prstGeom>
          <a:noFill/>
          <a:ln w="0">
            <a:noFill/>
          </a:ln>
        </p:spPr>
        <p:txBody>
          <a:bodyPr>
            <a:noAutofit/>
          </a:bodyPr>
          <a:lstStyle/>
          <a:p>
            <a:pPr algn="ctr">
              <a:buNone/>
              <a:defRPr sz="1350" b="0">
                <a:solidFill>
                  <a:srgbClr val="BC5D24"/>
                </a:solidFill>
                <a:latin typeface="DejaVu Sans"/>
                <a:ea typeface="DejaVu Sans"/>
                <a:cs typeface="DejaVu Sans"/>
              </a:defRPr>
            </a:pPr>
            <a:r>
              <a:rPr sz="1080">
                <a:solidFill>
                  <a:srgbClr val="BC5D24"/>
                </a:solidFill>
                <a:latin typeface="DejaVu Sans"/>
                <a:ea typeface="DejaVu Sans"/>
                <a:cs typeface="DejaVu Sans"/>
              </a:rPr>
              <a:t>≈ 10⁴ kg</a:t>
            </a:r>
          </a:p>
        </p:txBody>
      </p:sp>
      <p:sp>
        <p:nvSpPr>
          <p:cNvPr id="111" name="ruler-line">
            <a:extLst>
              <a:ext uri="{FF2B5EF4-FFF2-40B4-BE49-F238E27FC236}">
                <a16:creationId xmlns:a16="http://schemas.microsoft.com/office/drawing/2014/main" id="{0C8BA33E-1116-4EBA-B6E0-0153802304CA}"/>
              </a:ext>
            </a:extLst>
          </p:cNvPr>
          <p:cNvSpPr>
            <a:spLocks noGrp="1"/>
          </p:cNvSpPr>
          <p:nvPr/>
        </p:nvSpPr>
        <p:spPr>
          <a:xfrm>
            <a:off x="10107065" y="3638090"/>
            <a:ext cx="6858" cy="440188"/>
          </a:xfrm>
          <a:prstGeom prst="rect">
            <a:avLst/>
          </a:prstGeom>
          <a:solidFill>
            <a:srgbClr val="66717B"/>
          </a:solidFill>
          <a:ln w="0">
            <a:noFill/>
          </a:ln>
        </p:spPr>
        <p:txBody>
          <a:bodyPr/>
          <a:lstStyle/>
          <a:p>
            <a:endParaRPr sz="1440"/>
          </a:p>
        </p:txBody>
      </p:sp>
      <p:sp>
        <p:nvSpPr>
          <p:cNvPr id="112" name="Earth position">
            <a:extLst>
              <a:ext uri="{FF2B5EF4-FFF2-40B4-BE49-F238E27FC236}">
                <a16:creationId xmlns:a16="http://schemas.microsoft.com/office/drawing/2014/main" id="{9DBF2103-385A-491A-B1E5-1694AC5089B0}"/>
              </a:ext>
            </a:extLst>
          </p:cNvPr>
          <p:cNvSpPr>
            <a:spLocks noGrp="1"/>
          </p:cNvSpPr>
          <p:nvPr/>
        </p:nvSpPr>
        <p:spPr>
          <a:xfrm>
            <a:off x="10080013" y="4078738"/>
            <a:ext cx="60960" cy="60960"/>
          </a:xfrm>
          <a:prstGeom prst="ellipse">
            <a:avLst/>
          </a:prstGeom>
          <a:solidFill>
            <a:srgbClr val="66717B"/>
          </a:solidFill>
          <a:ln w="0">
            <a:noFill/>
          </a:ln>
        </p:spPr>
        <p:txBody>
          <a:bodyPr/>
          <a:lstStyle/>
          <a:p>
            <a:endParaRPr sz="1440"/>
          </a:p>
        </p:txBody>
      </p:sp>
      <p:sp>
        <p:nvSpPr>
          <p:cNvPr id="113" name="Earth">
            <a:extLst>
              <a:ext uri="{FF2B5EF4-FFF2-40B4-BE49-F238E27FC236}">
                <a16:creationId xmlns:a16="http://schemas.microsoft.com/office/drawing/2014/main" id="{912A1118-B00D-4AD8-97F9-55C8404C69BC}"/>
              </a:ext>
            </a:extLst>
          </p:cNvPr>
          <p:cNvSpPr>
            <a:spLocks noGrp="1"/>
          </p:cNvSpPr>
          <p:nvPr/>
        </p:nvSpPr>
        <p:spPr>
          <a:xfrm>
            <a:off x="9424693" y="3299903"/>
            <a:ext cx="1371600" cy="276606"/>
          </a:xfrm>
          <a:prstGeom prst="rect">
            <a:avLst/>
          </a:prstGeom>
          <a:noFill/>
          <a:ln w="0">
            <a:noFill/>
          </a:ln>
        </p:spPr>
        <p:txBody>
          <a:bodyPr>
            <a:noAutofit/>
          </a:bodyPr>
          <a:lstStyle/>
          <a:p>
            <a:pPr algn="ctr">
              <a:buNone/>
              <a:defRPr sz="1650" b="1">
                <a:solidFill>
                  <a:srgbClr val="66717B"/>
                </a:solidFill>
                <a:latin typeface="DejaVu Sans"/>
                <a:ea typeface="DejaVu Sans"/>
                <a:cs typeface="DejaVu Sans"/>
              </a:defRPr>
            </a:pPr>
            <a:r>
              <a:rPr sz="1320" b="1">
                <a:solidFill>
                  <a:srgbClr val="66717B"/>
                </a:solidFill>
                <a:latin typeface="DejaVu Sans"/>
                <a:ea typeface="DejaVu Sans"/>
                <a:cs typeface="DejaVu Sans"/>
              </a:rPr>
              <a:t>Earth</a:t>
            </a:r>
          </a:p>
        </p:txBody>
      </p:sp>
      <p:sp>
        <p:nvSpPr>
          <p:cNvPr id="114" name="≈ 6 × 10²⁴ kg">
            <a:extLst>
              <a:ext uri="{FF2B5EF4-FFF2-40B4-BE49-F238E27FC236}">
                <a16:creationId xmlns:a16="http://schemas.microsoft.com/office/drawing/2014/main" id="{E8794D2C-F1CD-4E37-B71F-DB7AC7555547}"/>
              </a:ext>
            </a:extLst>
          </p:cNvPr>
          <p:cNvSpPr>
            <a:spLocks noGrp="1"/>
          </p:cNvSpPr>
          <p:nvPr/>
        </p:nvSpPr>
        <p:spPr>
          <a:xfrm>
            <a:off x="9424693" y="3597084"/>
            <a:ext cx="1371600" cy="226314"/>
          </a:xfrm>
          <a:prstGeom prst="rect">
            <a:avLst/>
          </a:prstGeom>
          <a:noFill/>
          <a:ln w="0">
            <a:noFill/>
          </a:ln>
        </p:spPr>
        <p:txBody>
          <a:bodyPr>
            <a:noAutofit/>
          </a:bodyPr>
          <a:lstStyle/>
          <a:p>
            <a:pPr algn="ctr">
              <a:buNone/>
              <a:defRPr sz="1350" b="0">
                <a:solidFill>
                  <a:srgbClr val="66717B"/>
                </a:solidFill>
                <a:latin typeface="DejaVu Sans"/>
                <a:ea typeface="DejaVu Sans"/>
                <a:cs typeface="DejaVu Sans"/>
              </a:defRPr>
            </a:pPr>
            <a:r>
              <a:rPr sz="1080">
                <a:solidFill>
                  <a:srgbClr val="66717B"/>
                </a:solidFill>
                <a:latin typeface="DejaVu Sans"/>
                <a:ea typeface="DejaVu Sans"/>
                <a:cs typeface="DejaVu Sans"/>
              </a:rPr>
              <a:t>≈ 6 × 10²⁴ kg</a:t>
            </a:r>
          </a:p>
        </p:txBody>
      </p:sp>
      <p:sp>
        <p:nvSpPr>
          <p:cNvPr id="115" name="ruler-line">
            <a:extLst>
              <a:ext uri="{FF2B5EF4-FFF2-40B4-BE49-F238E27FC236}">
                <a16:creationId xmlns:a16="http://schemas.microsoft.com/office/drawing/2014/main" id="{687D248E-B51F-4C8E-9538-45C2CBB8CA28}"/>
              </a:ext>
            </a:extLst>
          </p:cNvPr>
          <p:cNvSpPr>
            <a:spLocks noGrp="1"/>
          </p:cNvSpPr>
          <p:nvPr/>
        </p:nvSpPr>
        <p:spPr>
          <a:xfrm>
            <a:off x="11024789" y="3060343"/>
            <a:ext cx="6858" cy="1017934"/>
          </a:xfrm>
          <a:prstGeom prst="rect">
            <a:avLst/>
          </a:prstGeom>
          <a:solidFill>
            <a:srgbClr val="66717B"/>
          </a:solidFill>
          <a:ln w="0">
            <a:noFill/>
          </a:ln>
        </p:spPr>
        <p:txBody>
          <a:bodyPr/>
          <a:lstStyle/>
          <a:p>
            <a:endParaRPr sz="1440"/>
          </a:p>
        </p:txBody>
      </p:sp>
      <p:sp>
        <p:nvSpPr>
          <p:cNvPr id="116" name="Sun / neutron star position">
            <a:extLst>
              <a:ext uri="{FF2B5EF4-FFF2-40B4-BE49-F238E27FC236}">
                <a16:creationId xmlns:a16="http://schemas.microsoft.com/office/drawing/2014/main" id="{967E7707-2FD9-4A84-A2E6-6EBAE7AFB765}"/>
              </a:ext>
            </a:extLst>
          </p:cNvPr>
          <p:cNvSpPr>
            <a:spLocks noGrp="1"/>
          </p:cNvSpPr>
          <p:nvPr/>
        </p:nvSpPr>
        <p:spPr>
          <a:xfrm>
            <a:off x="10997738" y="4078738"/>
            <a:ext cx="60960" cy="60960"/>
          </a:xfrm>
          <a:prstGeom prst="ellipse">
            <a:avLst/>
          </a:prstGeom>
          <a:solidFill>
            <a:srgbClr val="66717B"/>
          </a:solidFill>
          <a:ln w="0">
            <a:noFill/>
          </a:ln>
        </p:spPr>
        <p:txBody>
          <a:bodyPr/>
          <a:lstStyle/>
          <a:p>
            <a:endParaRPr sz="1440"/>
          </a:p>
        </p:txBody>
      </p:sp>
      <p:sp>
        <p:nvSpPr>
          <p:cNvPr id="117" name="Sun / neutron star">
            <a:extLst>
              <a:ext uri="{FF2B5EF4-FFF2-40B4-BE49-F238E27FC236}">
                <a16:creationId xmlns:a16="http://schemas.microsoft.com/office/drawing/2014/main" id="{EF8045DA-C043-4538-AE29-BCF4593A80C8}"/>
              </a:ext>
            </a:extLst>
          </p:cNvPr>
          <p:cNvSpPr>
            <a:spLocks noGrp="1"/>
          </p:cNvSpPr>
          <p:nvPr/>
        </p:nvSpPr>
        <p:spPr>
          <a:xfrm>
            <a:off x="9923318" y="2722156"/>
            <a:ext cx="2209800" cy="251460"/>
          </a:xfrm>
          <a:prstGeom prst="rect">
            <a:avLst/>
          </a:prstGeom>
          <a:noFill/>
          <a:ln w="0">
            <a:noFill/>
          </a:ln>
        </p:spPr>
        <p:txBody>
          <a:bodyPr>
            <a:noAutofit/>
          </a:bodyPr>
          <a:lstStyle/>
          <a:p>
            <a:pPr algn="ctr">
              <a:buNone/>
              <a:defRPr sz="1500" b="1">
                <a:solidFill>
                  <a:srgbClr val="66717B"/>
                </a:solidFill>
                <a:latin typeface="DejaVu Sans"/>
                <a:ea typeface="DejaVu Sans"/>
                <a:cs typeface="DejaVu Sans"/>
              </a:defRPr>
            </a:pPr>
            <a:r>
              <a:rPr sz="1200" b="1">
                <a:solidFill>
                  <a:srgbClr val="66717B"/>
                </a:solidFill>
                <a:latin typeface="DejaVu Sans"/>
                <a:ea typeface="DejaVu Sans"/>
                <a:cs typeface="DejaVu Sans"/>
              </a:rPr>
              <a:t>Sun / neutron star</a:t>
            </a:r>
          </a:p>
        </p:txBody>
      </p:sp>
      <p:sp>
        <p:nvSpPr>
          <p:cNvPr id="118" name="≈ 10³⁰ kg">
            <a:extLst>
              <a:ext uri="{FF2B5EF4-FFF2-40B4-BE49-F238E27FC236}">
                <a16:creationId xmlns:a16="http://schemas.microsoft.com/office/drawing/2014/main" id="{FE1387E8-F1F3-450E-A102-98615B5FACCF}"/>
              </a:ext>
            </a:extLst>
          </p:cNvPr>
          <p:cNvSpPr>
            <a:spLocks noGrp="1"/>
          </p:cNvSpPr>
          <p:nvPr/>
        </p:nvSpPr>
        <p:spPr>
          <a:xfrm>
            <a:off x="10113818" y="3019337"/>
            <a:ext cx="1828800" cy="226314"/>
          </a:xfrm>
          <a:prstGeom prst="rect">
            <a:avLst/>
          </a:prstGeom>
          <a:noFill/>
          <a:ln w="0">
            <a:noFill/>
          </a:ln>
        </p:spPr>
        <p:txBody>
          <a:bodyPr>
            <a:noAutofit/>
          </a:bodyPr>
          <a:lstStyle/>
          <a:p>
            <a:pPr algn="ctr">
              <a:buNone/>
              <a:defRPr sz="1350" b="0">
                <a:solidFill>
                  <a:srgbClr val="66717B"/>
                </a:solidFill>
                <a:latin typeface="DejaVu Sans"/>
                <a:ea typeface="DejaVu Sans"/>
                <a:cs typeface="DejaVu Sans"/>
              </a:defRPr>
            </a:pPr>
            <a:r>
              <a:rPr sz="1080">
                <a:solidFill>
                  <a:srgbClr val="66717B"/>
                </a:solidFill>
                <a:latin typeface="DejaVu Sans"/>
                <a:ea typeface="DejaVu Sans"/>
                <a:cs typeface="DejaVu Sans"/>
              </a:rPr>
              <a:t>≈ 10³⁰ kg</a:t>
            </a:r>
          </a:p>
        </p:txBody>
      </p:sp>
      <p:sp>
        <p:nvSpPr>
          <p:cNvPr id="119" name="ruler-line">
            <a:extLst>
              <a:ext uri="{FF2B5EF4-FFF2-40B4-BE49-F238E27FC236}">
                <a16:creationId xmlns:a16="http://schemas.microsoft.com/office/drawing/2014/main" id="{F6DD84AC-F9A3-4AE5-A8C4-0ADAA2F04282}"/>
              </a:ext>
            </a:extLst>
          </p:cNvPr>
          <p:cNvSpPr>
            <a:spLocks noGrp="1"/>
          </p:cNvSpPr>
          <p:nvPr/>
        </p:nvSpPr>
        <p:spPr>
          <a:xfrm>
            <a:off x="991639" y="2309525"/>
            <a:ext cx="1496291" cy="22860"/>
          </a:xfrm>
          <a:prstGeom prst="rect">
            <a:avLst/>
          </a:prstGeom>
          <a:solidFill>
            <a:srgbClr val="357496"/>
          </a:solidFill>
          <a:ln w="0">
            <a:noFill/>
          </a:ln>
        </p:spPr>
        <p:txBody>
          <a:bodyPr/>
          <a:lstStyle/>
          <a:p>
            <a:endParaRPr sz="1440"/>
          </a:p>
        </p:txBody>
      </p:sp>
      <p:sp>
        <p:nvSpPr>
          <p:cNvPr id="120" name="ruler-line">
            <a:extLst>
              <a:ext uri="{FF2B5EF4-FFF2-40B4-BE49-F238E27FC236}">
                <a16:creationId xmlns:a16="http://schemas.microsoft.com/office/drawing/2014/main" id="{6DF83E11-106D-432A-81BC-115825CF5C0A}"/>
              </a:ext>
            </a:extLst>
          </p:cNvPr>
          <p:cNvSpPr>
            <a:spLocks noGrp="1"/>
          </p:cNvSpPr>
          <p:nvPr/>
        </p:nvSpPr>
        <p:spPr>
          <a:xfrm>
            <a:off x="858289" y="2313334"/>
            <a:ext cx="22860" cy="15240"/>
          </a:xfrm>
          <a:prstGeom prst="rect">
            <a:avLst/>
          </a:prstGeom>
          <a:solidFill>
            <a:srgbClr val="357496"/>
          </a:solidFill>
          <a:ln w="0">
            <a:noFill/>
          </a:ln>
        </p:spPr>
        <p:txBody>
          <a:bodyPr/>
          <a:lstStyle/>
          <a:p>
            <a:endParaRPr sz="1440"/>
          </a:p>
        </p:txBody>
      </p:sp>
      <p:sp>
        <p:nvSpPr>
          <p:cNvPr id="121" name="ruler-line">
            <a:extLst>
              <a:ext uri="{FF2B5EF4-FFF2-40B4-BE49-F238E27FC236}">
                <a16:creationId xmlns:a16="http://schemas.microsoft.com/office/drawing/2014/main" id="{F8FB2800-DFE3-4DCD-9FB2-1C5BEFE6FC87}"/>
              </a:ext>
            </a:extLst>
          </p:cNvPr>
          <p:cNvSpPr>
            <a:spLocks noGrp="1"/>
          </p:cNvSpPr>
          <p:nvPr/>
        </p:nvSpPr>
        <p:spPr>
          <a:xfrm>
            <a:off x="2529840" y="2313334"/>
            <a:ext cx="22860" cy="15240"/>
          </a:xfrm>
          <a:prstGeom prst="rect">
            <a:avLst/>
          </a:prstGeom>
          <a:solidFill>
            <a:srgbClr val="357496"/>
          </a:solidFill>
          <a:ln w="0">
            <a:noFill/>
          </a:ln>
        </p:spPr>
        <p:txBody>
          <a:bodyPr/>
          <a:lstStyle/>
          <a:p>
            <a:endParaRPr sz="1440"/>
          </a:p>
        </p:txBody>
      </p:sp>
      <p:sp>
        <p:nvSpPr>
          <p:cNvPr id="122" name="ruler-line">
            <a:extLst>
              <a:ext uri="{FF2B5EF4-FFF2-40B4-BE49-F238E27FC236}">
                <a16:creationId xmlns:a16="http://schemas.microsoft.com/office/drawing/2014/main" id="{E3266F6D-BFF7-4AA9-8551-0EDB3339FBB7}"/>
              </a:ext>
            </a:extLst>
          </p:cNvPr>
          <p:cNvSpPr>
            <a:spLocks noGrp="1"/>
          </p:cNvSpPr>
          <p:nvPr/>
        </p:nvSpPr>
        <p:spPr>
          <a:xfrm>
            <a:off x="904009" y="2313334"/>
            <a:ext cx="22860" cy="15240"/>
          </a:xfrm>
          <a:prstGeom prst="rect">
            <a:avLst/>
          </a:prstGeom>
          <a:solidFill>
            <a:srgbClr val="357496"/>
          </a:solidFill>
          <a:ln w="0">
            <a:noFill/>
          </a:ln>
        </p:spPr>
        <p:txBody>
          <a:bodyPr/>
          <a:lstStyle/>
          <a:p>
            <a:endParaRPr sz="1440"/>
          </a:p>
        </p:txBody>
      </p:sp>
      <p:sp>
        <p:nvSpPr>
          <p:cNvPr id="123" name="ruler-line">
            <a:extLst>
              <a:ext uri="{FF2B5EF4-FFF2-40B4-BE49-F238E27FC236}">
                <a16:creationId xmlns:a16="http://schemas.microsoft.com/office/drawing/2014/main" id="{0702FC7B-C7AE-4A78-B311-AEFFDC566AD8}"/>
              </a:ext>
            </a:extLst>
          </p:cNvPr>
          <p:cNvSpPr>
            <a:spLocks noGrp="1"/>
          </p:cNvSpPr>
          <p:nvPr/>
        </p:nvSpPr>
        <p:spPr>
          <a:xfrm>
            <a:off x="2575560" y="2313334"/>
            <a:ext cx="22860" cy="15240"/>
          </a:xfrm>
          <a:prstGeom prst="rect">
            <a:avLst/>
          </a:prstGeom>
          <a:solidFill>
            <a:srgbClr val="357496"/>
          </a:solidFill>
          <a:ln w="0">
            <a:noFill/>
          </a:ln>
        </p:spPr>
        <p:txBody>
          <a:bodyPr/>
          <a:lstStyle/>
          <a:p>
            <a:endParaRPr sz="1440"/>
          </a:p>
        </p:txBody>
      </p:sp>
      <p:sp>
        <p:nvSpPr>
          <p:cNvPr id="124" name="ruler-line">
            <a:extLst>
              <a:ext uri="{FF2B5EF4-FFF2-40B4-BE49-F238E27FC236}">
                <a16:creationId xmlns:a16="http://schemas.microsoft.com/office/drawing/2014/main" id="{FBCD2DDC-1D36-488F-A8D4-9FF2C00EBF63}"/>
              </a:ext>
            </a:extLst>
          </p:cNvPr>
          <p:cNvSpPr>
            <a:spLocks noGrp="1"/>
          </p:cNvSpPr>
          <p:nvPr/>
        </p:nvSpPr>
        <p:spPr>
          <a:xfrm>
            <a:off x="949729" y="2313334"/>
            <a:ext cx="22860" cy="15240"/>
          </a:xfrm>
          <a:prstGeom prst="rect">
            <a:avLst/>
          </a:prstGeom>
          <a:solidFill>
            <a:srgbClr val="357496"/>
          </a:solidFill>
          <a:ln w="0">
            <a:noFill/>
          </a:ln>
        </p:spPr>
        <p:txBody>
          <a:bodyPr/>
          <a:lstStyle/>
          <a:p>
            <a:endParaRPr sz="1440"/>
          </a:p>
        </p:txBody>
      </p:sp>
      <p:sp>
        <p:nvSpPr>
          <p:cNvPr id="125" name="ruler-line">
            <a:extLst>
              <a:ext uri="{FF2B5EF4-FFF2-40B4-BE49-F238E27FC236}">
                <a16:creationId xmlns:a16="http://schemas.microsoft.com/office/drawing/2014/main" id="{07C4E6D4-DB05-4C16-B59D-2A900CA8E6C0}"/>
              </a:ext>
            </a:extLst>
          </p:cNvPr>
          <p:cNvSpPr>
            <a:spLocks noGrp="1"/>
          </p:cNvSpPr>
          <p:nvPr/>
        </p:nvSpPr>
        <p:spPr>
          <a:xfrm>
            <a:off x="2621280" y="2313334"/>
            <a:ext cx="22860" cy="15240"/>
          </a:xfrm>
          <a:prstGeom prst="rect">
            <a:avLst/>
          </a:prstGeom>
          <a:solidFill>
            <a:srgbClr val="357496"/>
          </a:solidFill>
          <a:ln w="0">
            <a:noFill/>
          </a:ln>
        </p:spPr>
        <p:txBody>
          <a:bodyPr/>
          <a:lstStyle/>
          <a:p>
            <a:endParaRPr sz="1440"/>
          </a:p>
        </p:txBody>
      </p:sp>
      <p:sp>
        <p:nvSpPr>
          <p:cNvPr id="126" name="Quantum mechanics">
            <a:extLst>
              <a:ext uri="{FF2B5EF4-FFF2-40B4-BE49-F238E27FC236}">
                <a16:creationId xmlns:a16="http://schemas.microsoft.com/office/drawing/2014/main" id="{BDF1162D-F4CC-476A-97D1-DB00F97F6B5F}"/>
              </a:ext>
            </a:extLst>
          </p:cNvPr>
          <p:cNvSpPr>
            <a:spLocks noGrp="1"/>
          </p:cNvSpPr>
          <p:nvPr/>
        </p:nvSpPr>
        <p:spPr>
          <a:xfrm>
            <a:off x="417714" y="1955195"/>
            <a:ext cx="2667000" cy="339471"/>
          </a:xfrm>
          <a:prstGeom prst="rect">
            <a:avLst/>
          </a:prstGeom>
          <a:noFill/>
          <a:ln w="0">
            <a:noFill/>
          </a:ln>
        </p:spPr>
        <p:txBody>
          <a:bodyPr>
            <a:noAutofit/>
          </a:bodyPr>
          <a:lstStyle/>
          <a:p>
            <a:pPr algn="ctr">
              <a:buNone/>
              <a:defRPr sz="2025" b="1">
                <a:solidFill>
                  <a:srgbClr val="357496"/>
                </a:solidFill>
                <a:latin typeface="DejaVu Sans"/>
                <a:ea typeface="DejaVu Sans"/>
                <a:cs typeface="DejaVu Sans"/>
              </a:defRPr>
            </a:pPr>
            <a:r>
              <a:rPr sz="1620" b="1">
                <a:solidFill>
                  <a:srgbClr val="357496"/>
                </a:solidFill>
                <a:latin typeface="DejaVu Sans"/>
                <a:ea typeface="DejaVu Sans"/>
                <a:cs typeface="DejaVu Sans"/>
              </a:rPr>
              <a:t>Quantum mechanics</a:t>
            </a:r>
          </a:p>
        </p:txBody>
      </p:sp>
      <p:sp>
        <p:nvSpPr>
          <p:cNvPr id="127" name="Atoms and molecular interactions">
            <a:extLst>
              <a:ext uri="{FF2B5EF4-FFF2-40B4-BE49-F238E27FC236}">
                <a16:creationId xmlns:a16="http://schemas.microsoft.com/office/drawing/2014/main" id="{CD3C1C47-6161-4B80-B463-E6CB5DD0EC76}"/>
              </a:ext>
            </a:extLst>
          </p:cNvPr>
          <p:cNvSpPr>
            <a:spLocks noGrp="1"/>
          </p:cNvSpPr>
          <p:nvPr/>
        </p:nvSpPr>
        <p:spPr>
          <a:xfrm>
            <a:off x="417714" y="2397155"/>
            <a:ext cx="2667000" cy="238887"/>
          </a:xfrm>
          <a:prstGeom prst="rect">
            <a:avLst/>
          </a:prstGeom>
          <a:noFill/>
          <a:ln w="0">
            <a:noFill/>
          </a:ln>
        </p:spPr>
        <p:txBody>
          <a:bodyPr>
            <a:noAutofit/>
          </a:bodyPr>
          <a:lstStyle/>
          <a:p>
            <a:pPr algn="ctr">
              <a:buNone/>
              <a:defRPr sz="1425" b="0">
                <a:solidFill>
                  <a:srgbClr val="66717B"/>
                </a:solidFill>
                <a:latin typeface="DejaVu Sans"/>
                <a:ea typeface="DejaVu Sans"/>
                <a:cs typeface="DejaVu Sans"/>
              </a:defRPr>
            </a:pPr>
            <a:r>
              <a:rPr sz="1140">
                <a:solidFill>
                  <a:srgbClr val="66717B"/>
                </a:solidFill>
                <a:latin typeface="DejaVu Sans"/>
                <a:ea typeface="DejaVu Sans"/>
                <a:cs typeface="DejaVu Sans"/>
              </a:rPr>
              <a:t>Atoms and molecular interactions</a:t>
            </a:r>
          </a:p>
        </p:txBody>
      </p:sp>
      <p:sp>
        <p:nvSpPr>
          <p:cNvPr id="128" name="ruler-line">
            <a:extLst>
              <a:ext uri="{FF2B5EF4-FFF2-40B4-BE49-F238E27FC236}">
                <a16:creationId xmlns:a16="http://schemas.microsoft.com/office/drawing/2014/main" id="{4813F906-7A42-4066-8401-97296B504859}"/>
              </a:ext>
            </a:extLst>
          </p:cNvPr>
          <p:cNvSpPr>
            <a:spLocks noGrp="1"/>
          </p:cNvSpPr>
          <p:nvPr/>
        </p:nvSpPr>
        <p:spPr>
          <a:xfrm>
            <a:off x="2654185" y="1731778"/>
            <a:ext cx="6151418" cy="22860"/>
          </a:xfrm>
          <a:prstGeom prst="rect">
            <a:avLst/>
          </a:prstGeom>
          <a:solidFill>
            <a:srgbClr val="357496"/>
          </a:solidFill>
          <a:ln w="0">
            <a:noFill/>
          </a:ln>
        </p:spPr>
        <p:txBody>
          <a:bodyPr/>
          <a:lstStyle/>
          <a:p>
            <a:endParaRPr sz="1440"/>
          </a:p>
        </p:txBody>
      </p:sp>
      <p:sp>
        <p:nvSpPr>
          <p:cNvPr id="129" name="ruler-line">
            <a:extLst>
              <a:ext uri="{FF2B5EF4-FFF2-40B4-BE49-F238E27FC236}">
                <a16:creationId xmlns:a16="http://schemas.microsoft.com/office/drawing/2014/main" id="{6B98E957-D67F-4B33-8D27-FCFEC737C64A}"/>
              </a:ext>
            </a:extLst>
          </p:cNvPr>
          <p:cNvSpPr>
            <a:spLocks noGrp="1"/>
          </p:cNvSpPr>
          <p:nvPr/>
        </p:nvSpPr>
        <p:spPr>
          <a:xfrm>
            <a:off x="2520835" y="1735588"/>
            <a:ext cx="22860" cy="15240"/>
          </a:xfrm>
          <a:prstGeom prst="rect">
            <a:avLst/>
          </a:prstGeom>
          <a:solidFill>
            <a:srgbClr val="357496"/>
          </a:solidFill>
          <a:ln w="0">
            <a:noFill/>
          </a:ln>
        </p:spPr>
        <p:txBody>
          <a:bodyPr/>
          <a:lstStyle/>
          <a:p>
            <a:endParaRPr sz="1440"/>
          </a:p>
        </p:txBody>
      </p:sp>
      <p:sp>
        <p:nvSpPr>
          <p:cNvPr id="130" name="ruler-line">
            <a:extLst>
              <a:ext uri="{FF2B5EF4-FFF2-40B4-BE49-F238E27FC236}">
                <a16:creationId xmlns:a16="http://schemas.microsoft.com/office/drawing/2014/main" id="{09CBA0B5-D28D-4620-B674-2D99481241C2}"/>
              </a:ext>
            </a:extLst>
          </p:cNvPr>
          <p:cNvSpPr>
            <a:spLocks noGrp="1"/>
          </p:cNvSpPr>
          <p:nvPr/>
        </p:nvSpPr>
        <p:spPr>
          <a:xfrm>
            <a:off x="8847513" y="1735588"/>
            <a:ext cx="22860" cy="15240"/>
          </a:xfrm>
          <a:prstGeom prst="rect">
            <a:avLst/>
          </a:prstGeom>
          <a:solidFill>
            <a:srgbClr val="357496"/>
          </a:solidFill>
          <a:ln w="0">
            <a:noFill/>
          </a:ln>
        </p:spPr>
        <p:txBody>
          <a:bodyPr/>
          <a:lstStyle/>
          <a:p>
            <a:endParaRPr sz="1440"/>
          </a:p>
        </p:txBody>
      </p:sp>
      <p:sp>
        <p:nvSpPr>
          <p:cNvPr id="131" name="ruler-line">
            <a:extLst>
              <a:ext uri="{FF2B5EF4-FFF2-40B4-BE49-F238E27FC236}">
                <a16:creationId xmlns:a16="http://schemas.microsoft.com/office/drawing/2014/main" id="{90FDCA42-792E-4B56-AA6C-F0DC3365D939}"/>
              </a:ext>
            </a:extLst>
          </p:cNvPr>
          <p:cNvSpPr>
            <a:spLocks noGrp="1"/>
          </p:cNvSpPr>
          <p:nvPr/>
        </p:nvSpPr>
        <p:spPr>
          <a:xfrm>
            <a:off x="2566555" y="1735588"/>
            <a:ext cx="22860" cy="15240"/>
          </a:xfrm>
          <a:prstGeom prst="rect">
            <a:avLst/>
          </a:prstGeom>
          <a:solidFill>
            <a:srgbClr val="357496"/>
          </a:solidFill>
          <a:ln w="0">
            <a:noFill/>
          </a:ln>
        </p:spPr>
        <p:txBody>
          <a:bodyPr/>
          <a:lstStyle/>
          <a:p>
            <a:endParaRPr sz="1440"/>
          </a:p>
        </p:txBody>
      </p:sp>
      <p:sp>
        <p:nvSpPr>
          <p:cNvPr id="132" name="ruler-line">
            <a:extLst>
              <a:ext uri="{FF2B5EF4-FFF2-40B4-BE49-F238E27FC236}">
                <a16:creationId xmlns:a16="http://schemas.microsoft.com/office/drawing/2014/main" id="{EB4D7602-0F61-4E8E-BDB8-41DCD6045258}"/>
              </a:ext>
            </a:extLst>
          </p:cNvPr>
          <p:cNvSpPr>
            <a:spLocks noGrp="1"/>
          </p:cNvSpPr>
          <p:nvPr/>
        </p:nvSpPr>
        <p:spPr>
          <a:xfrm>
            <a:off x="8893233" y="1735588"/>
            <a:ext cx="22860" cy="15240"/>
          </a:xfrm>
          <a:prstGeom prst="rect">
            <a:avLst/>
          </a:prstGeom>
          <a:solidFill>
            <a:srgbClr val="357496"/>
          </a:solidFill>
          <a:ln w="0">
            <a:noFill/>
          </a:ln>
        </p:spPr>
        <p:txBody>
          <a:bodyPr/>
          <a:lstStyle/>
          <a:p>
            <a:endParaRPr sz="1440"/>
          </a:p>
        </p:txBody>
      </p:sp>
      <p:sp>
        <p:nvSpPr>
          <p:cNvPr id="133" name="ruler-line">
            <a:extLst>
              <a:ext uri="{FF2B5EF4-FFF2-40B4-BE49-F238E27FC236}">
                <a16:creationId xmlns:a16="http://schemas.microsoft.com/office/drawing/2014/main" id="{C9A43C09-26EB-462D-B6F1-199EED98C3EA}"/>
              </a:ext>
            </a:extLst>
          </p:cNvPr>
          <p:cNvSpPr>
            <a:spLocks noGrp="1"/>
          </p:cNvSpPr>
          <p:nvPr/>
        </p:nvSpPr>
        <p:spPr>
          <a:xfrm>
            <a:off x="2612275" y="1735588"/>
            <a:ext cx="22860" cy="15240"/>
          </a:xfrm>
          <a:prstGeom prst="rect">
            <a:avLst/>
          </a:prstGeom>
          <a:solidFill>
            <a:srgbClr val="357496"/>
          </a:solidFill>
          <a:ln w="0">
            <a:noFill/>
          </a:ln>
        </p:spPr>
        <p:txBody>
          <a:bodyPr/>
          <a:lstStyle/>
          <a:p>
            <a:endParaRPr sz="1440"/>
          </a:p>
        </p:txBody>
      </p:sp>
      <p:sp>
        <p:nvSpPr>
          <p:cNvPr id="134" name="ruler-line">
            <a:extLst>
              <a:ext uri="{FF2B5EF4-FFF2-40B4-BE49-F238E27FC236}">
                <a16:creationId xmlns:a16="http://schemas.microsoft.com/office/drawing/2014/main" id="{4DE2D226-C8A5-4EDB-8468-A17ADDBE0603}"/>
              </a:ext>
            </a:extLst>
          </p:cNvPr>
          <p:cNvSpPr>
            <a:spLocks noGrp="1"/>
          </p:cNvSpPr>
          <p:nvPr/>
        </p:nvSpPr>
        <p:spPr>
          <a:xfrm>
            <a:off x="8938953" y="1735588"/>
            <a:ext cx="22860" cy="15240"/>
          </a:xfrm>
          <a:prstGeom prst="rect">
            <a:avLst/>
          </a:prstGeom>
          <a:solidFill>
            <a:srgbClr val="357496"/>
          </a:solidFill>
          <a:ln w="0">
            <a:noFill/>
          </a:ln>
        </p:spPr>
        <p:txBody>
          <a:bodyPr/>
          <a:lstStyle/>
          <a:p>
            <a:endParaRPr sz="1440"/>
          </a:p>
        </p:txBody>
      </p:sp>
      <p:sp>
        <p:nvSpPr>
          <p:cNvPr id="135" name="Statistical mechanics">
            <a:extLst>
              <a:ext uri="{FF2B5EF4-FFF2-40B4-BE49-F238E27FC236}">
                <a16:creationId xmlns:a16="http://schemas.microsoft.com/office/drawing/2014/main" id="{7EFAD4A3-1142-41A0-818A-11E8F60F6868}"/>
              </a:ext>
            </a:extLst>
          </p:cNvPr>
          <p:cNvSpPr>
            <a:spLocks noGrp="1"/>
          </p:cNvSpPr>
          <p:nvPr/>
        </p:nvSpPr>
        <p:spPr>
          <a:xfrm>
            <a:off x="3264824" y="1377449"/>
            <a:ext cx="4953000" cy="339471"/>
          </a:xfrm>
          <a:prstGeom prst="rect">
            <a:avLst/>
          </a:prstGeom>
          <a:noFill/>
          <a:ln w="0">
            <a:noFill/>
          </a:ln>
        </p:spPr>
        <p:txBody>
          <a:bodyPr>
            <a:noAutofit/>
          </a:bodyPr>
          <a:lstStyle/>
          <a:p>
            <a:pPr algn="ctr">
              <a:buNone/>
              <a:defRPr sz="2025" b="1">
                <a:solidFill>
                  <a:srgbClr val="357496"/>
                </a:solidFill>
                <a:latin typeface="DejaVu Sans"/>
                <a:ea typeface="DejaVu Sans"/>
                <a:cs typeface="DejaVu Sans"/>
              </a:defRPr>
            </a:pPr>
            <a:r>
              <a:rPr sz="1620" b="1">
                <a:solidFill>
                  <a:srgbClr val="357496"/>
                </a:solidFill>
                <a:latin typeface="DejaVu Sans"/>
                <a:ea typeface="DejaVu Sans"/>
                <a:cs typeface="DejaVu Sans"/>
              </a:rPr>
              <a:t>Statistical mechanics</a:t>
            </a:r>
          </a:p>
        </p:txBody>
      </p:sp>
      <p:sp>
        <p:nvSpPr>
          <p:cNvPr id="136" name="Collective behavior, including living matter">
            <a:extLst>
              <a:ext uri="{FF2B5EF4-FFF2-40B4-BE49-F238E27FC236}">
                <a16:creationId xmlns:a16="http://schemas.microsoft.com/office/drawing/2014/main" id="{57128636-2EF7-4746-9CEB-CFFD8AB94E2A}"/>
              </a:ext>
            </a:extLst>
          </p:cNvPr>
          <p:cNvSpPr>
            <a:spLocks noGrp="1"/>
          </p:cNvSpPr>
          <p:nvPr/>
        </p:nvSpPr>
        <p:spPr>
          <a:xfrm>
            <a:off x="3264824" y="1819409"/>
            <a:ext cx="4953000" cy="238887"/>
          </a:xfrm>
          <a:prstGeom prst="rect">
            <a:avLst/>
          </a:prstGeom>
          <a:noFill/>
          <a:ln w="0">
            <a:noFill/>
          </a:ln>
        </p:spPr>
        <p:txBody>
          <a:bodyPr>
            <a:noAutofit/>
          </a:bodyPr>
          <a:lstStyle/>
          <a:p>
            <a:pPr algn="ctr">
              <a:buNone/>
              <a:defRPr sz="1425" b="0">
                <a:solidFill>
                  <a:srgbClr val="66717B"/>
                </a:solidFill>
                <a:latin typeface="DejaVu Sans"/>
                <a:ea typeface="DejaVu Sans"/>
                <a:cs typeface="DejaVu Sans"/>
              </a:defRPr>
            </a:pPr>
            <a:r>
              <a:rPr sz="1140">
                <a:solidFill>
                  <a:srgbClr val="66717B"/>
                </a:solidFill>
                <a:latin typeface="DejaVu Sans"/>
                <a:ea typeface="DejaVu Sans"/>
                <a:cs typeface="DejaVu Sans"/>
              </a:rPr>
              <a:t>Collective behavior, including living matter</a:t>
            </a:r>
          </a:p>
        </p:txBody>
      </p:sp>
      <p:sp>
        <p:nvSpPr>
          <p:cNvPr id="137" name="ruler-line">
            <a:extLst>
              <a:ext uri="{FF2B5EF4-FFF2-40B4-BE49-F238E27FC236}">
                <a16:creationId xmlns:a16="http://schemas.microsoft.com/office/drawing/2014/main" id="{6FA5F8F1-197E-4953-8C97-CACBE124E9C0}"/>
              </a:ext>
            </a:extLst>
          </p:cNvPr>
          <p:cNvSpPr>
            <a:spLocks noGrp="1"/>
          </p:cNvSpPr>
          <p:nvPr/>
        </p:nvSpPr>
        <p:spPr>
          <a:xfrm>
            <a:off x="10135640" y="2309525"/>
            <a:ext cx="1330036" cy="22860"/>
          </a:xfrm>
          <a:prstGeom prst="rect">
            <a:avLst/>
          </a:prstGeom>
          <a:solidFill>
            <a:srgbClr val="357496"/>
          </a:solidFill>
          <a:ln w="0">
            <a:noFill/>
          </a:ln>
        </p:spPr>
        <p:txBody>
          <a:bodyPr/>
          <a:lstStyle/>
          <a:p>
            <a:endParaRPr sz="1440"/>
          </a:p>
        </p:txBody>
      </p:sp>
      <p:sp>
        <p:nvSpPr>
          <p:cNvPr id="138" name="ruler-line">
            <a:extLst>
              <a:ext uri="{FF2B5EF4-FFF2-40B4-BE49-F238E27FC236}">
                <a16:creationId xmlns:a16="http://schemas.microsoft.com/office/drawing/2014/main" id="{1BE9F66D-B573-459D-831E-C9F67163430E}"/>
              </a:ext>
            </a:extLst>
          </p:cNvPr>
          <p:cNvSpPr>
            <a:spLocks noGrp="1"/>
          </p:cNvSpPr>
          <p:nvPr/>
        </p:nvSpPr>
        <p:spPr>
          <a:xfrm>
            <a:off x="10002289" y="2313334"/>
            <a:ext cx="22860" cy="15240"/>
          </a:xfrm>
          <a:prstGeom prst="rect">
            <a:avLst/>
          </a:prstGeom>
          <a:solidFill>
            <a:srgbClr val="357496"/>
          </a:solidFill>
          <a:ln w="0">
            <a:noFill/>
          </a:ln>
        </p:spPr>
        <p:txBody>
          <a:bodyPr/>
          <a:lstStyle/>
          <a:p>
            <a:endParaRPr sz="1440"/>
          </a:p>
        </p:txBody>
      </p:sp>
      <p:sp>
        <p:nvSpPr>
          <p:cNvPr id="139" name="ruler-line">
            <a:extLst>
              <a:ext uri="{FF2B5EF4-FFF2-40B4-BE49-F238E27FC236}">
                <a16:creationId xmlns:a16="http://schemas.microsoft.com/office/drawing/2014/main" id="{BB1F9866-143C-453A-B5F9-ECD9B21374EB}"/>
              </a:ext>
            </a:extLst>
          </p:cNvPr>
          <p:cNvSpPr>
            <a:spLocks noGrp="1"/>
          </p:cNvSpPr>
          <p:nvPr/>
        </p:nvSpPr>
        <p:spPr>
          <a:xfrm>
            <a:off x="11507586" y="2313334"/>
            <a:ext cx="22860" cy="15240"/>
          </a:xfrm>
          <a:prstGeom prst="rect">
            <a:avLst/>
          </a:prstGeom>
          <a:solidFill>
            <a:srgbClr val="357496"/>
          </a:solidFill>
          <a:ln w="0">
            <a:noFill/>
          </a:ln>
        </p:spPr>
        <p:txBody>
          <a:bodyPr/>
          <a:lstStyle/>
          <a:p>
            <a:endParaRPr sz="1440"/>
          </a:p>
        </p:txBody>
      </p:sp>
      <p:sp>
        <p:nvSpPr>
          <p:cNvPr id="140" name="ruler-line">
            <a:extLst>
              <a:ext uri="{FF2B5EF4-FFF2-40B4-BE49-F238E27FC236}">
                <a16:creationId xmlns:a16="http://schemas.microsoft.com/office/drawing/2014/main" id="{7CFF3E80-4290-4A05-B461-885E4B108FC7}"/>
              </a:ext>
            </a:extLst>
          </p:cNvPr>
          <p:cNvSpPr>
            <a:spLocks noGrp="1"/>
          </p:cNvSpPr>
          <p:nvPr/>
        </p:nvSpPr>
        <p:spPr>
          <a:xfrm>
            <a:off x="10048009" y="2313334"/>
            <a:ext cx="22860" cy="15240"/>
          </a:xfrm>
          <a:prstGeom prst="rect">
            <a:avLst/>
          </a:prstGeom>
          <a:solidFill>
            <a:srgbClr val="357496"/>
          </a:solidFill>
          <a:ln w="0">
            <a:noFill/>
          </a:ln>
        </p:spPr>
        <p:txBody>
          <a:bodyPr/>
          <a:lstStyle/>
          <a:p>
            <a:endParaRPr sz="1440"/>
          </a:p>
        </p:txBody>
      </p:sp>
      <p:sp>
        <p:nvSpPr>
          <p:cNvPr id="141" name="ruler-line">
            <a:extLst>
              <a:ext uri="{FF2B5EF4-FFF2-40B4-BE49-F238E27FC236}">
                <a16:creationId xmlns:a16="http://schemas.microsoft.com/office/drawing/2014/main" id="{3443554F-C19B-4EB1-B4A4-02E205BDCDDE}"/>
              </a:ext>
            </a:extLst>
          </p:cNvPr>
          <p:cNvSpPr>
            <a:spLocks noGrp="1"/>
          </p:cNvSpPr>
          <p:nvPr/>
        </p:nvSpPr>
        <p:spPr>
          <a:xfrm>
            <a:off x="11553306" y="2313334"/>
            <a:ext cx="22860" cy="15240"/>
          </a:xfrm>
          <a:prstGeom prst="rect">
            <a:avLst/>
          </a:prstGeom>
          <a:solidFill>
            <a:srgbClr val="357496"/>
          </a:solidFill>
          <a:ln w="0">
            <a:noFill/>
          </a:ln>
        </p:spPr>
        <p:txBody>
          <a:bodyPr/>
          <a:lstStyle/>
          <a:p>
            <a:endParaRPr sz="1440"/>
          </a:p>
        </p:txBody>
      </p:sp>
      <p:sp>
        <p:nvSpPr>
          <p:cNvPr id="142" name="ruler-line">
            <a:extLst>
              <a:ext uri="{FF2B5EF4-FFF2-40B4-BE49-F238E27FC236}">
                <a16:creationId xmlns:a16="http://schemas.microsoft.com/office/drawing/2014/main" id="{75BAD55D-9404-46DA-A9EB-42BB9816FE47}"/>
              </a:ext>
            </a:extLst>
          </p:cNvPr>
          <p:cNvSpPr>
            <a:spLocks noGrp="1"/>
          </p:cNvSpPr>
          <p:nvPr/>
        </p:nvSpPr>
        <p:spPr>
          <a:xfrm>
            <a:off x="10093729" y="2313334"/>
            <a:ext cx="22860" cy="15240"/>
          </a:xfrm>
          <a:prstGeom prst="rect">
            <a:avLst/>
          </a:prstGeom>
          <a:solidFill>
            <a:srgbClr val="357496"/>
          </a:solidFill>
          <a:ln w="0">
            <a:noFill/>
          </a:ln>
        </p:spPr>
        <p:txBody>
          <a:bodyPr/>
          <a:lstStyle/>
          <a:p>
            <a:endParaRPr sz="1440"/>
          </a:p>
        </p:txBody>
      </p:sp>
      <p:sp>
        <p:nvSpPr>
          <p:cNvPr id="143" name="ruler-line">
            <a:extLst>
              <a:ext uri="{FF2B5EF4-FFF2-40B4-BE49-F238E27FC236}">
                <a16:creationId xmlns:a16="http://schemas.microsoft.com/office/drawing/2014/main" id="{FCD6FBF6-8FF4-4692-8A24-5BD6BDEF9743}"/>
              </a:ext>
            </a:extLst>
          </p:cNvPr>
          <p:cNvSpPr>
            <a:spLocks noGrp="1"/>
          </p:cNvSpPr>
          <p:nvPr/>
        </p:nvSpPr>
        <p:spPr>
          <a:xfrm>
            <a:off x="11599026" y="2313334"/>
            <a:ext cx="22860" cy="15240"/>
          </a:xfrm>
          <a:prstGeom prst="rect">
            <a:avLst/>
          </a:prstGeom>
          <a:solidFill>
            <a:srgbClr val="357496"/>
          </a:solidFill>
          <a:ln w="0">
            <a:noFill/>
          </a:ln>
        </p:spPr>
        <p:txBody>
          <a:bodyPr/>
          <a:lstStyle/>
          <a:p>
            <a:endParaRPr sz="1440"/>
          </a:p>
        </p:txBody>
      </p:sp>
      <p:sp>
        <p:nvSpPr>
          <p:cNvPr id="144" name="General relativity">
            <a:extLst>
              <a:ext uri="{FF2B5EF4-FFF2-40B4-BE49-F238E27FC236}">
                <a16:creationId xmlns:a16="http://schemas.microsoft.com/office/drawing/2014/main" id="{819BCB7A-1659-4A90-86F5-F67984E45CEC}"/>
              </a:ext>
            </a:extLst>
          </p:cNvPr>
          <p:cNvSpPr>
            <a:spLocks noGrp="1"/>
          </p:cNvSpPr>
          <p:nvPr/>
        </p:nvSpPr>
        <p:spPr>
          <a:xfrm>
            <a:off x="9535738" y="1955195"/>
            <a:ext cx="2552700" cy="339471"/>
          </a:xfrm>
          <a:prstGeom prst="rect">
            <a:avLst/>
          </a:prstGeom>
          <a:noFill/>
          <a:ln w="0">
            <a:noFill/>
          </a:ln>
        </p:spPr>
        <p:txBody>
          <a:bodyPr>
            <a:noAutofit/>
          </a:bodyPr>
          <a:lstStyle/>
          <a:p>
            <a:pPr algn="ctr">
              <a:buNone/>
              <a:defRPr sz="2025" b="1">
                <a:solidFill>
                  <a:srgbClr val="357496"/>
                </a:solidFill>
                <a:latin typeface="DejaVu Sans"/>
                <a:ea typeface="DejaVu Sans"/>
                <a:cs typeface="DejaVu Sans"/>
              </a:defRPr>
            </a:pPr>
            <a:r>
              <a:rPr sz="1620" b="1">
                <a:solidFill>
                  <a:srgbClr val="357496"/>
                </a:solidFill>
                <a:latin typeface="DejaVu Sans"/>
                <a:ea typeface="DejaVu Sans"/>
                <a:cs typeface="DejaVu Sans"/>
              </a:rPr>
              <a:t>General relativity</a:t>
            </a:r>
          </a:p>
        </p:txBody>
      </p:sp>
      <p:sp>
        <p:nvSpPr>
          <p:cNvPr id="145" name="Compact stars and strong gravity">
            <a:extLst>
              <a:ext uri="{FF2B5EF4-FFF2-40B4-BE49-F238E27FC236}">
                <a16:creationId xmlns:a16="http://schemas.microsoft.com/office/drawing/2014/main" id="{9F508277-02D5-4690-9D61-AAE660C65C15}"/>
              </a:ext>
            </a:extLst>
          </p:cNvPr>
          <p:cNvSpPr>
            <a:spLocks noGrp="1"/>
          </p:cNvSpPr>
          <p:nvPr/>
        </p:nvSpPr>
        <p:spPr>
          <a:xfrm>
            <a:off x="9535738" y="2397154"/>
            <a:ext cx="2552700" cy="201168"/>
          </a:xfrm>
          <a:prstGeom prst="rect">
            <a:avLst/>
          </a:prstGeom>
          <a:noFill/>
          <a:ln w="0">
            <a:noFill/>
          </a:ln>
        </p:spPr>
        <p:txBody>
          <a:bodyPr>
            <a:noAutofit/>
          </a:bodyPr>
          <a:lstStyle/>
          <a:p>
            <a:pPr algn="ctr">
              <a:buNone/>
              <a:defRPr sz="1200" b="0">
                <a:solidFill>
                  <a:srgbClr val="66717B"/>
                </a:solidFill>
                <a:latin typeface="DejaVu Sans"/>
                <a:ea typeface="DejaVu Sans"/>
                <a:cs typeface="DejaVu Sans"/>
              </a:defRPr>
            </a:pPr>
            <a:r>
              <a:rPr sz="960">
                <a:solidFill>
                  <a:srgbClr val="66717B"/>
                </a:solidFill>
                <a:latin typeface="DejaVu Sans"/>
                <a:ea typeface="DejaVu Sans"/>
                <a:cs typeface="DejaVu Sans"/>
              </a:rPr>
              <a:t>Compact stars and strong gravity</a:t>
            </a:r>
          </a:p>
        </p:txBody>
      </p:sp>
      <p:sp>
        <p:nvSpPr>
          <p:cNvPr id="146" name="ruler-line">
            <a:extLst>
              <a:ext uri="{FF2B5EF4-FFF2-40B4-BE49-F238E27FC236}">
                <a16:creationId xmlns:a16="http://schemas.microsoft.com/office/drawing/2014/main" id="{99973E1C-58AB-4124-B033-A95BD02423A3}"/>
              </a:ext>
            </a:extLst>
          </p:cNvPr>
          <p:cNvSpPr>
            <a:spLocks noGrp="1"/>
          </p:cNvSpPr>
          <p:nvPr/>
        </p:nvSpPr>
        <p:spPr>
          <a:xfrm>
            <a:off x="3489267" y="5339626"/>
            <a:ext cx="3325091" cy="15240"/>
          </a:xfrm>
          <a:prstGeom prst="rect">
            <a:avLst/>
          </a:prstGeom>
          <a:solidFill>
            <a:srgbClr val="BC5D24"/>
          </a:solidFill>
          <a:ln w="0">
            <a:noFill/>
          </a:ln>
        </p:spPr>
        <p:txBody>
          <a:bodyPr/>
          <a:lstStyle/>
          <a:p>
            <a:endParaRPr sz="1440"/>
          </a:p>
        </p:txBody>
      </p:sp>
      <p:sp>
        <p:nvSpPr>
          <p:cNvPr id="147" name="Quantitative biology and complex systems">
            <a:extLst>
              <a:ext uri="{FF2B5EF4-FFF2-40B4-BE49-F238E27FC236}">
                <a16:creationId xmlns:a16="http://schemas.microsoft.com/office/drawing/2014/main" id="{58812258-8870-4F1D-9F07-104CC5A67FA5}"/>
              </a:ext>
            </a:extLst>
          </p:cNvPr>
          <p:cNvSpPr>
            <a:spLocks noGrp="1"/>
          </p:cNvSpPr>
          <p:nvPr/>
        </p:nvSpPr>
        <p:spPr>
          <a:xfrm>
            <a:off x="2454333" y="5440787"/>
            <a:ext cx="5410200" cy="352044"/>
          </a:xfrm>
          <a:prstGeom prst="rect">
            <a:avLst/>
          </a:prstGeom>
          <a:noFill/>
          <a:ln w="0">
            <a:noFill/>
          </a:ln>
        </p:spPr>
        <p:txBody>
          <a:bodyPr>
            <a:noAutofit/>
          </a:bodyPr>
          <a:lstStyle/>
          <a:p>
            <a:pPr algn="ctr">
              <a:buNone/>
              <a:defRPr sz="2100" b="1">
                <a:solidFill>
                  <a:srgbClr val="BC5D24"/>
                </a:solidFill>
                <a:latin typeface="DejaVu Sans"/>
                <a:ea typeface="DejaVu Sans"/>
                <a:cs typeface="DejaVu Sans"/>
              </a:defRPr>
            </a:pPr>
            <a:r>
              <a:rPr sz="1680" b="1">
                <a:solidFill>
                  <a:srgbClr val="BC5D24"/>
                </a:solidFill>
                <a:latin typeface="DejaVu Sans"/>
                <a:ea typeface="DejaVu Sans"/>
                <a:cs typeface="DejaVu Sans"/>
              </a:rPr>
              <a:t>Quantitative biology and complex systems</a:t>
            </a:r>
          </a:p>
        </p:txBody>
      </p:sp>
      <p:sp>
        <p:nvSpPr>
          <p:cNvPr id="148" name="The frontier you are entering">
            <a:extLst>
              <a:ext uri="{FF2B5EF4-FFF2-40B4-BE49-F238E27FC236}">
                <a16:creationId xmlns:a16="http://schemas.microsoft.com/office/drawing/2014/main" id="{00CD67B5-0DC8-4AB1-9766-CE0FC6B6B380}"/>
              </a:ext>
            </a:extLst>
          </p:cNvPr>
          <p:cNvSpPr>
            <a:spLocks noGrp="1"/>
          </p:cNvSpPr>
          <p:nvPr/>
        </p:nvSpPr>
        <p:spPr>
          <a:xfrm>
            <a:off x="2873433" y="5732411"/>
            <a:ext cx="4572000" cy="301752"/>
          </a:xfrm>
          <a:prstGeom prst="rect">
            <a:avLst/>
          </a:prstGeom>
          <a:noFill/>
          <a:ln w="0">
            <a:noFill/>
          </a:ln>
        </p:spPr>
        <p:txBody>
          <a:bodyPr>
            <a:noAutofit/>
          </a:bodyPr>
          <a:lstStyle/>
          <a:p>
            <a:pPr algn="ctr">
              <a:buNone/>
              <a:defRPr sz="1800" b="0">
                <a:solidFill>
                  <a:srgbClr val="BC5D24"/>
                </a:solidFill>
                <a:latin typeface="DejaVu Sans"/>
                <a:ea typeface="DejaVu Sans"/>
                <a:cs typeface="DejaVu Sans"/>
              </a:defRPr>
            </a:pPr>
            <a:r>
              <a:rPr sz="1440">
                <a:solidFill>
                  <a:srgbClr val="BC5D24"/>
                </a:solidFill>
                <a:latin typeface="DejaVu Sans"/>
                <a:ea typeface="DejaVu Sans"/>
                <a:cs typeface="DejaVu Sans"/>
              </a:rPr>
              <a:t>The frontier you are entering</a:t>
            </a:r>
          </a:p>
        </p:txBody>
      </p:sp>
      <p:sp>
        <p:nvSpPr>
          <p:cNvPr id="149" name="Masses are approximate. Theory labels mark representative applications, not boundaries of validity.">
            <a:extLst>
              <a:ext uri="{FF2B5EF4-FFF2-40B4-BE49-F238E27FC236}">
                <a16:creationId xmlns:a16="http://schemas.microsoft.com/office/drawing/2014/main" id="{7819BA2E-80E3-4CAF-B584-7BE25B51E5FB}"/>
              </a:ext>
            </a:extLst>
          </p:cNvPr>
          <p:cNvSpPr>
            <a:spLocks noGrp="1"/>
          </p:cNvSpPr>
          <p:nvPr/>
        </p:nvSpPr>
        <p:spPr>
          <a:xfrm>
            <a:off x="670560" y="6355080"/>
            <a:ext cx="10896600" cy="213741"/>
          </a:xfrm>
          <a:prstGeom prst="rect">
            <a:avLst/>
          </a:prstGeom>
          <a:noFill/>
          <a:ln w="0">
            <a:noFill/>
          </a:ln>
        </p:spPr>
        <p:txBody>
          <a:bodyPr>
            <a:noAutofit/>
          </a:bodyPr>
          <a:lstStyle/>
          <a:p>
            <a:pPr algn="l">
              <a:buNone/>
              <a:defRPr sz="1275" b="0">
                <a:solidFill>
                  <a:srgbClr val="66717B"/>
                </a:solidFill>
                <a:latin typeface="DejaVu Sans"/>
                <a:ea typeface="DejaVu Sans"/>
                <a:cs typeface="DejaVu Sans"/>
              </a:defRPr>
            </a:pPr>
            <a:r>
              <a:rPr sz="1020">
                <a:solidFill>
                  <a:srgbClr val="66717B"/>
                </a:solidFill>
                <a:latin typeface="DejaVu Sans"/>
                <a:ea typeface="DejaVu Sans"/>
                <a:cs typeface="DejaVu Sans"/>
              </a:rPr>
              <a:t>Masses are approximate. Theory labels mark representative applications, not boundaries of validity.</a:t>
            </a:r>
          </a:p>
        </p:txBody>
      </p:sp>
      <p:sp>
        <p:nvSpPr>
          <p:cNvPr id="150" name="Living systems obey physical laws. Their organization still demands observation, estimation and model building.">
            <a:extLst>
              <a:ext uri="{FF2B5EF4-FFF2-40B4-BE49-F238E27FC236}">
                <a16:creationId xmlns:a16="http://schemas.microsoft.com/office/drawing/2014/main" id="{FD85ADCF-0394-4958-9753-5E7A49B2345C}"/>
              </a:ext>
            </a:extLst>
          </p:cNvPr>
          <p:cNvSpPr>
            <a:spLocks noGrp="1"/>
          </p:cNvSpPr>
          <p:nvPr/>
        </p:nvSpPr>
        <p:spPr>
          <a:xfrm>
            <a:off x="670560" y="6583680"/>
            <a:ext cx="10896600" cy="213741"/>
          </a:xfrm>
          <a:prstGeom prst="rect">
            <a:avLst/>
          </a:prstGeom>
          <a:noFill/>
          <a:ln w="0">
            <a:noFill/>
          </a:ln>
        </p:spPr>
        <p:txBody>
          <a:bodyPr>
            <a:noAutofit/>
          </a:bodyPr>
          <a:lstStyle/>
          <a:p>
            <a:pPr algn="l">
              <a:buNone/>
              <a:defRPr sz="1275" b="0">
                <a:solidFill>
                  <a:srgbClr val="202B36"/>
                </a:solidFill>
                <a:latin typeface="DejaVu Sans"/>
                <a:ea typeface="DejaVu Sans"/>
                <a:cs typeface="DejaVu Sans"/>
              </a:defRPr>
            </a:pPr>
            <a:r>
              <a:rPr sz="1020">
                <a:solidFill>
                  <a:srgbClr val="202B36"/>
                </a:solidFill>
                <a:latin typeface="DejaVu Sans"/>
                <a:ea typeface="DejaVu Sans"/>
                <a:cs typeface="DejaVu Sans"/>
              </a:rPr>
              <a:t>Living systems obey physical laws. Their organization still demands observation, estimation and model building.</a:t>
            </a:r>
          </a:p>
        </p:txBody>
      </p:sp>
      <p:sp>
        <p:nvSpPr>
          <p:cNvPr id="152" name="文本框 2">
            <a:extLst>
              <a:ext uri="{FF2B5EF4-FFF2-40B4-BE49-F238E27FC236}">
                <a16:creationId xmlns:a16="http://schemas.microsoft.com/office/drawing/2014/main" id="{4983D669-BFC2-0E95-0278-236571E5D275}"/>
              </a:ext>
            </a:extLst>
          </p:cNvPr>
          <p:cNvSpPr>
            <a:spLocks noGrp="1"/>
          </p:cNvSpPr>
          <p:nvPr/>
        </p:nvSpPr>
        <p:spPr>
          <a:xfrm>
            <a:off x="546442" y="190859"/>
            <a:ext cx="11128884" cy="646331"/>
          </a:xfrm>
          <a:prstGeom prst="rect">
            <a:avLst/>
          </a:prstGeom>
          <a:noFill/>
        </p:spPr>
        <p:txBody>
          <a:bodyPr wrap="square">
            <a:spAutoFit/>
          </a:bodyPr>
          <a:lstStyle/>
          <a:p>
            <a:pPr algn="ctr">
              <a:buNone/>
            </a:pPr>
            <a:r>
              <a:rPr sz="3600">
                <a:latin typeface="Mazda Type"/>
                <a:ea typeface="Mazda Type"/>
                <a:cs typeface="Mazda Type"/>
              </a:rPr>
              <a:t>Living and intelligent systems are frontiers for physics</a:t>
            </a:r>
          </a:p>
        </p:txBody>
      </p:sp>
    </p:spTree>
    <p:extLst>
      <p:ext uri="{BB962C8B-B14F-4D97-AF65-F5344CB8AC3E}">
        <p14:creationId xmlns:p14="http://schemas.microsoft.com/office/powerpoint/2010/main" val="1182863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60918" y="282218"/>
            <a:ext cx="4934153" cy="6293563"/>
          </a:xfrm>
          <a:prstGeom prst="rect">
            <a:avLst/>
          </a:prstGeom>
        </p:spPr>
      </p:pic>
      <p:sp>
        <p:nvSpPr>
          <p:cNvPr id="2" name="CIS principles bullets">
            <a:extLst>
              <a:ext uri="{FF2B5EF4-FFF2-40B4-BE49-F238E27FC236}">
                <a16:creationId xmlns:a16="http://schemas.microsoft.com/office/drawing/2014/main" id="{1D2682E0-8025-D3E1-E21E-36BFB9EA3CE8}"/>
              </a:ext>
            </a:extLst>
          </p:cNvPr>
          <p:cNvSpPr>
            <a:spLocks noGrp="1"/>
          </p:cNvSpPr>
          <p:nvPr/>
        </p:nvSpPr>
        <p:spPr>
          <a:xfrm>
            <a:off x="5553305" y="747131"/>
            <a:ext cx="6177777" cy="3914078"/>
          </a:xfrm>
          <a:prstGeom prst="rect">
            <a:avLst/>
          </a:prstGeom>
          <a:noFill/>
          <a:ln w="0">
            <a:noFill/>
          </a:ln>
        </p:spPr>
        <p:txBody>
          <a:bodyPr>
            <a:noAutofit/>
          </a:bodyPr>
          <a:lstStyle/>
          <a:p>
            <a:pPr marL="304800" indent="-152400">
              <a:lnSpc>
                <a:spcPct val="150000"/>
              </a:lnSpc>
              <a:spcAft>
                <a:spcPts val="2400"/>
              </a:spcAft>
              <a:buChar char="•"/>
              <a:defRPr sz="2400" b="0">
                <a:solidFill>
                  <a:srgbClr val="000000"/>
                </a:solidFill>
                <a:latin typeface="Arial"/>
                <a:ea typeface="Arial"/>
                <a:cs typeface="Arial"/>
              </a:defRPr>
            </a:pPr>
            <a:r>
              <a:rPr sz="2400" b="0">
                <a:solidFill>
                  <a:srgbClr val="000000"/>
                </a:solidFill>
                <a:latin typeface="Mazda Type"/>
                <a:ea typeface="Mazda Type"/>
                <a:cs typeface="Mazda Type"/>
              </a:rPr>
              <a:t>CIS aims to explain living, intelligent and complex systems quantitatively.</a:t>
            </a:r>
          </a:p>
          <a:p>
            <a:pPr marL="304800" indent="-152400">
              <a:lnSpc>
                <a:spcPct val="150000"/>
              </a:lnSpc>
              <a:spcAft>
                <a:spcPts val="2400"/>
              </a:spcAft>
              <a:buChar char="•"/>
              <a:defRPr sz="2400" b="0">
                <a:solidFill>
                  <a:srgbClr val="000000"/>
                </a:solidFill>
                <a:latin typeface="Arial"/>
                <a:ea typeface="Arial"/>
                <a:cs typeface="Arial"/>
              </a:defRPr>
            </a:pPr>
            <a:r>
              <a:rPr sz="2400" b="0">
                <a:solidFill>
                  <a:srgbClr val="000000"/>
                </a:solidFill>
                <a:latin typeface="Mazda Type"/>
                <a:ea typeface="Mazda Type"/>
                <a:cs typeface="Mazda Type"/>
              </a:rPr>
              <a:t>This requires principles beyond the underlying physical laws. Many remain to be discovered.</a:t>
            </a:r>
          </a:p>
          <a:p>
            <a:pPr marL="304800" indent="-152400">
              <a:lnSpc>
                <a:spcPct val="150000"/>
              </a:lnSpc>
              <a:spcAft>
                <a:spcPts val="2400"/>
              </a:spcAft>
              <a:buChar char="•"/>
              <a:defRPr sz="2400" b="0">
                <a:solidFill>
                  <a:srgbClr val="000000"/>
                </a:solidFill>
                <a:latin typeface="Arial"/>
                <a:ea typeface="Arial"/>
                <a:cs typeface="Arial"/>
              </a:defRPr>
            </a:pPr>
            <a:r>
              <a:rPr sz="2400" b="0">
                <a:solidFill>
                  <a:srgbClr val="000000"/>
                </a:solidFill>
                <a:latin typeface="Mazda Type"/>
                <a:ea typeface="Mazda Type"/>
                <a:cs typeface="Mazda Type"/>
              </a:rPr>
              <a:t>The search requires translating real phenomena and questions into mathematical models.</a:t>
            </a:r>
          </a:p>
        </p:txBody>
      </p:sp>
    </p:spTree>
    <p:extLst>
      <p:ext uri="{BB962C8B-B14F-4D97-AF65-F5344CB8AC3E}">
        <p14:creationId xmlns:p14="http://schemas.microsoft.com/office/powerpoint/2010/main" val="4005500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tage 1: Alien world">
            <a:extLst>
              <a:ext uri="{FF2B5EF4-FFF2-40B4-BE49-F238E27FC236}">
                <a16:creationId xmlns:a16="http://schemas.microsoft.com/office/drawing/2014/main" id="{D5026516-EE97-40EB-BA8F-23938B19CE2C}"/>
              </a:ext>
            </a:extLst>
          </p:cNvPr>
          <p:cNvSpPr>
            <a:spLocks noGrp="1"/>
          </p:cNvSpPr>
          <p:nvPr/>
        </p:nvSpPr>
        <p:spPr>
          <a:xfrm>
            <a:off x="400050" y="2334787"/>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2" name="Label: Alien world">
            <a:extLst>
              <a:ext uri="{FF2B5EF4-FFF2-40B4-BE49-F238E27FC236}">
                <a16:creationId xmlns:a16="http://schemas.microsoft.com/office/drawing/2014/main" id="{10077174-57D3-4C85-B8E5-69E9E975798B}"/>
              </a:ext>
            </a:extLst>
          </p:cNvPr>
          <p:cNvSpPr>
            <a:spLocks noGrp="1"/>
          </p:cNvSpPr>
          <p:nvPr/>
        </p:nvSpPr>
        <p:spPr>
          <a:xfrm>
            <a:off x="514350" y="3468262"/>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Alien world</a:t>
            </a:r>
          </a:p>
        </p:txBody>
      </p:sp>
      <p:sp>
        <p:nvSpPr>
          <p:cNvPr id="3" name="Stage 2: Physical picture">
            <a:extLst>
              <a:ext uri="{FF2B5EF4-FFF2-40B4-BE49-F238E27FC236}">
                <a16:creationId xmlns:a16="http://schemas.microsoft.com/office/drawing/2014/main" id="{24E0667E-1F9C-4A56-809A-B135995ACB6B}"/>
              </a:ext>
            </a:extLst>
          </p:cNvPr>
          <p:cNvSpPr>
            <a:spLocks noGrp="1"/>
          </p:cNvSpPr>
          <p:nvPr/>
        </p:nvSpPr>
        <p:spPr>
          <a:xfrm>
            <a:off x="2800350" y="2334787"/>
            <a:ext cx="1809750" cy="1809750"/>
          </a:xfrm>
          <a:prstGeom prst="roundRect">
            <a:avLst>
              <a:gd name="adj" fmla="val 4211"/>
            </a:avLst>
          </a:prstGeom>
          <a:solidFill>
            <a:srgbClr val="FBF1EA"/>
          </a:solidFill>
          <a:ln w="19050">
            <a:solidFill>
              <a:srgbClr val="A8572A"/>
            </a:solidFill>
          </a:ln>
        </p:spPr>
        <p:txBody>
          <a:bodyPr/>
          <a:lstStyle/>
          <a:p>
            <a:endParaRPr/>
          </a:p>
        </p:txBody>
      </p:sp>
      <p:sp>
        <p:nvSpPr>
          <p:cNvPr id="4" name="Label: Physical picture">
            <a:extLst>
              <a:ext uri="{FF2B5EF4-FFF2-40B4-BE49-F238E27FC236}">
                <a16:creationId xmlns:a16="http://schemas.microsoft.com/office/drawing/2014/main" id="{925D7D1D-112C-4022-98CD-E0FA8BD97A21}"/>
              </a:ext>
            </a:extLst>
          </p:cNvPr>
          <p:cNvSpPr>
            <a:spLocks noGrp="1"/>
          </p:cNvSpPr>
          <p:nvPr/>
        </p:nvSpPr>
        <p:spPr>
          <a:xfrm>
            <a:off x="2914650" y="3468262"/>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Physical</a:t>
            </a:r>
          </a:p>
          <a:p>
            <a:pPr algn="ctr">
              <a:buNone/>
              <a:defRPr sz="1650" b="0">
                <a:solidFill>
                  <a:srgbClr val="252525"/>
                </a:solidFill>
                <a:latin typeface="Arial"/>
                <a:ea typeface="Arial"/>
                <a:cs typeface="Arial"/>
              </a:defRPr>
            </a:pPr>
            <a:r>
              <a:rPr sz="1650" b="0">
                <a:solidFill>
                  <a:srgbClr val="252525"/>
                </a:solidFill>
                <a:latin typeface="Arial"/>
                <a:ea typeface="Arial"/>
                <a:cs typeface="Arial"/>
              </a:rPr>
              <a:t>picture</a:t>
            </a:r>
          </a:p>
        </p:txBody>
      </p:sp>
      <p:sp>
        <p:nvSpPr>
          <p:cNvPr id="5" name="Stage 3: Quantitative phenomenon">
            <a:extLst>
              <a:ext uri="{FF2B5EF4-FFF2-40B4-BE49-F238E27FC236}">
                <a16:creationId xmlns:a16="http://schemas.microsoft.com/office/drawing/2014/main" id="{BFDFF2B5-D58F-4709-971F-508A38B17B3D}"/>
              </a:ext>
            </a:extLst>
          </p:cNvPr>
          <p:cNvSpPr>
            <a:spLocks noGrp="1"/>
          </p:cNvSpPr>
          <p:nvPr/>
        </p:nvSpPr>
        <p:spPr>
          <a:xfrm>
            <a:off x="5200650" y="2334787"/>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6" name="Label: Quantitative phenomenon">
            <a:extLst>
              <a:ext uri="{FF2B5EF4-FFF2-40B4-BE49-F238E27FC236}">
                <a16:creationId xmlns:a16="http://schemas.microsoft.com/office/drawing/2014/main" id="{F1AB6F7C-722A-44EF-909B-148AB876DB4A}"/>
              </a:ext>
            </a:extLst>
          </p:cNvPr>
          <p:cNvSpPr>
            <a:spLocks noGrp="1"/>
          </p:cNvSpPr>
          <p:nvPr/>
        </p:nvSpPr>
        <p:spPr>
          <a:xfrm>
            <a:off x="5314950" y="3468262"/>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Quantitative</a:t>
            </a:r>
          </a:p>
          <a:p>
            <a:pPr algn="ctr">
              <a:buNone/>
              <a:defRPr sz="1650" b="0">
                <a:solidFill>
                  <a:srgbClr val="252525"/>
                </a:solidFill>
                <a:latin typeface="Arial"/>
                <a:ea typeface="Arial"/>
                <a:cs typeface="Arial"/>
              </a:defRPr>
            </a:pPr>
            <a:r>
              <a:rPr sz="1650" b="0">
                <a:solidFill>
                  <a:srgbClr val="252525"/>
                </a:solidFill>
                <a:latin typeface="Arial"/>
                <a:ea typeface="Arial"/>
                <a:cs typeface="Arial"/>
              </a:rPr>
              <a:t>phenomenon</a:t>
            </a:r>
          </a:p>
        </p:txBody>
      </p:sp>
      <p:sp>
        <p:nvSpPr>
          <p:cNvPr id="7" name="Stage 4: Model">
            <a:extLst>
              <a:ext uri="{FF2B5EF4-FFF2-40B4-BE49-F238E27FC236}">
                <a16:creationId xmlns:a16="http://schemas.microsoft.com/office/drawing/2014/main" id="{E68ED7A1-7400-4522-8DA4-9059FA9F27E6}"/>
              </a:ext>
            </a:extLst>
          </p:cNvPr>
          <p:cNvSpPr>
            <a:spLocks noGrp="1"/>
          </p:cNvSpPr>
          <p:nvPr/>
        </p:nvSpPr>
        <p:spPr>
          <a:xfrm>
            <a:off x="7600950" y="2334787"/>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8" name="Label: Model">
            <a:extLst>
              <a:ext uri="{FF2B5EF4-FFF2-40B4-BE49-F238E27FC236}">
                <a16:creationId xmlns:a16="http://schemas.microsoft.com/office/drawing/2014/main" id="{DB658A88-67A9-4464-80DB-30043CF76035}"/>
              </a:ext>
            </a:extLst>
          </p:cNvPr>
          <p:cNvSpPr>
            <a:spLocks noGrp="1"/>
          </p:cNvSpPr>
          <p:nvPr/>
        </p:nvSpPr>
        <p:spPr>
          <a:xfrm>
            <a:off x="7715250" y="3468262"/>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Model</a:t>
            </a:r>
          </a:p>
        </p:txBody>
      </p:sp>
      <p:sp>
        <p:nvSpPr>
          <p:cNvPr id="9" name="Stage 5: Mathematics">
            <a:extLst>
              <a:ext uri="{FF2B5EF4-FFF2-40B4-BE49-F238E27FC236}">
                <a16:creationId xmlns:a16="http://schemas.microsoft.com/office/drawing/2014/main" id="{F0355630-90EE-4819-80FE-585CDCDA6F58}"/>
              </a:ext>
            </a:extLst>
          </p:cNvPr>
          <p:cNvSpPr>
            <a:spLocks noGrp="1"/>
          </p:cNvSpPr>
          <p:nvPr/>
        </p:nvSpPr>
        <p:spPr>
          <a:xfrm>
            <a:off x="10001250" y="2334787"/>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10" name="Label: Mathematics">
            <a:extLst>
              <a:ext uri="{FF2B5EF4-FFF2-40B4-BE49-F238E27FC236}">
                <a16:creationId xmlns:a16="http://schemas.microsoft.com/office/drawing/2014/main" id="{03F0459F-F8A8-4058-8CFF-B30621101412}"/>
              </a:ext>
            </a:extLst>
          </p:cNvPr>
          <p:cNvSpPr>
            <a:spLocks noGrp="1"/>
          </p:cNvSpPr>
          <p:nvPr/>
        </p:nvSpPr>
        <p:spPr>
          <a:xfrm>
            <a:off x="10115550" y="3468262"/>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Mathematics</a:t>
            </a:r>
          </a:p>
        </p:txBody>
      </p:sp>
      <p:sp>
        <p:nvSpPr>
          <p:cNvPr id="11" name="Arrow 1">
            <a:extLst>
              <a:ext uri="{FF2B5EF4-FFF2-40B4-BE49-F238E27FC236}">
                <a16:creationId xmlns:a16="http://schemas.microsoft.com/office/drawing/2014/main" id="{739CD9DE-21CB-4370-991E-4B7B227A1077}"/>
              </a:ext>
            </a:extLst>
          </p:cNvPr>
          <p:cNvSpPr>
            <a:spLocks noGrp="1"/>
          </p:cNvSpPr>
          <p:nvPr/>
        </p:nvSpPr>
        <p:spPr>
          <a:xfrm>
            <a:off x="2343150" y="3077737"/>
            <a:ext cx="323850" cy="285750"/>
          </a:xfrm>
          <a:prstGeom prst="rightArrow">
            <a:avLst/>
          </a:prstGeom>
          <a:solidFill>
            <a:srgbClr val="666666"/>
          </a:solidFill>
          <a:ln w="0">
            <a:noFill/>
          </a:ln>
        </p:spPr>
        <p:txBody>
          <a:bodyPr/>
          <a:lstStyle/>
          <a:p>
            <a:endParaRPr/>
          </a:p>
        </p:txBody>
      </p:sp>
      <p:sp>
        <p:nvSpPr>
          <p:cNvPr id="12" name="Arrow 2">
            <a:extLst>
              <a:ext uri="{FF2B5EF4-FFF2-40B4-BE49-F238E27FC236}">
                <a16:creationId xmlns:a16="http://schemas.microsoft.com/office/drawing/2014/main" id="{954B82E4-D60D-46A7-AF6A-5830BC7F9E0C}"/>
              </a:ext>
            </a:extLst>
          </p:cNvPr>
          <p:cNvSpPr>
            <a:spLocks noGrp="1"/>
          </p:cNvSpPr>
          <p:nvPr/>
        </p:nvSpPr>
        <p:spPr>
          <a:xfrm>
            <a:off x="4743450" y="3077737"/>
            <a:ext cx="323850" cy="285750"/>
          </a:xfrm>
          <a:prstGeom prst="rightArrow">
            <a:avLst/>
          </a:prstGeom>
          <a:solidFill>
            <a:srgbClr val="666666"/>
          </a:solidFill>
          <a:ln w="0">
            <a:noFill/>
          </a:ln>
        </p:spPr>
        <p:txBody>
          <a:bodyPr/>
          <a:lstStyle/>
          <a:p>
            <a:endParaRPr/>
          </a:p>
        </p:txBody>
      </p:sp>
      <p:sp>
        <p:nvSpPr>
          <p:cNvPr id="13" name="Arrow 3">
            <a:extLst>
              <a:ext uri="{FF2B5EF4-FFF2-40B4-BE49-F238E27FC236}">
                <a16:creationId xmlns:a16="http://schemas.microsoft.com/office/drawing/2014/main" id="{1A19D049-2D66-45B9-A9BA-1BF0C68B5B7F}"/>
              </a:ext>
            </a:extLst>
          </p:cNvPr>
          <p:cNvSpPr>
            <a:spLocks noGrp="1"/>
          </p:cNvSpPr>
          <p:nvPr/>
        </p:nvSpPr>
        <p:spPr>
          <a:xfrm>
            <a:off x="7143750" y="3077737"/>
            <a:ext cx="323850" cy="285750"/>
          </a:xfrm>
          <a:prstGeom prst="rightArrow">
            <a:avLst/>
          </a:prstGeom>
          <a:solidFill>
            <a:srgbClr val="666666"/>
          </a:solidFill>
          <a:ln w="0">
            <a:noFill/>
          </a:ln>
        </p:spPr>
        <p:txBody>
          <a:bodyPr/>
          <a:lstStyle/>
          <a:p>
            <a:endParaRPr/>
          </a:p>
        </p:txBody>
      </p:sp>
      <p:sp>
        <p:nvSpPr>
          <p:cNvPr id="14" name="Arrow 4">
            <a:extLst>
              <a:ext uri="{FF2B5EF4-FFF2-40B4-BE49-F238E27FC236}">
                <a16:creationId xmlns:a16="http://schemas.microsoft.com/office/drawing/2014/main" id="{3CF0C955-BC3B-4A64-A5CC-C742D68F2116}"/>
              </a:ext>
            </a:extLst>
          </p:cNvPr>
          <p:cNvSpPr>
            <a:spLocks noGrp="1"/>
          </p:cNvSpPr>
          <p:nvPr/>
        </p:nvSpPr>
        <p:spPr>
          <a:xfrm>
            <a:off x="9544050" y="3077737"/>
            <a:ext cx="323850" cy="285750"/>
          </a:xfrm>
          <a:prstGeom prst="rightArrow">
            <a:avLst/>
          </a:prstGeom>
          <a:solidFill>
            <a:srgbClr val="666666"/>
          </a:solidFill>
          <a:ln w="0">
            <a:noFill/>
          </a:ln>
        </p:spPr>
        <p:txBody>
          <a:bodyPr/>
          <a:lstStyle/>
          <a:p>
            <a:endParaRPr/>
          </a:p>
        </p:txBody>
      </p:sp>
      <p:sp>
        <p:nvSpPr>
          <p:cNvPr id="15" name="Alien world planet">
            <a:extLst>
              <a:ext uri="{FF2B5EF4-FFF2-40B4-BE49-F238E27FC236}">
                <a16:creationId xmlns:a16="http://schemas.microsoft.com/office/drawing/2014/main" id="{31264BA5-35EC-48BF-B248-C6041BBFA070}"/>
              </a:ext>
            </a:extLst>
          </p:cNvPr>
          <p:cNvSpPr>
            <a:spLocks noGrp="1"/>
          </p:cNvSpPr>
          <p:nvPr/>
        </p:nvSpPr>
        <p:spPr>
          <a:xfrm>
            <a:off x="1066800" y="2630062"/>
            <a:ext cx="476250" cy="476250"/>
          </a:xfrm>
          <a:prstGeom prst="ellipse">
            <a:avLst/>
          </a:prstGeom>
          <a:noFill/>
          <a:ln w="28575">
            <a:solidFill>
              <a:srgbClr val="A8572A"/>
            </a:solidFill>
          </a:ln>
        </p:spPr>
        <p:txBody>
          <a:bodyPr/>
          <a:lstStyle/>
          <a:p>
            <a:endParaRPr/>
          </a:p>
        </p:txBody>
      </p:sp>
      <p:sp>
        <p:nvSpPr>
          <p:cNvPr id="16" name="Alien world orbit">
            <a:extLst>
              <a:ext uri="{FF2B5EF4-FFF2-40B4-BE49-F238E27FC236}">
                <a16:creationId xmlns:a16="http://schemas.microsoft.com/office/drawing/2014/main" id="{DC13DF33-16C9-473B-85D2-58D92B47F917}"/>
              </a:ext>
            </a:extLst>
          </p:cNvPr>
          <p:cNvSpPr>
            <a:spLocks noGrp="1"/>
          </p:cNvSpPr>
          <p:nvPr/>
        </p:nvSpPr>
        <p:spPr>
          <a:xfrm>
            <a:off x="904875" y="2972962"/>
            <a:ext cx="819150" cy="38100"/>
          </a:xfrm>
          <a:prstGeom prst="line">
            <a:avLst/>
          </a:prstGeom>
          <a:solidFill>
            <a:srgbClr val="A8572A"/>
          </a:solidFill>
          <a:ln w="28575">
            <a:solidFill>
              <a:srgbClr val="A8572A"/>
            </a:solidFill>
          </a:ln>
        </p:spPr>
        <p:txBody>
          <a:bodyPr/>
          <a:lstStyle/>
          <a:p>
            <a:endParaRPr/>
          </a:p>
        </p:txBody>
      </p:sp>
      <p:sp>
        <p:nvSpPr>
          <p:cNvPr id="17" name="Alien world moon">
            <a:extLst>
              <a:ext uri="{FF2B5EF4-FFF2-40B4-BE49-F238E27FC236}">
                <a16:creationId xmlns:a16="http://schemas.microsoft.com/office/drawing/2014/main" id="{2F5BC244-7CBB-4149-96BB-D4CADF821EA6}"/>
              </a:ext>
            </a:extLst>
          </p:cNvPr>
          <p:cNvSpPr>
            <a:spLocks noGrp="1"/>
          </p:cNvSpPr>
          <p:nvPr/>
        </p:nvSpPr>
        <p:spPr>
          <a:xfrm>
            <a:off x="1600200" y="2677687"/>
            <a:ext cx="76200" cy="76200"/>
          </a:xfrm>
          <a:prstGeom prst="ellipse">
            <a:avLst/>
          </a:prstGeom>
          <a:solidFill>
            <a:srgbClr val="A8572A"/>
          </a:solidFill>
          <a:ln w="0">
            <a:noFill/>
          </a:ln>
        </p:spPr>
        <p:txBody>
          <a:bodyPr/>
          <a:lstStyle/>
          <a:p>
            <a:endParaRPr/>
          </a:p>
        </p:txBody>
      </p:sp>
      <p:sp>
        <p:nvSpPr>
          <p:cNvPr id="18" name="Oval 17">
            <a:extLst>
              <a:ext uri="{FF2B5EF4-FFF2-40B4-BE49-F238E27FC236}">
                <a16:creationId xmlns:a16="http://schemas.microsoft.com/office/drawing/2014/main" id="{537A6431-004B-44D1-8C7E-A631BE445EE7}"/>
              </a:ext>
            </a:extLst>
          </p:cNvPr>
          <p:cNvSpPr>
            <a:spLocks noGrp="1"/>
          </p:cNvSpPr>
          <p:nvPr/>
        </p:nvSpPr>
        <p:spPr>
          <a:xfrm>
            <a:off x="3171825" y="2849137"/>
            <a:ext cx="285750" cy="285750"/>
          </a:xfrm>
          <a:prstGeom prst="ellipse">
            <a:avLst/>
          </a:prstGeom>
          <a:solidFill>
            <a:srgbClr val="FFFFFF"/>
          </a:solidFill>
          <a:ln w="19050">
            <a:solidFill>
              <a:srgbClr val="252525"/>
            </a:solidFill>
          </a:ln>
        </p:spPr>
        <p:txBody>
          <a:bodyPr/>
          <a:lstStyle/>
          <a:p>
            <a:endParaRPr/>
          </a:p>
        </p:txBody>
      </p:sp>
      <p:sp>
        <p:nvSpPr>
          <p:cNvPr id="19" name="Oval 18">
            <a:extLst>
              <a:ext uri="{FF2B5EF4-FFF2-40B4-BE49-F238E27FC236}">
                <a16:creationId xmlns:a16="http://schemas.microsoft.com/office/drawing/2014/main" id="{EE532A5C-67CB-4710-8856-9180E1E504CC}"/>
              </a:ext>
            </a:extLst>
          </p:cNvPr>
          <p:cNvSpPr>
            <a:spLocks noGrp="1"/>
          </p:cNvSpPr>
          <p:nvPr/>
        </p:nvSpPr>
        <p:spPr>
          <a:xfrm>
            <a:off x="3571875" y="2601487"/>
            <a:ext cx="285750" cy="285750"/>
          </a:xfrm>
          <a:prstGeom prst="ellipse">
            <a:avLst/>
          </a:prstGeom>
          <a:solidFill>
            <a:srgbClr val="FFFFFF"/>
          </a:solidFill>
          <a:ln w="19050">
            <a:solidFill>
              <a:srgbClr val="252525"/>
            </a:solidFill>
          </a:ln>
        </p:spPr>
        <p:txBody>
          <a:bodyPr/>
          <a:lstStyle/>
          <a:p>
            <a:endParaRPr/>
          </a:p>
        </p:txBody>
      </p:sp>
      <p:sp>
        <p:nvSpPr>
          <p:cNvPr id="20" name="Oval 19">
            <a:extLst>
              <a:ext uri="{FF2B5EF4-FFF2-40B4-BE49-F238E27FC236}">
                <a16:creationId xmlns:a16="http://schemas.microsoft.com/office/drawing/2014/main" id="{1CEEFF31-7EAC-4E1F-8813-2ECC85F95D3C}"/>
              </a:ext>
            </a:extLst>
          </p:cNvPr>
          <p:cNvSpPr>
            <a:spLocks noGrp="1"/>
          </p:cNvSpPr>
          <p:nvPr/>
        </p:nvSpPr>
        <p:spPr>
          <a:xfrm>
            <a:off x="3971925" y="2849137"/>
            <a:ext cx="285750" cy="285750"/>
          </a:xfrm>
          <a:prstGeom prst="ellipse">
            <a:avLst/>
          </a:prstGeom>
          <a:solidFill>
            <a:srgbClr val="FFFFFF"/>
          </a:solidFill>
          <a:ln w="19050">
            <a:solidFill>
              <a:srgbClr val="252525"/>
            </a:solidFill>
          </a:ln>
        </p:spPr>
        <p:txBody>
          <a:bodyPr/>
          <a:lstStyle/>
          <a:p>
            <a:endParaRPr/>
          </a:p>
        </p:txBody>
      </p:sp>
      <p:sp>
        <p:nvSpPr>
          <p:cNvPr id="21" name="Rectangle 20">
            <a:extLst>
              <a:ext uri="{FF2B5EF4-FFF2-40B4-BE49-F238E27FC236}">
                <a16:creationId xmlns:a16="http://schemas.microsoft.com/office/drawing/2014/main" id="{39DC8E1C-93D5-4926-B5C7-55B643885E8C}"/>
              </a:ext>
            </a:extLst>
          </p:cNvPr>
          <p:cNvSpPr>
            <a:spLocks noGrp="1"/>
          </p:cNvSpPr>
          <p:nvPr/>
        </p:nvSpPr>
        <p:spPr>
          <a:xfrm>
            <a:off x="3438525" y="2906287"/>
            <a:ext cx="209550" cy="28575"/>
          </a:xfrm>
          <a:prstGeom prst="rect">
            <a:avLst/>
          </a:prstGeom>
          <a:solidFill>
            <a:srgbClr val="666666"/>
          </a:solidFill>
          <a:ln w="0">
            <a:noFill/>
          </a:ln>
        </p:spPr>
        <p:txBody>
          <a:bodyPr/>
          <a:lstStyle/>
          <a:p>
            <a:endParaRPr/>
          </a:p>
        </p:txBody>
      </p:sp>
      <p:sp>
        <p:nvSpPr>
          <p:cNvPr id="22" name="Rectangle 21">
            <a:extLst>
              <a:ext uri="{FF2B5EF4-FFF2-40B4-BE49-F238E27FC236}">
                <a16:creationId xmlns:a16="http://schemas.microsoft.com/office/drawing/2014/main" id="{B6D6158F-D8F2-4713-ABFE-ECCC8AA36CCA}"/>
              </a:ext>
            </a:extLst>
          </p:cNvPr>
          <p:cNvSpPr>
            <a:spLocks noGrp="1"/>
          </p:cNvSpPr>
          <p:nvPr/>
        </p:nvSpPr>
        <p:spPr>
          <a:xfrm>
            <a:off x="3790950" y="2906287"/>
            <a:ext cx="209550" cy="28575"/>
          </a:xfrm>
          <a:prstGeom prst="rect">
            <a:avLst/>
          </a:prstGeom>
          <a:solidFill>
            <a:srgbClr val="666666"/>
          </a:solidFill>
          <a:ln w="0">
            <a:noFill/>
          </a:ln>
        </p:spPr>
        <p:txBody>
          <a:bodyPr/>
          <a:lstStyle/>
          <a:p>
            <a:endParaRPr/>
          </a:p>
        </p:txBody>
      </p:sp>
      <p:sp>
        <p:nvSpPr>
          <p:cNvPr id="23" name="Rectangle 22">
            <a:extLst>
              <a:ext uri="{FF2B5EF4-FFF2-40B4-BE49-F238E27FC236}">
                <a16:creationId xmlns:a16="http://schemas.microsoft.com/office/drawing/2014/main" id="{2B0D2EE1-628E-4B92-A21B-7ADF439A1F4C}"/>
              </a:ext>
            </a:extLst>
          </p:cNvPr>
          <p:cNvSpPr>
            <a:spLocks noGrp="1"/>
          </p:cNvSpPr>
          <p:nvPr/>
        </p:nvSpPr>
        <p:spPr>
          <a:xfrm>
            <a:off x="5705475" y="3001537"/>
            <a:ext cx="161925" cy="257175"/>
          </a:xfrm>
          <a:prstGeom prst="rect">
            <a:avLst/>
          </a:prstGeom>
          <a:solidFill>
            <a:srgbClr val="252525"/>
          </a:solidFill>
          <a:ln w="0">
            <a:noFill/>
          </a:ln>
        </p:spPr>
        <p:txBody>
          <a:bodyPr/>
          <a:lstStyle/>
          <a:p>
            <a:endParaRPr/>
          </a:p>
        </p:txBody>
      </p:sp>
      <p:sp>
        <p:nvSpPr>
          <p:cNvPr id="24" name="Rectangle 23">
            <a:extLst>
              <a:ext uri="{FF2B5EF4-FFF2-40B4-BE49-F238E27FC236}">
                <a16:creationId xmlns:a16="http://schemas.microsoft.com/office/drawing/2014/main" id="{C347F293-44B2-414E-9A30-2067265BEF52}"/>
              </a:ext>
            </a:extLst>
          </p:cNvPr>
          <p:cNvSpPr>
            <a:spLocks noGrp="1"/>
          </p:cNvSpPr>
          <p:nvPr/>
        </p:nvSpPr>
        <p:spPr>
          <a:xfrm>
            <a:off x="6019800" y="2791987"/>
            <a:ext cx="161925" cy="466725"/>
          </a:xfrm>
          <a:prstGeom prst="rect">
            <a:avLst/>
          </a:prstGeom>
          <a:solidFill>
            <a:srgbClr val="252525"/>
          </a:solidFill>
          <a:ln w="0">
            <a:noFill/>
          </a:ln>
        </p:spPr>
        <p:txBody>
          <a:bodyPr/>
          <a:lstStyle/>
          <a:p>
            <a:endParaRPr/>
          </a:p>
        </p:txBody>
      </p:sp>
      <p:sp>
        <p:nvSpPr>
          <p:cNvPr id="25" name="Rectangle 24">
            <a:extLst>
              <a:ext uri="{FF2B5EF4-FFF2-40B4-BE49-F238E27FC236}">
                <a16:creationId xmlns:a16="http://schemas.microsoft.com/office/drawing/2014/main" id="{EB77102F-A7A2-4C5E-9F74-84A05B977980}"/>
              </a:ext>
            </a:extLst>
          </p:cNvPr>
          <p:cNvSpPr>
            <a:spLocks noGrp="1"/>
          </p:cNvSpPr>
          <p:nvPr/>
        </p:nvSpPr>
        <p:spPr>
          <a:xfrm>
            <a:off x="6334125" y="2572912"/>
            <a:ext cx="161925" cy="685800"/>
          </a:xfrm>
          <a:prstGeom prst="rect">
            <a:avLst/>
          </a:prstGeom>
          <a:solidFill>
            <a:srgbClr val="252525"/>
          </a:solidFill>
          <a:ln w="0">
            <a:noFill/>
          </a:ln>
        </p:spPr>
        <p:txBody>
          <a:bodyPr/>
          <a:lstStyle/>
          <a:p>
            <a:endParaRPr/>
          </a:p>
        </p:txBody>
      </p:sp>
      <p:sp>
        <p:nvSpPr>
          <p:cNvPr id="26" name="Rectangle 25">
            <a:extLst>
              <a:ext uri="{FF2B5EF4-FFF2-40B4-BE49-F238E27FC236}">
                <a16:creationId xmlns:a16="http://schemas.microsoft.com/office/drawing/2014/main" id="{8091605F-B7B6-4A3C-B2C1-7B6BCEE11A44}"/>
              </a:ext>
            </a:extLst>
          </p:cNvPr>
          <p:cNvSpPr>
            <a:spLocks noGrp="1"/>
          </p:cNvSpPr>
          <p:nvPr/>
        </p:nvSpPr>
        <p:spPr>
          <a:xfrm>
            <a:off x="5600700" y="3258712"/>
            <a:ext cx="1000125" cy="28575"/>
          </a:xfrm>
          <a:prstGeom prst="rect">
            <a:avLst/>
          </a:prstGeom>
          <a:solidFill>
            <a:srgbClr val="666666"/>
          </a:solidFill>
          <a:ln w="0">
            <a:noFill/>
          </a:ln>
        </p:spPr>
        <p:txBody>
          <a:bodyPr/>
          <a:lstStyle/>
          <a:p>
            <a:endParaRPr/>
          </a:p>
        </p:txBody>
      </p:sp>
      <p:sp>
        <p:nvSpPr>
          <p:cNvPr id="27" name="Model boundary">
            <a:extLst>
              <a:ext uri="{FF2B5EF4-FFF2-40B4-BE49-F238E27FC236}">
                <a16:creationId xmlns:a16="http://schemas.microsoft.com/office/drawing/2014/main" id="{BA4C05DC-174C-4B46-8F0D-1A2BE074BADC}"/>
              </a:ext>
            </a:extLst>
          </p:cNvPr>
          <p:cNvSpPr>
            <a:spLocks noGrp="1"/>
          </p:cNvSpPr>
          <p:nvPr/>
        </p:nvSpPr>
        <p:spPr>
          <a:xfrm>
            <a:off x="8001000" y="2563387"/>
            <a:ext cx="1009650" cy="742950"/>
          </a:xfrm>
          <a:prstGeom prst="rect">
            <a:avLst/>
          </a:prstGeom>
          <a:solidFill>
            <a:srgbClr val="FFFFFF"/>
          </a:solidFill>
          <a:ln w="19050">
            <a:solidFill>
              <a:srgbClr val="252525"/>
            </a:solidFill>
          </a:ln>
        </p:spPr>
        <p:txBody>
          <a:bodyPr/>
          <a:lstStyle/>
          <a:p>
            <a:endParaRPr/>
          </a:p>
        </p:txBody>
      </p:sp>
      <p:sp>
        <p:nvSpPr>
          <p:cNvPr id="28" name="Oval 27">
            <a:extLst>
              <a:ext uri="{FF2B5EF4-FFF2-40B4-BE49-F238E27FC236}">
                <a16:creationId xmlns:a16="http://schemas.microsoft.com/office/drawing/2014/main" id="{5C087F44-7CDF-4B45-9483-65A495A7432A}"/>
              </a:ext>
            </a:extLst>
          </p:cNvPr>
          <p:cNvSpPr>
            <a:spLocks noGrp="1"/>
          </p:cNvSpPr>
          <p:nvPr/>
        </p:nvSpPr>
        <p:spPr>
          <a:xfrm>
            <a:off x="8153400" y="2791987"/>
            <a:ext cx="209550" cy="209550"/>
          </a:xfrm>
          <a:prstGeom prst="ellipse">
            <a:avLst/>
          </a:prstGeom>
          <a:solidFill>
            <a:srgbClr val="252525"/>
          </a:solidFill>
          <a:ln w="0">
            <a:noFill/>
          </a:ln>
        </p:spPr>
        <p:txBody>
          <a:bodyPr/>
          <a:lstStyle/>
          <a:p>
            <a:endParaRPr/>
          </a:p>
        </p:txBody>
      </p:sp>
      <p:sp>
        <p:nvSpPr>
          <p:cNvPr id="29" name="Oval 28">
            <a:extLst>
              <a:ext uri="{FF2B5EF4-FFF2-40B4-BE49-F238E27FC236}">
                <a16:creationId xmlns:a16="http://schemas.microsoft.com/office/drawing/2014/main" id="{5B468251-ABD4-4E1E-B7F7-B37F6B0CC042}"/>
              </a:ext>
            </a:extLst>
          </p:cNvPr>
          <p:cNvSpPr>
            <a:spLocks noGrp="1"/>
          </p:cNvSpPr>
          <p:nvPr/>
        </p:nvSpPr>
        <p:spPr>
          <a:xfrm>
            <a:off x="8648700" y="2791987"/>
            <a:ext cx="209550" cy="209550"/>
          </a:xfrm>
          <a:prstGeom prst="ellipse">
            <a:avLst/>
          </a:prstGeom>
          <a:solidFill>
            <a:srgbClr val="252525"/>
          </a:solidFill>
          <a:ln w="0">
            <a:noFill/>
          </a:ln>
        </p:spPr>
        <p:txBody>
          <a:bodyPr/>
          <a:lstStyle/>
          <a:p>
            <a:endParaRPr/>
          </a:p>
        </p:txBody>
      </p:sp>
      <p:sp>
        <p:nvSpPr>
          <p:cNvPr id="30" name="Right Arrow 29">
            <a:extLst>
              <a:ext uri="{FF2B5EF4-FFF2-40B4-BE49-F238E27FC236}">
                <a16:creationId xmlns:a16="http://schemas.microsoft.com/office/drawing/2014/main" id="{BB1D4FF6-E1CB-49FB-9350-B0A5D4049453}"/>
              </a:ext>
            </a:extLst>
          </p:cNvPr>
          <p:cNvSpPr>
            <a:spLocks noGrp="1"/>
          </p:cNvSpPr>
          <p:nvPr/>
        </p:nvSpPr>
        <p:spPr>
          <a:xfrm>
            <a:off x="8382000" y="2820562"/>
            <a:ext cx="247650" cy="152400"/>
          </a:xfrm>
          <a:prstGeom prst="rightArrow">
            <a:avLst/>
          </a:prstGeom>
          <a:solidFill>
            <a:srgbClr val="666666"/>
          </a:solidFill>
          <a:ln w="0">
            <a:noFill/>
          </a:ln>
        </p:spPr>
        <p:txBody>
          <a:bodyPr/>
          <a:lstStyle/>
          <a:p>
            <a:endParaRPr/>
          </a:p>
        </p:txBody>
      </p:sp>
      <p:sp>
        <p:nvSpPr>
          <p:cNvPr id="31" name="Label: dx/dt = f(x)">
            <a:extLst>
              <a:ext uri="{FF2B5EF4-FFF2-40B4-BE49-F238E27FC236}">
                <a16:creationId xmlns:a16="http://schemas.microsoft.com/office/drawing/2014/main" id="{FD5E761B-0216-46B1-A5F2-1BC7C207E76A}"/>
              </a:ext>
            </a:extLst>
          </p:cNvPr>
          <p:cNvSpPr>
            <a:spLocks noGrp="1"/>
          </p:cNvSpPr>
          <p:nvPr/>
        </p:nvSpPr>
        <p:spPr>
          <a:xfrm>
            <a:off x="10172700" y="2630062"/>
            <a:ext cx="1466850" cy="590550"/>
          </a:xfrm>
          <a:prstGeom prst="rect">
            <a:avLst/>
          </a:prstGeom>
          <a:noFill/>
          <a:ln w="0">
            <a:noFill/>
          </a:ln>
        </p:spPr>
        <p:txBody>
          <a:bodyPr anchor="ctr">
            <a:noAutofit/>
          </a:bodyPr>
          <a:lstStyle/>
          <a:p>
            <a:pPr algn="ctr">
              <a:buNone/>
              <a:defRPr sz="1950" b="0">
                <a:solidFill>
                  <a:srgbClr val="252525"/>
                </a:solidFill>
                <a:latin typeface="Arial"/>
                <a:ea typeface="Arial"/>
                <a:cs typeface="Arial"/>
              </a:defRPr>
            </a:pPr>
            <a:r>
              <a:rPr sz="1950" b="0">
                <a:solidFill>
                  <a:srgbClr val="252525"/>
                </a:solidFill>
                <a:latin typeface="Arial"/>
                <a:ea typeface="Arial"/>
                <a:cs typeface="Arial"/>
              </a:rPr>
              <a:t>dx/dt = f(x)</a:t>
            </a:r>
          </a:p>
        </p:txBody>
      </p:sp>
      <p:sp>
        <p:nvSpPr>
          <p:cNvPr id="33" name="文本框 2">
            <a:extLst>
              <a:ext uri="{FF2B5EF4-FFF2-40B4-BE49-F238E27FC236}">
                <a16:creationId xmlns:a16="http://schemas.microsoft.com/office/drawing/2014/main" id="{0D86E1BC-0896-62BE-B842-3AAEF144ED63}"/>
              </a:ext>
            </a:extLst>
          </p:cNvPr>
          <p:cNvSpPr>
            <a:spLocks noGrp="1"/>
          </p:cNvSpPr>
          <p:nvPr/>
        </p:nvSpPr>
        <p:spPr>
          <a:xfrm>
            <a:off x="567816" y="636907"/>
            <a:ext cx="11128884" cy="646331"/>
          </a:xfrm>
          <a:prstGeom prst="rect">
            <a:avLst/>
          </a:prstGeom>
          <a:noFill/>
        </p:spPr>
        <p:txBody>
          <a:bodyPr wrap="square">
            <a:spAutoFit/>
          </a:bodyPr>
          <a:lstStyle/>
          <a:p>
            <a:pPr algn="ctr">
              <a:buNone/>
            </a:pPr>
            <a:r>
              <a:rPr lang="en-US" sz="3600" dirty="0">
                <a:latin typeface="Mazda Type"/>
                <a:ea typeface="Mazda Type"/>
                <a:cs typeface="Mazda Type"/>
              </a:rPr>
              <a:t>How to build mathematical models</a:t>
            </a:r>
          </a:p>
        </p:txBody>
      </p:sp>
      <p:sp>
        <p:nvSpPr>
          <p:cNvPr id="34" name="文本框 2">
            <a:extLst>
              <a:ext uri="{FF2B5EF4-FFF2-40B4-BE49-F238E27FC236}">
                <a16:creationId xmlns:a16="http://schemas.microsoft.com/office/drawing/2014/main" id="{2BC7F779-D0DD-00DB-B4D3-59B86D1F4497}"/>
              </a:ext>
            </a:extLst>
          </p:cNvPr>
          <p:cNvSpPr>
            <a:spLocks noGrp="1"/>
          </p:cNvSpPr>
          <p:nvPr/>
        </p:nvSpPr>
        <p:spPr>
          <a:xfrm>
            <a:off x="400050" y="5759428"/>
            <a:ext cx="11128884" cy="461665"/>
          </a:xfrm>
          <a:prstGeom prst="rect">
            <a:avLst/>
          </a:prstGeom>
          <a:noFill/>
        </p:spPr>
        <p:txBody>
          <a:bodyPr wrap="square">
            <a:spAutoFit/>
          </a:bodyPr>
          <a:lstStyle/>
          <a:p>
            <a:pPr algn="ctr">
              <a:buNone/>
            </a:pPr>
            <a:r>
              <a:rPr sz="2400">
                <a:latin typeface="Mazda Type"/>
                <a:ea typeface="Mazda Type"/>
                <a:cs typeface="Mazda Type"/>
              </a:rPr>
              <a:t>Facts vary across systems; the model-building skill transfers.</a:t>
            </a:r>
          </a:p>
        </p:txBody>
      </p:sp>
      <p:sp>
        <p:nvSpPr>
          <p:cNvPr id="35" name="Highlight: quantitative phenomenon">
            <a:extLst>
              <a:ext uri="{FF2B5EF4-FFF2-40B4-BE49-F238E27FC236}">
                <a16:creationId xmlns:a16="http://schemas.microsoft.com/office/drawing/2014/main" id="{DCD11B79-CE2B-408A-8346-B47077F97133}"/>
              </a:ext>
            </a:extLst>
          </p:cNvPr>
          <p:cNvSpPr>
            <a:spLocks noGrp="1"/>
          </p:cNvSpPr>
          <p:nvPr/>
        </p:nvSpPr>
        <p:spPr>
          <a:xfrm>
            <a:off x="5200650" y="2334768"/>
            <a:ext cx="1809750" cy="1809750"/>
          </a:xfrm>
          <a:prstGeom prst="roundRect">
            <a:avLst>
              <a:gd name="adj" fmla="val 4211"/>
            </a:avLst>
          </a:prstGeom>
          <a:noFill/>
          <a:ln w="19050">
            <a:solidFill>
              <a:srgbClr val="A8572A"/>
            </a:solidFill>
          </a:ln>
        </p:spPr>
        <p:txBody>
          <a:bodyPr/>
          <a:lstStyle/>
          <a:p>
            <a:endParaRPr lang="en-US"/>
          </a:p>
        </p:txBody>
      </p:sp>
      <p:sp>
        <p:nvSpPr>
          <p:cNvPr id="36" name="Highlight: model">
            <a:extLst>
              <a:ext uri="{FF2B5EF4-FFF2-40B4-BE49-F238E27FC236}">
                <a16:creationId xmlns:a16="http://schemas.microsoft.com/office/drawing/2014/main" id="{28CD8DF5-BC46-48D2-B8EE-554B1082F54D}"/>
              </a:ext>
            </a:extLst>
          </p:cNvPr>
          <p:cNvSpPr>
            <a:spLocks noGrp="1"/>
          </p:cNvSpPr>
          <p:nvPr/>
        </p:nvSpPr>
        <p:spPr>
          <a:xfrm>
            <a:off x="7600950" y="2334768"/>
            <a:ext cx="1809750" cy="1809750"/>
          </a:xfrm>
          <a:prstGeom prst="roundRect">
            <a:avLst>
              <a:gd name="adj" fmla="val 4211"/>
            </a:avLst>
          </a:prstGeom>
          <a:noFill/>
          <a:ln w="19050">
            <a:solidFill>
              <a:srgbClr val="A8572A"/>
            </a:solidFill>
          </a:ln>
        </p:spPr>
        <p:txBody>
          <a:bodyPr/>
          <a:lstStyle/>
          <a:p>
            <a:endParaRPr lang="en-US"/>
          </a:p>
        </p:txBody>
      </p:sp>
      <p:sp>
        <p:nvSpPr>
          <p:cNvPr id="37" name="Critical step 1">
            <a:extLst>
              <a:ext uri="{FF2B5EF4-FFF2-40B4-BE49-F238E27FC236}">
                <a16:creationId xmlns:a16="http://schemas.microsoft.com/office/drawing/2014/main" id="{A2F59F3D-70F2-4737-8B84-CA81C3E341C4}"/>
              </a:ext>
            </a:extLst>
          </p:cNvPr>
          <p:cNvSpPr>
            <a:spLocks noGrp="1"/>
          </p:cNvSpPr>
          <p:nvPr/>
        </p:nvSpPr>
        <p:spPr>
          <a:xfrm>
            <a:off x="3571875" y="1952625"/>
            <a:ext cx="266700" cy="266700"/>
          </a:xfrm>
          <a:prstGeom prst="ellipse">
            <a:avLst/>
          </a:prstGeom>
          <a:solidFill>
            <a:srgbClr val="A8572A"/>
          </a:solidFill>
          <a:ln w="0">
            <a:noFill/>
          </a:ln>
        </p:spPr>
        <p:txBody>
          <a:bodyPr/>
          <a:lstStyle/>
          <a:p>
            <a:endParaRPr lang="en-US"/>
          </a:p>
        </p:txBody>
      </p:sp>
      <p:sp>
        <p:nvSpPr>
          <p:cNvPr id="38" name="Label: 1">
            <a:extLst>
              <a:ext uri="{FF2B5EF4-FFF2-40B4-BE49-F238E27FC236}">
                <a16:creationId xmlns:a16="http://schemas.microsoft.com/office/drawing/2014/main" id="{D05C6DC1-5BC1-4752-9FEA-4F940144841E}"/>
              </a:ext>
            </a:extLst>
          </p:cNvPr>
          <p:cNvSpPr>
            <a:spLocks noGrp="1"/>
          </p:cNvSpPr>
          <p:nvPr/>
        </p:nvSpPr>
        <p:spPr>
          <a:xfrm>
            <a:off x="3571875" y="1943100"/>
            <a:ext cx="266700" cy="266700"/>
          </a:xfrm>
          <a:prstGeom prst="rect">
            <a:avLst/>
          </a:prstGeom>
          <a:noFill/>
          <a:ln w="0">
            <a:noFill/>
          </a:ln>
        </p:spPr>
        <p:txBody>
          <a:bodyPr anchor="ctr">
            <a:noAutofit/>
          </a:bodyPr>
          <a:lstStyle/>
          <a:p>
            <a:pPr algn="ctr">
              <a:buNone/>
              <a:defRPr sz="1200" b="0">
                <a:solidFill>
                  <a:srgbClr val="FFFFFF"/>
                </a:solidFill>
                <a:latin typeface="Mazda Type"/>
                <a:ea typeface="Mazda Type"/>
                <a:cs typeface="Mazda Type"/>
              </a:defRPr>
            </a:pPr>
            <a:r>
              <a:rPr sz="1200" b="0">
                <a:solidFill>
                  <a:srgbClr val="FFFFFF"/>
                </a:solidFill>
                <a:latin typeface="Mazda Type"/>
                <a:ea typeface="Mazda Type"/>
                <a:cs typeface="Mazda Type"/>
              </a:rPr>
              <a:t>1</a:t>
            </a:r>
          </a:p>
        </p:txBody>
      </p:sp>
      <p:sp>
        <p:nvSpPr>
          <p:cNvPr id="39" name="Critical step 2">
            <a:extLst>
              <a:ext uri="{FF2B5EF4-FFF2-40B4-BE49-F238E27FC236}">
                <a16:creationId xmlns:a16="http://schemas.microsoft.com/office/drawing/2014/main" id="{5B1C119E-9656-400C-A740-24E28D8BB8DE}"/>
              </a:ext>
            </a:extLst>
          </p:cNvPr>
          <p:cNvSpPr>
            <a:spLocks noGrp="1"/>
          </p:cNvSpPr>
          <p:nvPr/>
        </p:nvSpPr>
        <p:spPr>
          <a:xfrm>
            <a:off x="5972175" y="1952625"/>
            <a:ext cx="266700" cy="266700"/>
          </a:xfrm>
          <a:prstGeom prst="ellipse">
            <a:avLst/>
          </a:prstGeom>
          <a:solidFill>
            <a:srgbClr val="A8572A"/>
          </a:solidFill>
          <a:ln w="0">
            <a:noFill/>
          </a:ln>
        </p:spPr>
        <p:txBody>
          <a:bodyPr/>
          <a:lstStyle/>
          <a:p>
            <a:endParaRPr lang="en-US"/>
          </a:p>
        </p:txBody>
      </p:sp>
      <p:sp>
        <p:nvSpPr>
          <p:cNvPr id="40" name="Label: 2">
            <a:extLst>
              <a:ext uri="{FF2B5EF4-FFF2-40B4-BE49-F238E27FC236}">
                <a16:creationId xmlns:a16="http://schemas.microsoft.com/office/drawing/2014/main" id="{2C4E124C-8E93-4EF0-BDD8-17612D0C7B93}"/>
              </a:ext>
            </a:extLst>
          </p:cNvPr>
          <p:cNvSpPr>
            <a:spLocks noGrp="1"/>
          </p:cNvSpPr>
          <p:nvPr/>
        </p:nvSpPr>
        <p:spPr>
          <a:xfrm>
            <a:off x="5972175" y="1943100"/>
            <a:ext cx="266700" cy="266700"/>
          </a:xfrm>
          <a:prstGeom prst="rect">
            <a:avLst/>
          </a:prstGeom>
          <a:noFill/>
          <a:ln w="0">
            <a:noFill/>
          </a:ln>
        </p:spPr>
        <p:txBody>
          <a:bodyPr anchor="ctr">
            <a:noAutofit/>
          </a:bodyPr>
          <a:lstStyle/>
          <a:p>
            <a:pPr algn="ctr">
              <a:buNone/>
              <a:defRPr sz="1200" b="0">
                <a:solidFill>
                  <a:srgbClr val="FFFFFF"/>
                </a:solidFill>
                <a:latin typeface="Mazda Type"/>
                <a:ea typeface="Mazda Type"/>
                <a:cs typeface="Mazda Type"/>
              </a:defRPr>
            </a:pPr>
            <a:r>
              <a:rPr sz="1200" b="0">
                <a:solidFill>
                  <a:srgbClr val="FFFFFF"/>
                </a:solidFill>
                <a:latin typeface="Mazda Type"/>
                <a:ea typeface="Mazda Type"/>
                <a:cs typeface="Mazda Type"/>
              </a:rPr>
              <a:t>2</a:t>
            </a:r>
          </a:p>
        </p:txBody>
      </p:sp>
      <p:sp>
        <p:nvSpPr>
          <p:cNvPr id="41" name="Critical step 3">
            <a:extLst>
              <a:ext uri="{FF2B5EF4-FFF2-40B4-BE49-F238E27FC236}">
                <a16:creationId xmlns:a16="http://schemas.microsoft.com/office/drawing/2014/main" id="{CDD61D27-175A-4ECC-A197-2FB938F51CB4}"/>
              </a:ext>
            </a:extLst>
          </p:cNvPr>
          <p:cNvSpPr>
            <a:spLocks noGrp="1"/>
          </p:cNvSpPr>
          <p:nvPr/>
        </p:nvSpPr>
        <p:spPr>
          <a:xfrm>
            <a:off x="8372475" y="1952625"/>
            <a:ext cx="266700" cy="266700"/>
          </a:xfrm>
          <a:prstGeom prst="ellipse">
            <a:avLst/>
          </a:prstGeom>
          <a:solidFill>
            <a:srgbClr val="A8572A"/>
          </a:solidFill>
          <a:ln w="0">
            <a:noFill/>
          </a:ln>
        </p:spPr>
        <p:txBody>
          <a:bodyPr/>
          <a:lstStyle/>
          <a:p>
            <a:endParaRPr lang="en-US"/>
          </a:p>
        </p:txBody>
      </p:sp>
      <p:sp>
        <p:nvSpPr>
          <p:cNvPr id="42" name="Label: 3">
            <a:extLst>
              <a:ext uri="{FF2B5EF4-FFF2-40B4-BE49-F238E27FC236}">
                <a16:creationId xmlns:a16="http://schemas.microsoft.com/office/drawing/2014/main" id="{4803D51A-F44A-407F-81AE-4A57DC8A07DA}"/>
              </a:ext>
            </a:extLst>
          </p:cNvPr>
          <p:cNvSpPr>
            <a:spLocks noGrp="1"/>
          </p:cNvSpPr>
          <p:nvPr/>
        </p:nvSpPr>
        <p:spPr>
          <a:xfrm>
            <a:off x="8372475" y="1943100"/>
            <a:ext cx="266700" cy="266700"/>
          </a:xfrm>
          <a:prstGeom prst="rect">
            <a:avLst/>
          </a:prstGeom>
          <a:noFill/>
          <a:ln w="0">
            <a:noFill/>
          </a:ln>
        </p:spPr>
        <p:txBody>
          <a:bodyPr anchor="ctr">
            <a:noAutofit/>
          </a:bodyPr>
          <a:lstStyle/>
          <a:p>
            <a:pPr algn="ctr">
              <a:buNone/>
              <a:defRPr sz="1200" b="0">
                <a:solidFill>
                  <a:srgbClr val="FFFFFF"/>
                </a:solidFill>
                <a:latin typeface="Mazda Type"/>
                <a:ea typeface="Mazda Type"/>
                <a:cs typeface="Mazda Type"/>
              </a:defRPr>
            </a:pPr>
            <a:r>
              <a:rPr sz="1200" b="0">
                <a:solidFill>
                  <a:srgbClr val="FFFFFF"/>
                </a:solidFill>
                <a:latin typeface="Mazda Type"/>
                <a:ea typeface="Mazda Type"/>
                <a:cs typeface="Mazda Type"/>
              </a:rPr>
              <a:t>3</a:t>
            </a:r>
          </a:p>
        </p:txBody>
      </p:sp>
      <p:sp>
        <p:nvSpPr>
          <p:cNvPr id="43" name="Research loop: down from mathematics">
            <a:extLst>
              <a:ext uri="{FF2B5EF4-FFF2-40B4-BE49-F238E27FC236}">
                <a16:creationId xmlns:a16="http://schemas.microsoft.com/office/drawing/2014/main" id="{5FDB26F0-8AFE-4D89-9D40-852E9677016E}"/>
              </a:ext>
            </a:extLst>
          </p:cNvPr>
          <p:cNvSpPr>
            <a:spLocks noGrp="1"/>
          </p:cNvSpPr>
          <p:nvPr/>
        </p:nvSpPr>
        <p:spPr>
          <a:xfrm>
            <a:off x="10887075" y="4143375"/>
            <a:ext cx="28575" cy="695325"/>
          </a:xfrm>
          <a:prstGeom prst="rect">
            <a:avLst/>
          </a:prstGeom>
          <a:solidFill>
            <a:srgbClr val="666666"/>
          </a:solidFill>
          <a:ln w="0">
            <a:noFill/>
          </a:ln>
        </p:spPr>
        <p:txBody>
          <a:bodyPr/>
          <a:lstStyle/>
          <a:p>
            <a:endParaRPr lang="en-US"/>
          </a:p>
        </p:txBody>
      </p:sp>
      <p:sp>
        <p:nvSpPr>
          <p:cNvPr id="44" name="Research loop: mathematics to phenomenon">
            <a:extLst>
              <a:ext uri="{FF2B5EF4-FFF2-40B4-BE49-F238E27FC236}">
                <a16:creationId xmlns:a16="http://schemas.microsoft.com/office/drawing/2014/main" id="{7370BE33-585D-4D5B-B011-7C3C6FB35457}"/>
              </a:ext>
            </a:extLst>
          </p:cNvPr>
          <p:cNvSpPr>
            <a:spLocks noGrp="1"/>
          </p:cNvSpPr>
          <p:nvPr/>
        </p:nvSpPr>
        <p:spPr>
          <a:xfrm>
            <a:off x="6191250" y="4752975"/>
            <a:ext cx="4724400" cy="171450"/>
          </a:xfrm>
          <a:prstGeom prst="leftArrow">
            <a:avLst/>
          </a:prstGeom>
          <a:solidFill>
            <a:srgbClr val="666666"/>
          </a:solidFill>
          <a:ln w="0">
            <a:noFill/>
          </a:ln>
        </p:spPr>
        <p:txBody>
          <a:bodyPr/>
          <a:lstStyle/>
          <a:p>
            <a:endParaRPr lang="en-US"/>
          </a:p>
        </p:txBody>
      </p:sp>
      <p:sp>
        <p:nvSpPr>
          <p:cNvPr id="45" name="Research loop: return to phenomenon">
            <a:extLst>
              <a:ext uri="{FF2B5EF4-FFF2-40B4-BE49-F238E27FC236}">
                <a16:creationId xmlns:a16="http://schemas.microsoft.com/office/drawing/2014/main" id="{EF87440B-2D7D-4A8D-A141-55D483395D03}"/>
              </a:ext>
            </a:extLst>
          </p:cNvPr>
          <p:cNvSpPr>
            <a:spLocks noGrp="1"/>
          </p:cNvSpPr>
          <p:nvPr/>
        </p:nvSpPr>
        <p:spPr>
          <a:xfrm>
            <a:off x="5972175" y="4457700"/>
            <a:ext cx="266700" cy="466725"/>
          </a:xfrm>
          <a:prstGeom prst="upArrow">
            <a:avLst/>
          </a:prstGeom>
          <a:solidFill>
            <a:srgbClr val="666666"/>
          </a:solidFill>
          <a:ln w="0">
            <a:noFill/>
          </a:ln>
        </p:spPr>
        <p:txBody>
          <a:bodyPr/>
          <a:lstStyle/>
          <a:p>
            <a:endParaRPr lang="en-US"/>
          </a:p>
        </p:txBody>
      </p:sp>
      <p:sp>
        <p:nvSpPr>
          <p:cNvPr id="46" name="Label: Predictions and experiments return us to the phenomenon">
            <a:extLst>
              <a:ext uri="{FF2B5EF4-FFF2-40B4-BE49-F238E27FC236}">
                <a16:creationId xmlns:a16="http://schemas.microsoft.com/office/drawing/2014/main" id="{F1AB014A-11D0-490C-9501-ED00CE5364A0}"/>
              </a:ext>
            </a:extLst>
          </p:cNvPr>
          <p:cNvSpPr>
            <a:spLocks noGrp="1"/>
          </p:cNvSpPr>
          <p:nvPr/>
        </p:nvSpPr>
        <p:spPr>
          <a:xfrm>
            <a:off x="6572250" y="4972050"/>
            <a:ext cx="4000500" cy="266700"/>
          </a:xfrm>
          <a:prstGeom prst="rect">
            <a:avLst/>
          </a:prstGeom>
          <a:noFill/>
          <a:ln w="0">
            <a:noFill/>
          </a:ln>
        </p:spPr>
        <p:txBody>
          <a:bodyPr anchor="ctr">
            <a:noAutofit/>
          </a:bodyPr>
          <a:lstStyle/>
          <a:p>
            <a:pPr algn="ctr">
              <a:buNone/>
              <a:defRPr sz="1275" b="0">
                <a:solidFill>
                  <a:srgbClr val="666666"/>
                </a:solidFill>
                <a:latin typeface="Mazda Type"/>
                <a:ea typeface="Mazda Type"/>
                <a:cs typeface="Mazda Type"/>
              </a:defRPr>
            </a:pPr>
            <a:r>
              <a:rPr sz="1275" b="0">
                <a:solidFill>
                  <a:srgbClr val="666666"/>
                </a:solidFill>
                <a:latin typeface="Mazda Type"/>
                <a:ea typeface="Mazda Type"/>
                <a:cs typeface="Mazda Type"/>
              </a:rPr>
              <a:t>Predictions and experiments return us to the phenomenon</a:t>
            </a:r>
          </a:p>
        </p:txBody>
      </p:sp>
      <p:sp>
        <p:nvSpPr>
          <p:cNvPr id="47" name="Feedback loop revision mask">
            <a:extLst>
              <a:ext uri="{FF2B5EF4-FFF2-40B4-BE49-F238E27FC236}">
                <a16:creationId xmlns:a16="http://schemas.microsoft.com/office/drawing/2014/main" id="{A7C3E503-CCCD-49AA-80C5-1FB20C5FB365}"/>
              </a:ext>
            </a:extLst>
          </p:cNvPr>
          <p:cNvSpPr>
            <a:spLocks noGrp="1"/>
          </p:cNvSpPr>
          <p:nvPr/>
        </p:nvSpPr>
        <p:spPr>
          <a:xfrm>
            <a:off x="2667000" y="4324350"/>
            <a:ext cx="8572500" cy="1076325"/>
          </a:xfrm>
          <a:prstGeom prst="rect">
            <a:avLst/>
          </a:prstGeom>
          <a:solidFill>
            <a:srgbClr val="FFFFFF"/>
          </a:solidFill>
          <a:ln w="0">
            <a:noFill/>
          </a:ln>
        </p:spPr>
        <p:txBody>
          <a:bodyPr/>
          <a:lstStyle/>
          <a:p>
            <a:endParaRPr lang="en-US"/>
          </a:p>
        </p:txBody>
      </p:sp>
      <p:sp>
        <p:nvSpPr>
          <p:cNvPr id="48" name="Feedback: mathematics to return line">
            <a:extLst>
              <a:ext uri="{FF2B5EF4-FFF2-40B4-BE49-F238E27FC236}">
                <a16:creationId xmlns:a16="http://schemas.microsoft.com/office/drawing/2014/main" id="{D6A9A265-2F8F-4C6A-8894-51BF3198E97C}"/>
              </a:ext>
            </a:extLst>
          </p:cNvPr>
          <p:cNvSpPr>
            <a:spLocks noGrp="1"/>
          </p:cNvSpPr>
          <p:nvPr/>
        </p:nvSpPr>
        <p:spPr>
          <a:xfrm>
            <a:off x="10887075" y="4144518"/>
            <a:ext cx="28575" cy="694182"/>
          </a:xfrm>
          <a:prstGeom prst="rect">
            <a:avLst/>
          </a:prstGeom>
          <a:solidFill>
            <a:srgbClr val="666666"/>
          </a:solidFill>
          <a:ln w="0">
            <a:noFill/>
          </a:ln>
        </p:spPr>
        <p:txBody>
          <a:bodyPr/>
          <a:lstStyle/>
          <a:p>
            <a:endParaRPr lang="en-US"/>
          </a:p>
        </p:txBody>
      </p:sp>
      <p:sp>
        <p:nvSpPr>
          <p:cNvPr id="49" name="Feedback: right-to-left backbone">
            <a:extLst>
              <a:ext uri="{FF2B5EF4-FFF2-40B4-BE49-F238E27FC236}">
                <a16:creationId xmlns:a16="http://schemas.microsoft.com/office/drawing/2014/main" id="{F3148D4E-2A3F-438F-92F2-18E9C6B2C521}"/>
              </a:ext>
            </a:extLst>
          </p:cNvPr>
          <p:cNvSpPr>
            <a:spLocks noGrp="1"/>
          </p:cNvSpPr>
          <p:nvPr/>
        </p:nvSpPr>
        <p:spPr>
          <a:xfrm>
            <a:off x="3705225" y="4752975"/>
            <a:ext cx="7210425" cy="171450"/>
          </a:xfrm>
          <a:prstGeom prst="leftArrow">
            <a:avLst/>
          </a:prstGeom>
          <a:solidFill>
            <a:srgbClr val="666666"/>
          </a:solidFill>
          <a:ln w="0">
            <a:noFill/>
          </a:ln>
        </p:spPr>
        <p:txBody>
          <a:bodyPr/>
          <a:lstStyle/>
          <a:p>
            <a:endParaRPr lang="en-US"/>
          </a:p>
        </p:txBody>
      </p:sp>
      <p:sp>
        <p:nvSpPr>
          <p:cNvPr id="50" name="Feedback branch: physical picture">
            <a:extLst>
              <a:ext uri="{FF2B5EF4-FFF2-40B4-BE49-F238E27FC236}">
                <a16:creationId xmlns:a16="http://schemas.microsoft.com/office/drawing/2014/main" id="{CC35F2A1-E2D8-4B31-9123-765D382CD1F6}"/>
              </a:ext>
            </a:extLst>
          </p:cNvPr>
          <p:cNvSpPr>
            <a:spLocks noGrp="1"/>
          </p:cNvSpPr>
          <p:nvPr/>
        </p:nvSpPr>
        <p:spPr>
          <a:xfrm>
            <a:off x="3571875" y="4439793"/>
            <a:ext cx="266700" cy="398907"/>
          </a:xfrm>
          <a:prstGeom prst="upArrow">
            <a:avLst/>
          </a:prstGeom>
          <a:solidFill>
            <a:srgbClr val="666666"/>
          </a:solidFill>
          <a:ln w="0">
            <a:noFill/>
          </a:ln>
        </p:spPr>
        <p:txBody>
          <a:bodyPr/>
          <a:lstStyle/>
          <a:p>
            <a:endParaRPr lang="en-US"/>
          </a:p>
        </p:txBody>
      </p:sp>
      <p:sp>
        <p:nvSpPr>
          <p:cNvPr id="51" name="Feedback branch: quantitative phenomenon">
            <a:extLst>
              <a:ext uri="{FF2B5EF4-FFF2-40B4-BE49-F238E27FC236}">
                <a16:creationId xmlns:a16="http://schemas.microsoft.com/office/drawing/2014/main" id="{D70F06D2-DCB6-49F0-8B0A-EF74585C1E05}"/>
              </a:ext>
            </a:extLst>
          </p:cNvPr>
          <p:cNvSpPr>
            <a:spLocks noGrp="1"/>
          </p:cNvSpPr>
          <p:nvPr/>
        </p:nvSpPr>
        <p:spPr>
          <a:xfrm>
            <a:off x="5972175" y="4439793"/>
            <a:ext cx="266700" cy="398907"/>
          </a:xfrm>
          <a:prstGeom prst="upArrow">
            <a:avLst/>
          </a:prstGeom>
          <a:solidFill>
            <a:srgbClr val="666666"/>
          </a:solidFill>
          <a:ln w="0">
            <a:noFill/>
          </a:ln>
        </p:spPr>
        <p:txBody>
          <a:bodyPr/>
          <a:lstStyle/>
          <a:p>
            <a:endParaRPr lang="en-US"/>
          </a:p>
        </p:txBody>
      </p:sp>
      <p:sp>
        <p:nvSpPr>
          <p:cNvPr id="52" name="Label: Mathematics informs the picture and the phenomenon">
            <a:extLst>
              <a:ext uri="{FF2B5EF4-FFF2-40B4-BE49-F238E27FC236}">
                <a16:creationId xmlns:a16="http://schemas.microsoft.com/office/drawing/2014/main" id="{91D88112-69A9-48D7-A27E-E6305475582D}"/>
              </a:ext>
            </a:extLst>
          </p:cNvPr>
          <p:cNvSpPr>
            <a:spLocks noGrp="1"/>
          </p:cNvSpPr>
          <p:nvPr/>
        </p:nvSpPr>
        <p:spPr>
          <a:xfrm>
            <a:off x="6191250" y="4981575"/>
            <a:ext cx="4286250" cy="257175"/>
          </a:xfrm>
          <a:prstGeom prst="rect">
            <a:avLst/>
          </a:prstGeom>
          <a:noFill/>
          <a:ln w="0">
            <a:noFill/>
          </a:ln>
        </p:spPr>
        <p:txBody>
          <a:bodyPr anchor="ctr">
            <a:noAutofit/>
          </a:bodyPr>
          <a:lstStyle/>
          <a:p>
            <a:pPr algn="ctr">
              <a:defRPr sz="1275" b="0">
                <a:solidFill>
                  <a:srgbClr val="666666"/>
                </a:solidFill>
                <a:latin typeface="Mazda Type"/>
                <a:ea typeface="Mazda Type"/>
                <a:cs typeface="Mazda Type"/>
              </a:defRPr>
            </a:pPr>
            <a:r>
              <a:rPr sz="1275" b="0">
                <a:solidFill>
                  <a:srgbClr val="666666"/>
                </a:solidFill>
                <a:latin typeface="Mazda Type"/>
                <a:ea typeface="Mazda Type"/>
                <a:cs typeface="Mazda Type"/>
              </a:rPr>
              <a:t>Mathematics informs the picture and the phenomenon</a:t>
            </a:r>
          </a:p>
        </p:txBody>
      </p:sp>
    </p:spTree>
    <p:extLst>
      <p:ext uri="{BB962C8B-B14F-4D97-AF65-F5344CB8AC3E}">
        <p14:creationId xmlns:p14="http://schemas.microsoft.com/office/powerpoint/2010/main" val="1850644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tage 1: Alien world">
            <a:extLst>
              <a:ext uri="{FF2B5EF4-FFF2-40B4-BE49-F238E27FC236}">
                <a16:creationId xmlns:a16="http://schemas.microsoft.com/office/drawing/2014/main" id="{49F79E31-A539-4532-4B43-7974FE8B2300}"/>
              </a:ext>
            </a:extLst>
          </p:cNvPr>
          <p:cNvSpPr>
            <a:spLocks noGrp="1"/>
          </p:cNvSpPr>
          <p:nvPr/>
        </p:nvSpPr>
        <p:spPr>
          <a:xfrm>
            <a:off x="400050" y="2485307"/>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2" name="Label: Alien world">
            <a:extLst>
              <a:ext uri="{FF2B5EF4-FFF2-40B4-BE49-F238E27FC236}">
                <a16:creationId xmlns:a16="http://schemas.microsoft.com/office/drawing/2014/main" id="{B0A6CDCC-C5B1-BA73-480B-DE9D03685C3C}"/>
              </a:ext>
            </a:extLst>
          </p:cNvPr>
          <p:cNvSpPr>
            <a:spLocks noGrp="1"/>
          </p:cNvSpPr>
          <p:nvPr/>
        </p:nvSpPr>
        <p:spPr>
          <a:xfrm>
            <a:off x="514350" y="3618782"/>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Alien world</a:t>
            </a:r>
          </a:p>
        </p:txBody>
      </p:sp>
      <p:sp>
        <p:nvSpPr>
          <p:cNvPr id="3" name="Stage 2: Physical picture">
            <a:extLst>
              <a:ext uri="{FF2B5EF4-FFF2-40B4-BE49-F238E27FC236}">
                <a16:creationId xmlns:a16="http://schemas.microsoft.com/office/drawing/2014/main" id="{8D4507C7-993E-1902-1A5F-0FD6796DF294}"/>
              </a:ext>
            </a:extLst>
          </p:cNvPr>
          <p:cNvSpPr>
            <a:spLocks noGrp="1"/>
          </p:cNvSpPr>
          <p:nvPr/>
        </p:nvSpPr>
        <p:spPr>
          <a:xfrm>
            <a:off x="2800350" y="2485307"/>
            <a:ext cx="1809750" cy="1809750"/>
          </a:xfrm>
          <a:prstGeom prst="roundRect">
            <a:avLst>
              <a:gd name="adj" fmla="val 4211"/>
            </a:avLst>
          </a:prstGeom>
          <a:solidFill>
            <a:srgbClr val="FBF1EA"/>
          </a:solidFill>
          <a:ln w="19050">
            <a:solidFill>
              <a:srgbClr val="A8572A"/>
            </a:solidFill>
          </a:ln>
        </p:spPr>
        <p:txBody>
          <a:bodyPr/>
          <a:lstStyle/>
          <a:p>
            <a:endParaRPr/>
          </a:p>
        </p:txBody>
      </p:sp>
      <p:sp>
        <p:nvSpPr>
          <p:cNvPr id="4" name="Label: Physical picture">
            <a:extLst>
              <a:ext uri="{FF2B5EF4-FFF2-40B4-BE49-F238E27FC236}">
                <a16:creationId xmlns:a16="http://schemas.microsoft.com/office/drawing/2014/main" id="{4C1BCD2D-386E-217D-D89A-89B4D7F45118}"/>
              </a:ext>
            </a:extLst>
          </p:cNvPr>
          <p:cNvSpPr>
            <a:spLocks noGrp="1"/>
          </p:cNvSpPr>
          <p:nvPr/>
        </p:nvSpPr>
        <p:spPr>
          <a:xfrm>
            <a:off x="2914650" y="3618782"/>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Physical</a:t>
            </a:r>
          </a:p>
          <a:p>
            <a:pPr algn="ctr">
              <a:buNone/>
              <a:defRPr sz="1650" b="0">
                <a:solidFill>
                  <a:srgbClr val="252525"/>
                </a:solidFill>
                <a:latin typeface="Arial"/>
                <a:ea typeface="Arial"/>
                <a:cs typeface="Arial"/>
              </a:defRPr>
            </a:pPr>
            <a:r>
              <a:rPr sz="1650" b="0">
                <a:solidFill>
                  <a:srgbClr val="252525"/>
                </a:solidFill>
                <a:latin typeface="Arial"/>
                <a:ea typeface="Arial"/>
                <a:cs typeface="Arial"/>
              </a:rPr>
              <a:t>picture</a:t>
            </a:r>
          </a:p>
        </p:txBody>
      </p:sp>
      <p:sp>
        <p:nvSpPr>
          <p:cNvPr id="5" name="Stage 3: Quantitative phenomenon">
            <a:extLst>
              <a:ext uri="{FF2B5EF4-FFF2-40B4-BE49-F238E27FC236}">
                <a16:creationId xmlns:a16="http://schemas.microsoft.com/office/drawing/2014/main" id="{89B9C133-0F48-8666-2037-E4801AEC7F3E}"/>
              </a:ext>
            </a:extLst>
          </p:cNvPr>
          <p:cNvSpPr>
            <a:spLocks noGrp="1"/>
          </p:cNvSpPr>
          <p:nvPr/>
        </p:nvSpPr>
        <p:spPr>
          <a:xfrm>
            <a:off x="5200650" y="2485307"/>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6" name="Label: Quantitative phenomenon">
            <a:extLst>
              <a:ext uri="{FF2B5EF4-FFF2-40B4-BE49-F238E27FC236}">
                <a16:creationId xmlns:a16="http://schemas.microsoft.com/office/drawing/2014/main" id="{C4CCD13D-7129-3614-8ABD-7A68F1D7B2CE}"/>
              </a:ext>
            </a:extLst>
          </p:cNvPr>
          <p:cNvSpPr>
            <a:spLocks noGrp="1"/>
          </p:cNvSpPr>
          <p:nvPr/>
        </p:nvSpPr>
        <p:spPr>
          <a:xfrm>
            <a:off x="5314950" y="3618782"/>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Quantitative</a:t>
            </a:r>
          </a:p>
          <a:p>
            <a:pPr algn="ctr">
              <a:buNone/>
              <a:defRPr sz="1650" b="0">
                <a:solidFill>
                  <a:srgbClr val="252525"/>
                </a:solidFill>
                <a:latin typeface="Arial"/>
                <a:ea typeface="Arial"/>
                <a:cs typeface="Arial"/>
              </a:defRPr>
            </a:pPr>
            <a:r>
              <a:rPr sz="1650" b="0">
                <a:solidFill>
                  <a:srgbClr val="252525"/>
                </a:solidFill>
                <a:latin typeface="Arial"/>
                <a:ea typeface="Arial"/>
                <a:cs typeface="Arial"/>
              </a:rPr>
              <a:t>phenomenon</a:t>
            </a:r>
          </a:p>
        </p:txBody>
      </p:sp>
      <p:sp>
        <p:nvSpPr>
          <p:cNvPr id="11" name="Arrow 1">
            <a:extLst>
              <a:ext uri="{FF2B5EF4-FFF2-40B4-BE49-F238E27FC236}">
                <a16:creationId xmlns:a16="http://schemas.microsoft.com/office/drawing/2014/main" id="{C62C2A4F-2EB2-66D7-5282-1F7F847B5D8A}"/>
              </a:ext>
            </a:extLst>
          </p:cNvPr>
          <p:cNvSpPr>
            <a:spLocks noGrp="1"/>
          </p:cNvSpPr>
          <p:nvPr/>
        </p:nvSpPr>
        <p:spPr>
          <a:xfrm>
            <a:off x="2343150" y="3228257"/>
            <a:ext cx="323850" cy="285750"/>
          </a:xfrm>
          <a:prstGeom prst="rightArrow">
            <a:avLst/>
          </a:prstGeom>
          <a:solidFill>
            <a:srgbClr val="666666"/>
          </a:solidFill>
          <a:ln w="0">
            <a:noFill/>
          </a:ln>
        </p:spPr>
        <p:txBody>
          <a:bodyPr/>
          <a:lstStyle/>
          <a:p>
            <a:endParaRPr/>
          </a:p>
        </p:txBody>
      </p:sp>
      <p:sp>
        <p:nvSpPr>
          <p:cNvPr id="12" name="Arrow 2">
            <a:extLst>
              <a:ext uri="{FF2B5EF4-FFF2-40B4-BE49-F238E27FC236}">
                <a16:creationId xmlns:a16="http://schemas.microsoft.com/office/drawing/2014/main" id="{46D0F144-BCCB-EA6D-10DB-BDE75F8EFD2B}"/>
              </a:ext>
            </a:extLst>
          </p:cNvPr>
          <p:cNvSpPr>
            <a:spLocks noGrp="1"/>
          </p:cNvSpPr>
          <p:nvPr/>
        </p:nvSpPr>
        <p:spPr>
          <a:xfrm>
            <a:off x="4743450" y="3228257"/>
            <a:ext cx="323850" cy="285750"/>
          </a:xfrm>
          <a:prstGeom prst="rightArrow">
            <a:avLst/>
          </a:prstGeom>
          <a:solidFill>
            <a:srgbClr val="A8572A"/>
          </a:solidFill>
          <a:ln w="0">
            <a:noFill/>
          </a:ln>
        </p:spPr>
        <p:txBody>
          <a:bodyPr/>
          <a:lstStyle/>
          <a:p>
            <a:endParaRPr/>
          </a:p>
        </p:txBody>
      </p:sp>
      <p:sp>
        <p:nvSpPr>
          <p:cNvPr id="13" name="Arrow 3">
            <a:extLst>
              <a:ext uri="{FF2B5EF4-FFF2-40B4-BE49-F238E27FC236}">
                <a16:creationId xmlns:a16="http://schemas.microsoft.com/office/drawing/2014/main" id="{1C75F8F1-DA01-A2FC-B2E2-B6365E0F2F58}"/>
              </a:ext>
            </a:extLst>
          </p:cNvPr>
          <p:cNvSpPr>
            <a:spLocks noGrp="1"/>
          </p:cNvSpPr>
          <p:nvPr/>
        </p:nvSpPr>
        <p:spPr>
          <a:xfrm>
            <a:off x="7143750" y="3228257"/>
            <a:ext cx="323850" cy="285750"/>
          </a:xfrm>
          <a:prstGeom prst="rightArrow">
            <a:avLst/>
          </a:prstGeom>
          <a:solidFill>
            <a:srgbClr val="666666"/>
          </a:solidFill>
          <a:ln w="0">
            <a:noFill/>
          </a:ln>
        </p:spPr>
        <p:txBody>
          <a:bodyPr/>
          <a:lstStyle/>
          <a:p>
            <a:endParaRPr/>
          </a:p>
        </p:txBody>
      </p:sp>
      <p:sp>
        <p:nvSpPr>
          <p:cNvPr id="15" name="Alien world planet">
            <a:extLst>
              <a:ext uri="{FF2B5EF4-FFF2-40B4-BE49-F238E27FC236}">
                <a16:creationId xmlns:a16="http://schemas.microsoft.com/office/drawing/2014/main" id="{D5CC299C-CFBC-ADCF-4A95-CBAAB55CE215}"/>
              </a:ext>
            </a:extLst>
          </p:cNvPr>
          <p:cNvSpPr>
            <a:spLocks noGrp="1"/>
          </p:cNvSpPr>
          <p:nvPr/>
        </p:nvSpPr>
        <p:spPr>
          <a:xfrm>
            <a:off x="1066800" y="2780582"/>
            <a:ext cx="476250" cy="476250"/>
          </a:xfrm>
          <a:prstGeom prst="ellipse">
            <a:avLst/>
          </a:prstGeom>
          <a:noFill/>
          <a:ln w="28575">
            <a:solidFill>
              <a:srgbClr val="A8572A"/>
            </a:solidFill>
          </a:ln>
        </p:spPr>
        <p:txBody>
          <a:bodyPr/>
          <a:lstStyle/>
          <a:p>
            <a:endParaRPr/>
          </a:p>
        </p:txBody>
      </p:sp>
      <p:sp>
        <p:nvSpPr>
          <p:cNvPr id="16" name="Alien world orbit">
            <a:extLst>
              <a:ext uri="{FF2B5EF4-FFF2-40B4-BE49-F238E27FC236}">
                <a16:creationId xmlns:a16="http://schemas.microsoft.com/office/drawing/2014/main" id="{854FB4C6-24E8-142C-3E6F-FFA437F06AE9}"/>
              </a:ext>
            </a:extLst>
          </p:cNvPr>
          <p:cNvSpPr>
            <a:spLocks noGrp="1"/>
          </p:cNvSpPr>
          <p:nvPr/>
        </p:nvSpPr>
        <p:spPr>
          <a:xfrm>
            <a:off x="904875" y="3123482"/>
            <a:ext cx="819150" cy="38100"/>
          </a:xfrm>
          <a:prstGeom prst="line">
            <a:avLst/>
          </a:prstGeom>
          <a:solidFill>
            <a:srgbClr val="A8572A"/>
          </a:solidFill>
          <a:ln w="28575">
            <a:solidFill>
              <a:srgbClr val="A8572A"/>
            </a:solidFill>
          </a:ln>
        </p:spPr>
        <p:txBody>
          <a:bodyPr/>
          <a:lstStyle/>
          <a:p>
            <a:endParaRPr/>
          </a:p>
        </p:txBody>
      </p:sp>
      <p:sp>
        <p:nvSpPr>
          <p:cNvPr id="17" name="Alien world moon">
            <a:extLst>
              <a:ext uri="{FF2B5EF4-FFF2-40B4-BE49-F238E27FC236}">
                <a16:creationId xmlns:a16="http://schemas.microsoft.com/office/drawing/2014/main" id="{0AF03D1D-63BB-4F21-1564-FE6CD8CC18C0}"/>
              </a:ext>
            </a:extLst>
          </p:cNvPr>
          <p:cNvSpPr>
            <a:spLocks noGrp="1"/>
          </p:cNvSpPr>
          <p:nvPr/>
        </p:nvSpPr>
        <p:spPr>
          <a:xfrm>
            <a:off x="1600200" y="2828207"/>
            <a:ext cx="76200" cy="76200"/>
          </a:xfrm>
          <a:prstGeom prst="ellipse">
            <a:avLst/>
          </a:prstGeom>
          <a:solidFill>
            <a:srgbClr val="A8572A"/>
          </a:solidFill>
          <a:ln w="0">
            <a:noFill/>
          </a:ln>
        </p:spPr>
        <p:txBody>
          <a:bodyPr/>
          <a:lstStyle/>
          <a:p>
            <a:endParaRPr/>
          </a:p>
        </p:txBody>
      </p:sp>
      <p:sp>
        <p:nvSpPr>
          <p:cNvPr id="18" name="Oval 17">
            <a:extLst>
              <a:ext uri="{FF2B5EF4-FFF2-40B4-BE49-F238E27FC236}">
                <a16:creationId xmlns:a16="http://schemas.microsoft.com/office/drawing/2014/main" id="{804DC06D-9068-F105-75CC-218173EEB12E}"/>
              </a:ext>
            </a:extLst>
          </p:cNvPr>
          <p:cNvSpPr>
            <a:spLocks noGrp="1"/>
          </p:cNvSpPr>
          <p:nvPr/>
        </p:nvSpPr>
        <p:spPr>
          <a:xfrm>
            <a:off x="3171825" y="2999657"/>
            <a:ext cx="285750" cy="285750"/>
          </a:xfrm>
          <a:prstGeom prst="ellipse">
            <a:avLst/>
          </a:prstGeom>
          <a:solidFill>
            <a:srgbClr val="FFFFFF"/>
          </a:solidFill>
          <a:ln w="19050">
            <a:solidFill>
              <a:srgbClr val="252525"/>
            </a:solidFill>
          </a:ln>
        </p:spPr>
        <p:txBody>
          <a:bodyPr/>
          <a:lstStyle/>
          <a:p>
            <a:endParaRPr/>
          </a:p>
        </p:txBody>
      </p:sp>
      <p:sp>
        <p:nvSpPr>
          <p:cNvPr id="19" name="Oval 18">
            <a:extLst>
              <a:ext uri="{FF2B5EF4-FFF2-40B4-BE49-F238E27FC236}">
                <a16:creationId xmlns:a16="http://schemas.microsoft.com/office/drawing/2014/main" id="{796F8B5A-9B76-86DC-DA39-D95FBA161CB9}"/>
              </a:ext>
            </a:extLst>
          </p:cNvPr>
          <p:cNvSpPr>
            <a:spLocks noGrp="1"/>
          </p:cNvSpPr>
          <p:nvPr/>
        </p:nvSpPr>
        <p:spPr>
          <a:xfrm>
            <a:off x="3571875" y="2752007"/>
            <a:ext cx="285750" cy="285750"/>
          </a:xfrm>
          <a:prstGeom prst="ellipse">
            <a:avLst/>
          </a:prstGeom>
          <a:solidFill>
            <a:srgbClr val="FFFFFF"/>
          </a:solidFill>
          <a:ln w="19050">
            <a:solidFill>
              <a:srgbClr val="252525"/>
            </a:solidFill>
          </a:ln>
        </p:spPr>
        <p:txBody>
          <a:bodyPr/>
          <a:lstStyle/>
          <a:p>
            <a:endParaRPr/>
          </a:p>
        </p:txBody>
      </p:sp>
      <p:sp>
        <p:nvSpPr>
          <p:cNvPr id="20" name="Oval 19">
            <a:extLst>
              <a:ext uri="{FF2B5EF4-FFF2-40B4-BE49-F238E27FC236}">
                <a16:creationId xmlns:a16="http://schemas.microsoft.com/office/drawing/2014/main" id="{AF5DC415-EC59-0E44-496B-3D135F3768F6}"/>
              </a:ext>
            </a:extLst>
          </p:cNvPr>
          <p:cNvSpPr>
            <a:spLocks noGrp="1"/>
          </p:cNvSpPr>
          <p:nvPr/>
        </p:nvSpPr>
        <p:spPr>
          <a:xfrm>
            <a:off x="3971925" y="2999657"/>
            <a:ext cx="285750" cy="285750"/>
          </a:xfrm>
          <a:prstGeom prst="ellipse">
            <a:avLst/>
          </a:prstGeom>
          <a:solidFill>
            <a:srgbClr val="FFFFFF"/>
          </a:solidFill>
          <a:ln w="19050">
            <a:solidFill>
              <a:srgbClr val="252525"/>
            </a:solidFill>
          </a:ln>
        </p:spPr>
        <p:txBody>
          <a:bodyPr/>
          <a:lstStyle/>
          <a:p>
            <a:endParaRPr/>
          </a:p>
        </p:txBody>
      </p:sp>
      <p:sp>
        <p:nvSpPr>
          <p:cNvPr id="21" name="Rectangle 20">
            <a:extLst>
              <a:ext uri="{FF2B5EF4-FFF2-40B4-BE49-F238E27FC236}">
                <a16:creationId xmlns:a16="http://schemas.microsoft.com/office/drawing/2014/main" id="{63FDEE59-AA50-5F5D-806C-270559C9B0DD}"/>
              </a:ext>
            </a:extLst>
          </p:cNvPr>
          <p:cNvSpPr>
            <a:spLocks noGrp="1"/>
          </p:cNvSpPr>
          <p:nvPr/>
        </p:nvSpPr>
        <p:spPr>
          <a:xfrm>
            <a:off x="3438525" y="3056807"/>
            <a:ext cx="209550" cy="28575"/>
          </a:xfrm>
          <a:prstGeom prst="rect">
            <a:avLst/>
          </a:prstGeom>
          <a:solidFill>
            <a:srgbClr val="666666"/>
          </a:solidFill>
          <a:ln w="0">
            <a:noFill/>
          </a:ln>
        </p:spPr>
        <p:txBody>
          <a:bodyPr/>
          <a:lstStyle/>
          <a:p>
            <a:endParaRPr/>
          </a:p>
        </p:txBody>
      </p:sp>
      <p:sp>
        <p:nvSpPr>
          <p:cNvPr id="22" name="Rectangle 21">
            <a:extLst>
              <a:ext uri="{FF2B5EF4-FFF2-40B4-BE49-F238E27FC236}">
                <a16:creationId xmlns:a16="http://schemas.microsoft.com/office/drawing/2014/main" id="{C69EDC65-9CEE-95B1-7552-911A644A8013}"/>
              </a:ext>
            </a:extLst>
          </p:cNvPr>
          <p:cNvSpPr>
            <a:spLocks noGrp="1"/>
          </p:cNvSpPr>
          <p:nvPr/>
        </p:nvSpPr>
        <p:spPr>
          <a:xfrm>
            <a:off x="3790950" y="3056807"/>
            <a:ext cx="209550" cy="28575"/>
          </a:xfrm>
          <a:prstGeom prst="rect">
            <a:avLst/>
          </a:prstGeom>
          <a:solidFill>
            <a:srgbClr val="666666"/>
          </a:solidFill>
          <a:ln w="0">
            <a:noFill/>
          </a:ln>
        </p:spPr>
        <p:txBody>
          <a:bodyPr/>
          <a:lstStyle/>
          <a:p>
            <a:endParaRPr/>
          </a:p>
        </p:txBody>
      </p:sp>
      <p:sp>
        <p:nvSpPr>
          <p:cNvPr id="23" name="Rectangle 22">
            <a:extLst>
              <a:ext uri="{FF2B5EF4-FFF2-40B4-BE49-F238E27FC236}">
                <a16:creationId xmlns:a16="http://schemas.microsoft.com/office/drawing/2014/main" id="{843FBA6C-377A-88C7-109F-90322BEB849E}"/>
              </a:ext>
            </a:extLst>
          </p:cNvPr>
          <p:cNvSpPr>
            <a:spLocks noGrp="1"/>
          </p:cNvSpPr>
          <p:nvPr/>
        </p:nvSpPr>
        <p:spPr>
          <a:xfrm>
            <a:off x="5705475" y="3152057"/>
            <a:ext cx="161925" cy="257175"/>
          </a:xfrm>
          <a:prstGeom prst="rect">
            <a:avLst/>
          </a:prstGeom>
          <a:solidFill>
            <a:srgbClr val="252525"/>
          </a:solidFill>
          <a:ln w="0">
            <a:noFill/>
          </a:ln>
        </p:spPr>
        <p:txBody>
          <a:bodyPr/>
          <a:lstStyle/>
          <a:p>
            <a:endParaRPr/>
          </a:p>
        </p:txBody>
      </p:sp>
      <p:sp>
        <p:nvSpPr>
          <p:cNvPr id="24" name="Rectangle 23">
            <a:extLst>
              <a:ext uri="{FF2B5EF4-FFF2-40B4-BE49-F238E27FC236}">
                <a16:creationId xmlns:a16="http://schemas.microsoft.com/office/drawing/2014/main" id="{81E51F8B-7A55-FB9F-ED85-BA55A0704A57}"/>
              </a:ext>
            </a:extLst>
          </p:cNvPr>
          <p:cNvSpPr>
            <a:spLocks noGrp="1"/>
          </p:cNvSpPr>
          <p:nvPr/>
        </p:nvSpPr>
        <p:spPr>
          <a:xfrm>
            <a:off x="6019800" y="2942507"/>
            <a:ext cx="161925" cy="466725"/>
          </a:xfrm>
          <a:prstGeom prst="rect">
            <a:avLst/>
          </a:prstGeom>
          <a:solidFill>
            <a:srgbClr val="252525"/>
          </a:solidFill>
          <a:ln w="0">
            <a:noFill/>
          </a:ln>
        </p:spPr>
        <p:txBody>
          <a:bodyPr/>
          <a:lstStyle/>
          <a:p>
            <a:endParaRPr/>
          </a:p>
        </p:txBody>
      </p:sp>
      <p:sp>
        <p:nvSpPr>
          <p:cNvPr id="25" name="Rectangle 24">
            <a:extLst>
              <a:ext uri="{FF2B5EF4-FFF2-40B4-BE49-F238E27FC236}">
                <a16:creationId xmlns:a16="http://schemas.microsoft.com/office/drawing/2014/main" id="{F3DB05BB-DB0B-91DB-8ED1-C7F06F6F9175}"/>
              </a:ext>
            </a:extLst>
          </p:cNvPr>
          <p:cNvSpPr>
            <a:spLocks noGrp="1"/>
          </p:cNvSpPr>
          <p:nvPr/>
        </p:nvSpPr>
        <p:spPr>
          <a:xfrm>
            <a:off x="6334125" y="2723432"/>
            <a:ext cx="161925" cy="685800"/>
          </a:xfrm>
          <a:prstGeom prst="rect">
            <a:avLst/>
          </a:prstGeom>
          <a:solidFill>
            <a:srgbClr val="252525"/>
          </a:solidFill>
          <a:ln w="0">
            <a:noFill/>
          </a:ln>
        </p:spPr>
        <p:txBody>
          <a:bodyPr/>
          <a:lstStyle/>
          <a:p>
            <a:endParaRPr/>
          </a:p>
        </p:txBody>
      </p:sp>
      <p:sp>
        <p:nvSpPr>
          <p:cNvPr id="26" name="Rectangle 25">
            <a:extLst>
              <a:ext uri="{FF2B5EF4-FFF2-40B4-BE49-F238E27FC236}">
                <a16:creationId xmlns:a16="http://schemas.microsoft.com/office/drawing/2014/main" id="{29FA0830-B123-7448-9095-DF5A6A83C8A2}"/>
              </a:ext>
            </a:extLst>
          </p:cNvPr>
          <p:cNvSpPr>
            <a:spLocks noGrp="1"/>
          </p:cNvSpPr>
          <p:nvPr/>
        </p:nvSpPr>
        <p:spPr>
          <a:xfrm>
            <a:off x="5600700" y="3409232"/>
            <a:ext cx="1000125" cy="28575"/>
          </a:xfrm>
          <a:prstGeom prst="rect">
            <a:avLst/>
          </a:prstGeom>
          <a:solidFill>
            <a:srgbClr val="666666"/>
          </a:solidFill>
          <a:ln w="0">
            <a:noFill/>
          </a:ln>
        </p:spPr>
        <p:txBody>
          <a:bodyPr/>
          <a:lstStyle/>
          <a:p>
            <a:endParaRPr/>
          </a:p>
        </p:txBody>
      </p:sp>
      <p:sp>
        <p:nvSpPr>
          <p:cNvPr id="47" name="文本框 2">
            <a:extLst>
              <a:ext uri="{FF2B5EF4-FFF2-40B4-BE49-F238E27FC236}">
                <a16:creationId xmlns:a16="http://schemas.microsoft.com/office/drawing/2014/main" id="{33F2A324-38FA-F804-4D98-D968A7FA831B}"/>
              </a:ext>
            </a:extLst>
          </p:cNvPr>
          <p:cNvSpPr>
            <a:spLocks noGrp="1"/>
          </p:cNvSpPr>
          <p:nvPr/>
        </p:nvSpPr>
        <p:spPr>
          <a:xfrm>
            <a:off x="567816" y="636907"/>
            <a:ext cx="11128884" cy="646331"/>
          </a:xfrm>
          <a:prstGeom prst="rect">
            <a:avLst/>
          </a:prstGeom>
          <a:noFill/>
        </p:spPr>
        <p:txBody>
          <a:bodyPr wrap="square">
            <a:spAutoFit/>
          </a:bodyPr>
          <a:lstStyle/>
          <a:p>
            <a:pPr algn="ctr">
              <a:buNone/>
            </a:pPr>
            <a:r>
              <a:rPr sz="3600">
                <a:latin typeface="Mazda Type"/>
                <a:ea typeface="Mazda Type"/>
                <a:cs typeface="Mazda Type"/>
              </a:rPr>
              <a:t>In the era of AI, all you have is attention</a:t>
            </a:r>
          </a:p>
        </p:txBody>
      </p:sp>
      <p:sp>
        <p:nvSpPr>
          <p:cNvPr id="49" name="文本框 2">
            <a:extLst>
              <a:ext uri="{FF2B5EF4-FFF2-40B4-BE49-F238E27FC236}">
                <a16:creationId xmlns:a16="http://schemas.microsoft.com/office/drawing/2014/main" id="{915425FD-C872-26BA-68EF-8E183F91B805}"/>
              </a:ext>
            </a:extLst>
          </p:cNvPr>
          <p:cNvSpPr>
            <a:spLocks noGrp="1"/>
          </p:cNvSpPr>
          <p:nvPr/>
        </p:nvSpPr>
        <p:spPr>
          <a:xfrm>
            <a:off x="400050" y="5759428"/>
            <a:ext cx="11128884" cy="461665"/>
          </a:xfrm>
          <a:prstGeom prst="rect">
            <a:avLst/>
          </a:prstGeom>
          <a:noFill/>
        </p:spPr>
        <p:txBody>
          <a:bodyPr wrap="square">
            <a:spAutoFit/>
          </a:bodyPr>
          <a:lstStyle/>
          <a:p>
            <a:pPr algn="ctr">
              <a:buNone/>
            </a:pPr>
            <a:r>
              <a:rPr sz="2400">
                <a:latin typeface="Mazda Type"/>
                <a:ea typeface="Mazda Type"/>
                <a:cs typeface="Mazda Type"/>
              </a:rPr>
              <a:t>Fermi problems train attention to relevant information and questions</a:t>
            </a:r>
          </a:p>
        </p:txBody>
      </p:sp>
      <p:sp>
        <p:nvSpPr>
          <p:cNvPr id="50" name="Discovery step label">
            <a:extLst>
              <a:ext uri="{FF2B5EF4-FFF2-40B4-BE49-F238E27FC236}">
                <a16:creationId xmlns:a16="http://schemas.microsoft.com/office/drawing/2014/main" id="{19AF4C09-DDD8-4FEA-85CE-75F0320DED8B}"/>
              </a:ext>
            </a:extLst>
          </p:cNvPr>
          <p:cNvSpPr>
            <a:spLocks noGrp="1"/>
          </p:cNvSpPr>
          <p:nvPr/>
        </p:nvSpPr>
        <p:spPr>
          <a:xfrm>
            <a:off x="2956626" y="1833130"/>
            <a:ext cx="4221347" cy="364587"/>
          </a:xfrm>
          <a:prstGeom prst="rect">
            <a:avLst/>
          </a:prstGeom>
          <a:noFill/>
          <a:ln w="0">
            <a:noFill/>
          </a:ln>
        </p:spPr>
        <p:txBody>
          <a:bodyPr anchor="ctr">
            <a:noAutofit/>
          </a:bodyPr>
          <a:lstStyle/>
          <a:p>
            <a:pPr algn="ctr">
              <a:buNone/>
              <a:defRPr sz="1650" b="0">
                <a:solidFill>
                  <a:srgbClr val="A8572A"/>
                </a:solidFill>
                <a:latin typeface="Mazda Type"/>
                <a:ea typeface="Mazda Type"/>
                <a:cs typeface="Mazda Type"/>
              </a:defRPr>
            </a:pPr>
            <a:r>
              <a:rPr sz="2400">
                <a:solidFill>
                  <a:srgbClr val="A8572A"/>
                </a:solidFill>
                <a:latin typeface="Mazda Type"/>
                <a:ea typeface="Mazda Type"/>
                <a:cs typeface="Mazda Type"/>
              </a:rPr>
              <a:t>Critical steps in research</a:t>
            </a:r>
          </a:p>
        </p:txBody>
      </p:sp>
      <p:sp>
        <p:nvSpPr>
          <p:cNvPr id="7" name="Stage 4: Model">
            <a:extLst>
              <a:ext uri="{FF2B5EF4-FFF2-40B4-BE49-F238E27FC236}">
                <a16:creationId xmlns:a16="http://schemas.microsoft.com/office/drawing/2014/main" id="{0FF43C2B-8152-F8BD-F49D-4D04873EE425}"/>
              </a:ext>
            </a:extLst>
          </p:cNvPr>
          <p:cNvSpPr>
            <a:spLocks noGrp="1"/>
          </p:cNvSpPr>
          <p:nvPr/>
        </p:nvSpPr>
        <p:spPr>
          <a:xfrm>
            <a:off x="7600950" y="2479754"/>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8" name="Label: Model">
            <a:extLst>
              <a:ext uri="{FF2B5EF4-FFF2-40B4-BE49-F238E27FC236}">
                <a16:creationId xmlns:a16="http://schemas.microsoft.com/office/drawing/2014/main" id="{AED2445A-B168-0ACC-2054-3D460BD5916C}"/>
              </a:ext>
            </a:extLst>
          </p:cNvPr>
          <p:cNvSpPr>
            <a:spLocks noGrp="1"/>
          </p:cNvSpPr>
          <p:nvPr/>
        </p:nvSpPr>
        <p:spPr>
          <a:xfrm>
            <a:off x="7715250" y="3613229"/>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Model</a:t>
            </a:r>
          </a:p>
        </p:txBody>
      </p:sp>
      <p:sp>
        <p:nvSpPr>
          <p:cNvPr id="9" name="Stage 5: Mathematics">
            <a:extLst>
              <a:ext uri="{FF2B5EF4-FFF2-40B4-BE49-F238E27FC236}">
                <a16:creationId xmlns:a16="http://schemas.microsoft.com/office/drawing/2014/main" id="{7E7B857A-9B3F-C81D-54CF-7FBD6CDAADF7}"/>
              </a:ext>
            </a:extLst>
          </p:cNvPr>
          <p:cNvSpPr>
            <a:spLocks noGrp="1"/>
          </p:cNvSpPr>
          <p:nvPr/>
        </p:nvSpPr>
        <p:spPr>
          <a:xfrm>
            <a:off x="10001250" y="2479754"/>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10" name="Label: Mathematics">
            <a:extLst>
              <a:ext uri="{FF2B5EF4-FFF2-40B4-BE49-F238E27FC236}">
                <a16:creationId xmlns:a16="http://schemas.microsoft.com/office/drawing/2014/main" id="{7B61C42F-926F-85BB-BA87-6F9EF4EA625D}"/>
              </a:ext>
            </a:extLst>
          </p:cNvPr>
          <p:cNvSpPr>
            <a:spLocks noGrp="1"/>
          </p:cNvSpPr>
          <p:nvPr/>
        </p:nvSpPr>
        <p:spPr>
          <a:xfrm>
            <a:off x="10115550" y="3613229"/>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Mathematics</a:t>
            </a:r>
          </a:p>
        </p:txBody>
      </p:sp>
      <p:sp>
        <p:nvSpPr>
          <p:cNvPr id="14" name="Arrow 4">
            <a:extLst>
              <a:ext uri="{FF2B5EF4-FFF2-40B4-BE49-F238E27FC236}">
                <a16:creationId xmlns:a16="http://schemas.microsoft.com/office/drawing/2014/main" id="{9871AB80-6DF0-1336-345E-7128685232F1}"/>
              </a:ext>
            </a:extLst>
          </p:cNvPr>
          <p:cNvSpPr>
            <a:spLocks noGrp="1"/>
          </p:cNvSpPr>
          <p:nvPr/>
        </p:nvSpPr>
        <p:spPr>
          <a:xfrm>
            <a:off x="9544050" y="3222704"/>
            <a:ext cx="323850" cy="285750"/>
          </a:xfrm>
          <a:prstGeom prst="rightArrow">
            <a:avLst/>
          </a:prstGeom>
          <a:solidFill>
            <a:srgbClr val="666666"/>
          </a:solidFill>
          <a:ln w="0">
            <a:noFill/>
          </a:ln>
        </p:spPr>
        <p:txBody>
          <a:bodyPr/>
          <a:lstStyle/>
          <a:p>
            <a:endParaRPr/>
          </a:p>
        </p:txBody>
      </p:sp>
      <p:sp>
        <p:nvSpPr>
          <p:cNvPr id="27" name="Model boundary">
            <a:extLst>
              <a:ext uri="{FF2B5EF4-FFF2-40B4-BE49-F238E27FC236}">
                <a16:creationId xmlns:a16="http://schemas.microsoft.com/office/drawing/2014/main" id="{A2B5AD72-8ADC-9118-9211-68E07B13881F}"/>
              </a:ext>
            </a:extLst>
          </p:cNvPr>
          <p:cNvSpPr>
            <a:spLocks noGrp="1"/>
          </p:cNvSpPr>
          <p:nvPr/>
        </p:nvSpPr>
        <p:spPr>
          <a:xfrm>
            <a:off x="8001000" y="2708354"/>
            <a:ext cx="1009650" cy="742950"/>
          </a:xfrm>
          <a:prstGeom prst="rect">
            <a:avLst/>
          </a:prstGeom>
          <a:solidFill>
            <a:srgbClr val="FFFFFF"/>
          </a:solidFill>
          <a:ln w="19050">
            <a:solidFill>
              <a:srgbClr val="252525"/>
            </a:solidFill>
          </a:ln>
        </p:spPr>
        <p:txBody>
          <a:bodyPr/>
          <a:lstStyle/>
          <a:p>
            <a:endParaRPr/>
          </a:p>
        </p:txBody>
      </p:sp>
      <p:sp>
        <p:nvSpPr>
          <p:cNvPr id="28" name="Oval 27">
            <a:extLst>
              <a:ext uri="{FF2B5EF4-FFF2-40B4-BE49-F238E27FC236}">
                <a16:creationId xmlns:a16="http://schemas.microsoft.com/office/drawing/2014/main" id="{2ED3C5CD-DBE4-3836-5948-ED11016A8DE2}"/>
              </a:ext>
            </a:extLst>
          </p:cNvPr>
          <p:cNvSpPr>
            <a:spLocks noGrp="1"/>
          </p:cNvSpPr>
          <p:nvPr/>
        </p:nvSpPr>
        <p:spPr>
          <a:xfrm>
            <a:off x="8153400" y="2936954"/>
            <a:ext cx="209550" cy="209550"/>
          </a:xfrm>
          <a:prstGeom prst="ellipse">
            <a:avLst/>
          </a:prstGeom>
          <a:solidFill>
            <a:srgbClr val="252525"/>
          </a:solidFill>
          <a:ln w="0">
            <a:noFill/>
          </a:ln>
        </p:spPr>
        <p:txBody>
          <a:bodyPr/>
          <a:lstStyle/>
          <a:p>
            <a:endParaRPr/>
          </a:p>
        </p:txBody>
      </p:sp>
      <p:sp>
        <p:nvSpPr>
          <p:cNvPr id="29" name="Oval 28">
            <a:extLst>
              <a:ext uri="{FF2B5EF4-FFF2-40B4-BE49-F238E27FC236}">
                <a16:creationId xmlns:a16="http://schemas.microsoft.com/office/drawing/2014/main" id="{E6CAA29D-4034-69DF-5347-BC50A2B8C77C}"/>
              </a:ext>
            </a:extLst>
          </p:cNvPr>
          <p:cNvSpPr>
            <a:spLocks noGrp="1"/>
          </p:cNvSpPr>
          <p:nvPr/>
        </p:nvSpPr>
        <p:spPr>
          <a:xfrm>
            <a:off x="8648700" y="2936954"/>
            <a:ext cx="209550" cy="209550"/>
          </a:xfrm>
          <a:prstGeom prst="ellipse">
            <a:avLst/>
          </a:prstGeom>
          <a:solidFill>
            <a:srgbClr val="252525"/>
          </a:solidFill>
          <a:ln w="0">
            <a:noFill/>
          </a:ln>
        </p:spPr>
        <p:txBody>
          <a:bodyPr/>
          <a:lstStyle/>
          <a:p>
            <a:endParaRPr/>
          </a:p>
        </p:txBody>
      </p:sp>
      <p:sp>
        <p:nvSpPr>
          <p:cNvPr id="30" name="Right Arrow 29">
            <a:extLst>
              <a:ext uri="{FF2B5EF4-FFF2-40B4-BE49-F238E27FC236}">
                <a16:creationId xmlns:a16="http://schemas.microsoft.com/office/drawing/2014/main" id="{E10AD833-7A72-BB22-5575-21A041396E8A}"/>
              </a:ext>
            </a:extLst>
          </p:cNvPr>
          <p:cNvSpPr>
            <a:spLocks noGrp="1"/>
          </p:cNvSpPr>
          <p:nvPr/>
        </p:nvSpPr>
        <p:spPr>
          <a:xfrm>
            <a:off x="8382000" y="2965529"/>
            <a:ext cx="247650" cy="152400"/>
          </a:xfrm>
          <a:prstGeom prst="rightArrow">
            <a:avLst/>
          </a:prstGeom>
          <a:solidFill>
            <a:srgbClr val="666666"/>
          </a:solidFill>
          <a:ln w="0">
            <a:noFill/>
          </a:ln>
        </p:spPr>
        <p:txBody>
          <a:bodyPr/>
          <a:lstStyle/>
          <a:p>
            <a:endParaRPr/>
          </a:p>
        </p:txBody>
      </p:sp>
      <p:sp>
        <p:nvSpPr>
          <p:cNvPr id="31" name="Label: dx/dt = f(x)">
            <a:extLst>
              <a:ext uri="{FF2B5EF4-FFF2-40B4-BE49-F238E27FC236}">
                <a16:creationId xmlns:a16="http://schemas.microsoft.com/office/drawing/2014/main" id="{DD801566-8640-AEC6-1536-08CD8397A612}"/>
              </a:ext>
            </a:extLst>
          </p:cNvPr>
          <p:cNvSpPr>
            <a:spLocks noGrp="1"/>
          </p:cNvSpPr>
          <p:nvPr/>
        </p:nvSpPr>
        <p:spPr>
          <a:xfrm>
            <a:off x="10172700" y="2775029"/>
            <a:ext cx="1466850" cy="590550"/>
          </a:xfrm>
          <a:prstGeom prst="rect">
            <a:avLst/>
          </a:prstGeom>
          <a:noFill/>
          <a:ln w="0">
            <a:noFill/>
          </a:ln>
        </p:spPr>
        <p:txBody>
          <a:bodyPr anchor="ctr">
            <a:noAutofit/>
          </a:bodyPr>
          <a:lstStyle/>
          <a:p>
            <a:pPr algn="ctr">
              <a:buNone/>
              <a:defRPr sz="1950" b="0">
                <a:solidFill>
                  <a:srgbClr val="252525"/>
                </a:solidFill>
                <a:latin typeface="Arial"/>
                <a:ea typeface="Arial"/>
                <a:cs typeface="Arial"/>
              </a:defRPr>
            </a:pPr>
            <a:r>
              <a:rPr sz="1950" b="0">
                <a:solidFill>
                  <a:srgbClr val="252525"/>
                </a:solidFill>
                <a:latin typeface="Arial"/>
                <a:ea typeface="Arial"/>
                <a:cs typeface="Arial"/>
              </a:rPr>
              <a:t>dx/dt = f(x)</a:t>
            </a:r>
          </a:p>
        </p:txBody>
      </p:sp>
      <p:sp>
        <p:nvSpPr>
          <p:cNvPr id="51" name="Critical transition: phenomenon to model">
            <a:extLst>
              <a:ext uri="{FF2B5EF4-FFF2-40B4-BE49-F238E27FC236}">
                <a16:creationId xmlns:a16="http://schemas.microsoft.com/office/drawing/2014/main" id="{B95117FE-6B9C-4CD9-8B79-987DBFF5434F}"/>
              </a:ext>
            </a:extLst>
          </p:cNvPr>
          <p:cNvSpPr>
            <a:spLocks noGrp="1"/>
          </p:cNvSpPr>
          <p:nvPr/>
        </p:nvSpPr>
        <p:spPr>
          <a:xfrm>
            <a:off x="7143750" y="3228213"/>
            <a:ext cx="323850" cy="285750"/>
          </a:xfrm>
          <a:prstGeom prst="rightArrow">
            <a:avLst/>
          </a:prstGeom>
          <a:solidFill>
            <a:srgbClr val="A8572A"/>
          </a:solidFill>
          <a:ln w="0">
            <a:noFill/>
          </a:ln>
        </p:spPr>
        <p:txBody>
          <a:bodyPr/>
          <a:lstStyle/>
          <a:p>
            <a:endParaRPr lang="en-US"/>
          </a:p>
        </p:txBody>
      </p:sp>
      <p:sp>
        <p:nvSpPr>
          <p:cNvPr id="52" name="Research loop: down from mathematics">
            <a:extLst>
              <a:ext uri="{FF2B5EF4-FFF2-40B4-BE49-F238E27FC236}">
                <a16:creationId xmlns:a16="http://schemas.microsoft.com/office/drawing/2014/main" id="{50888437-8751-4000-8407-CB2822B7EDA4}"/>
              </a:ext>
            </a:extLst>
          </p:cNvPr>
          <p:cNvSpPr>
            <a:spLocks noGrp="1"/>
          </p:cNvSpPr>
          <p:nvPr/>
        </p:nvSpPr>
        <p:spPr>
          <a:xfrm>
            <a:off x="10887075" y="4289489"/>
            <a:ext cx="28575" cy="666750"/>
          </a:xfrm>
          <a:prstGeom prst="rect">
            <a:avLst/>
          </a:prstGeom>
          <a:solidFill>
            <a:srgbClr val="666666"/>
          </a:solidFill>
          <a:ln w="0">
            <a:noFill/>
          </a:ln>
        </p:spPr>
        <p:txBody>
          <a:bodyPr/>
          <a:lstStyle/>
          <a:p>
            <a:endParaRPr lang="en-US"/>
          </a:p>
        </p:txBody>
      </p:sp>
      <p:sp>
        <p:nvSpPr>
          <p:cNvPr id="53" name="Research loop: mathematics to phenomenon">
            <a:extLst>
              <a:ext uri="{FF2B5EF4-FFF2-40B4-BE49-F238E27FC236}">
                <a16:creationId xmlns:a16="http://schemas.microsoft.com/office/drawing/2014/main" id="{ECE648E9-3C08-4B1E-A1DA-5BA71E175767}"/>
              </a:ext>
            </a:extLst>
          </p:cNvPr>
          <p:cNvSpPr>
            <a:spLocks noGrp="1"/>
          </p:cNvSpPr>
          <p:nvPr/>
        </p:nvSpPr>
        <p:spPr>
          <a:xfrm>
            <a:off x="6191250" y="4867275"/>
            <a:ext cx="4724400" cy="171450"/>
          </a:xfrm>
          <a:prstGeom prst="leftArrow">
            <a:avLst/>
          </a:prstGeom>
          <a:solidFill>
            <a:srgbClr val="666666"/>
          </a:solidFill>
          <a:ln w="0">
            <a:noFill/>
          </a:ln>
        </p:spPr>
        <p:txBody>
          <a:bodyPr/>
          <a:lstStyle/>
          <a:p>
            <a:endParaRPr lang="en-US"/>
          </a:p>
        </p:txBody>
      </p:sp>
      <p:sp>
        <p:nvSpPr>
          <p:cNvPr id="54" name="Research loop: return to phenomenon">
            <a:extLst>
              <a:ext uri="{FF2B5EF4-FFF2-40B4-BE49-F238E27FC236}">
                <a16:creationId xmlns:a16="http://schemas.microsoft.com/office/drawing/2014/main" id="{9E9667C3-AF0A-4F99-AC39-238DEC754605}"/>
              </a:ext>
            </a:extLst>
          </p:cNvPr>
          <p:cNvSpPr>
            <a:spLocks noGrp="1"/>
          </p:cNvSpPr>
          <p:nvPr/>
        </p:nvSpPr>
        <p:spPr>
          <a:xfrm>
            <a:off x="5972175" y="4581525"/>
            <a:ext cx="266700" cy="457200"/>
          </a:xfrm>
          <a:prstGeom prst="upArrow">
            <a:avLst/>
          </a:prstGeom>
          <a:solidFill>
            <a:srgbClr val="666666"/>
          </a:solidFill>
          <a:ln w="0">
            <a:noFill/>
          </a:ln>
        </p:spPr>
        <p:txBody>
          <a:bodyPr/>
          <a:lstStyle/>
          <a:p>
            <a:endParaRPr lang="en-US"/>
          </a:p>
        </p:txBody>
      </p:sp>
      <p:sp>
        <p:nvSpPr>
          <p:cNvPr id="55" name="Label: Predictions return to the phenomenon">
            <a:extLst>
              <a:ext uri="{FF2B5EF4-FFF2-40B4-BE49-F238E27FC236}">
                <a16:creationId xmlns:a16="http://schemas.microsoft.com/office/drawing/2014/main" id="{CC66EDE1-817A-4E8E-9287-019776F02C51}"/>
              </a:ext>
            </a:extLst>
          </p:cNvPr>
          <p:cNvSpPr>
            <a:spLocks noGrp="1"/>
          </p:cNvSpPr>
          <p:nvPr/>
        </p:nvSpPr>
        <p:spPr>
          <a:xfrm>
            <a:off x="6953250" y="5086350"/>
            <a:ext cx="3238500" cy="247650"/>
          </a:xfrm>
          <a:prstGeom prst="rect">
            <a:avLst/>
          </a:prstGeom>
          <a:noFill/>
          <a:ln w="0">
            <a:noFill/>
          </a:ln>
        </p:spPr>
        <p:txBody>
          <a:bodyPr anchor="ctr">
            <a:noAutofit/>
          </a:bodyPr>
          <a:lstStyle/>
          <a:p>
            <a:pPr algn="ctr">
              <a:buNone/>
              <a:defRPr sz="1275" b="0">
                <a:solidFill>
                  <a:srgbClr val="666666"/>
                </a:solidFill>
                <a:latin typeface="Mazda Type"/>
                <a:ea typeface="Mazda Type"/>
                <a:cs typeface="Mazda Type"/>
              </a:defRPr>
            </a:pPr>
            <a:r>
              <a:rPr sz="1275" b="0">
                <a:solidFill>
                  <a:srgbClr val="666666"/>
                </a:solidFill>
                <a:latin typeface="Mazda Type"/>
                <a:ea typeface="Mazda Type"/>
                <a:cs typeface="Mazda Type"/>
              </a:rPr>
              <a:t>Predictions return to the phenomenon</a:t>
            </a:r>
          </a:p>
        </p:txBody>
      </p:sp>
      <p:sp>
        <p:nvSpPr>
          <p:cNvPr id="56" name="Feedback loop revision mask">
            <a:extLst>
              <a:ext uri="{FF2B5EF4-FFF2-40B4-BE49-F238E27FC236}">
                <a16:creationId xmlns:a16="http://schemas.microsoft.com/office/drawing/2014/main" id="{5BB6FE8D-9D18-478E-B5A8-4A604A4A1D48}"/>
              </a:ext>
            </a:extLst>
          </p:cNvPr>
          <p:cNvSpPr>
            <a:spLocks noGrp="1"/>
          </p:cNvSpPr>
          <p:nvPr/>
        </p:nvSpPr>
        <p:spPr>
          <a:xfrm>
            <a:off x="2667000" y="4438650"/>
            <a:ext cx="8572500" cy="1000125"/>
          </a:xfrm>
          <a:prstGeom prst="rect">
            <a:avLst/>
          </a:prstGeom>
          <a:solidFill>
            <a:srgbClr val="FFFFFF"/>
          </a:solidFill>
          <a:ln w="0">
            <a:noFill/>
          </a:ln>
        </p:spPr>
        <p:txBody>
          <a:bodyPr/>
          <a:lstStyle/>
          <a:p>
            <a:endParaRPr lang="en-US"/>
          </a:p>
        </p:txBody>
      </p:sp>
      <p:sp>
        <p:nvSpPr>
          <p:cNvPr id="57" name="Feedback: mathematics to return line">
            <a:extLst>
              <a:ext uri="{FF2B5EF4-FFF2-40B4-BE49-F238E27FC236}">
                <a16:creationId xmlns:a16="http://schemas.microsoft.com/office/drawing/2014/main" id="{23644B94-AE20-4D64-B480-2F977926856D}"/>
              </a:ext>
            </a:extLst>
          </p:cNvPr>
          <p:cNvSpPr>
            <a:spLocks noGrp="1"/>
          </p:cNvSpPr>
          <p:nvPr/>
        </p:nvSpPr>
        <p:spPr>
          <a:xfrm>
            <a:off x="10887075" y="4295013"/>
            <a:ext cx="28575" cy="657987"/>
          </a:xfrm>
          <a:prstGeom prst="rect">
            <a:avLst/>
          </a:prstGeom>
          <a:solidFill>
            <a:srgbClr val="666666"/>
          </a:solidFill>
          <a:ln w="0">
            <a:noFill/>
          </a:ln>
        </p:spPr>
        <p:txBody>
          <a:bodyPr/>
          <a:lstStyle/>
          <a:p>
            <a:endParaRPr lang="en-US"/>
          </a:p>
        </p:txBody>
      </p:sp>
      <p:sp>
        <p:nvSpPr>
          <p:cNvPr id="58" name="Feedback: right-to-left backbone">
            <a:extLst>
              <a:ext uri="{FF2B5EF4-FFF2-40B4-BE49-F238E27FC236}">
                <a16:creationId xmlns:a16="http://schemas.microsoft.com/office/drawing/2014/main" id="{D0DCAE49-B927-4F31-8DD8-56A9AA5B1C4F}"/>
              </a:ext>
            </a:extLst>
          </p:cNvPr>
          <p:cNvSpPr>
            <a:spLocks noGrp="1"/>
          </p:cNvSpPr>
          <p:nvPr/>
        </p:nvSpPr>
        <p:spPr>
          <a:xfrm>
            <a:off x="3705225" y="4867275"/>
            <a:ext cx="7210425" cy="171450"/>
          </a:xfrm>
          <a:prstGeom prst="leftArrow">
            <a:avLst/>
          </a:prstGeom>
          <a:solidFill>
            <a:srgbClr val="666666"/>
          </a:solidFill>
          <a:ln w="0">
            <a:noFill/>
          </a:ln>
        </p:spPr>
        <p:txBody>
          <a:bodyPr/>
          <a:lstStyle/>
          <a:p>
            <a:endParaRPr lang="en-US"/>
          </a:p>
        </p:txBody>
      </p:sp>
      <p:sp>
        <p:nvSpPr>
          <p:cNvPr id="59" name="Feedback branch: physical picture">
            <a:extLst>
              <a:ext uri="{FF2B5EF4-FFF2-40B4-BE49-F238E27FC236}">
                <a16:creationId xmlns:a16="http://schemas.microsoft.com/office/drawing/2014/main" id="{1559E54C-45E9-48AF-B584-EA6A1D5CEF70}"/>
              </a:ext>
            </a:extLst>
          </p:cNvPr>
          <p:cNvSpPr>
            <a:spLocks noGrp="1"/>
          </p:cNvSpPr>
          <p:nvPr/>
        </p:nvSpPr>
        <p:spPr>
          <a:xfrm>
            <a:off x="3571875" y="4590288"/>
            <a:ext cx="266700" cy="362712"/>
          </a:xfrm>
          <a:prstGeom prst="upArrow">
            <a:avLst/>
          </a:prstGeom>
          <a:solidFill>
            <a:srgbClr val="666666"/>
          </a:solidFill>
          <a:ln w="0">
            <a:noFill/>
          </a:ln>
        </p:spPr>
        <p:txBody>
          <a:bodyPr/>
          <a:lstStyle/>
          <a:p>
            <a:endParaRPr lang="en-US"/>
          </a:p>
        </p:txBody>
      </p:sp>
      <p:sp>
        <p:nvSpPr>
          <p:cNvPr id="60" name="Feedback branch: quantitative phenomenon">
            <a:extLst>
              <a:ext uri="{FF2B5EF4-FFF2-40B4-BE49-F238E27FC236}">
                <a16:creationId xmlns:a16="http://schemas.microsoft.com/office/drawing/2014/main" id="{48A217EA-F55C-47E9-8A64-E5BFC2CBFC89}"/>
              </a:ext>
            </a:extLst>
          </p:cNvPr>
          <p:cNvSpPr>
            <a:spLocks noGrp="1"/>
          </p:cNvSpPr>
          <p:nvPr/>
        </p:nvSpPr>
        <p:spPr>
          <a:xfrm>
            <a:off x="5972175" y="4590288"/>
            <a:ext cx="266700" cy="362712"/>
          </a:xfrm>
          <a:prstGeom prst="upArrow">
            <a:avLst/>
          </a:prstGeom>
          <a:solidFill>
            <a:srgbClr val="666666"/>
          </a:solidFill>
          <a:ln w="0">
            <a:noFill/>
          </a:ln>
        </p:spPr>
        <p:txBody>
          <a:bodyPr/>
          <a:lstStyle/>
          <a:p>
            <a:endParaRPr lang="en-US"/>
          </a:p>
        </p:txBody>
      </p:sp>
      <p:sp>
        <p:nvSpPr>
          <p:cNvPr id="61" name="Label: Mathematics informs the picture and the phenomenon">
            <a:extLst>
              <a:ext uri="{FF2B5EF4-FFF2-40B4-BE49-F238E27FC236}">
                <a16:creationId xmlns:a16="http://schemas.microsoft.com/office/drawing/2014/main" id="{F2D9435F-43C3-4EAA-94F5-B760AB7EA5F7}"/>
              </a:ext>
            </a:extLst>
          </p:cNvPr>
          <p:cNvSpPr>
            <a:spLocks noGrp="1"/>
          </p:cNvSpPr>
          <p:nvPr/>
        </p:nvSpPr>
        <p:spPr>
          <a:xfrm>
            <a:off x="6191250" y="5095875"/>
            <a:ext cx="4286250" cy="257175"/>
          </a:xfrm>
          <a:prstGeom prst="rect">
            <a:avLst/>
          </a:prstGeom>
          <a:noFill/>
          <a:ln w="0">
            <a:noFill/>
          </a:ln>
        </p:spPr>
        <p:txBody>
          <a:bodyPr anchor="ctr">
            <a:noAutofit/>
          </a:bodyPr>
          <a:lstStyle/>
          <a:p>
            <a:pPr algn="ctr">
              <a:defRPr sz="1275" b="0">
                <a:solidFill>
                  <a:srgbClr val="666666"/>
                </a:solidFill>
                <a:latin typeface="Mazda Type"/>
                <a:ea typeface="Mazda Type"/>
                <a:cs typeface="Mazda Type"/>
              </a:defRPr>
            </a:pPr>
            <a:r>
              <a:rPr sz="1275" b="0">
                <a:solidFill>
                  <a:srgbClr val="666666"/>
                </a:solidFill>
                <a:latin typeface="Mazda Type"/>
                <a:ea typeface="Mazda Type"/>
                <a:cs typeface="Mazda Type"/>
              </a:rPr>
              <a:t>Mathematics informs the picture and the phenomenon</a:t>
            </a:r>
          </a:p>
        </p:txBody>
      </p:sp>
    </p:spTree>
    <p:extLst>
      <p:ext uri="{BB962C8B-B14F-4D97-AF65-F5344CB8AC3E}">
        <p14:creationId xmlns:p14="http://schemas.microsoft.com/office/powerpoint/2010/main" val="4284207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tage 1: Alien world">
            <a:extLst>
              <a:ext uri="{FF2B5EF4-FFF2-40B4-BE49-F238E27FC236}">
                <a16:creationId xmlns:a16="http://schemas.microsoft.com/office/drawing/2014/main" id="{70A64F1B-3160-4BC9-8946-095A8B8FD95D}"/>
              </a:ext>
            </a:extLst>
          </p:cNvPr>
          <p:cNvSpPr>
            <a:spLocks noGrp="1"/>
          </p:cNvSpPr>
          <p:nvPr/>
        </p:nvSpPr>
        <p:spPr>
          <a:xfrm>
            <a:off x="400050" y="1352550"/>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2" name="Label: Alien world">
            <a:extLst>
              <a:ext uri="{FF2B5EF4-FFF2-40B4-BE49-F238E27FC236}">
                <a16:creationId xmlns:a16="http://schemas.microsoft.com/office/drawing/2014/main" id="{939586BD-7561-4C64-A978-B471657FB5D2}"/>
              </a:ext>
            </a:extLst>
          </p:cNvPr>
          <p:cNvSpPr>
            <a:spLocks noGrp="1"/>
          </p:cNvSpPr>
          <p:nvPr/>
        </p:nvSpPr>
        <p:spPr>
          <a:xfrm>
            <a:off x="514350" y="2486025"/>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Alien world</a:t>
            </a:r>
          </a:p>
        </p:txBody>
      </p:sp>
      <p:sp>
        <p:nvSpPr>
          <p:cNvPr id="3" name="Stage 2: Physical picture">
            <a:extLst>
              <a:ext uri="{FF2B5EF4-FFF2-40B4-BE49-F238E27FC236}">
                <a16:creationId xmlns:a16="http://schemas.microsoft.com/office/drawing/2014/main" id="{3057FABC-E5D0-4546-912C-5E1DE3B49BBA}"/>
              </a:ext>
            </a:extLst>
          </p:cNvPr>
          <p:cNvSpPr>
            <a:spLocks noGrp="1"/>
          </p:cNvSpPr>
          <p:nvPr/>
        </p:nvSpPr>
        <p:spPr>
          <a:xfrm>
            <a:off x="2800350" y="1352550"/>
            <a:ext cx="1809750" cy="1809750"/>
          </a:xfrm>
          <a:prstGeom prst="roundRect">
            <a:avLst>
              <a:gd name="adj" fmla="val 4211"/>
            </a:avLst>
          </a:prstGeom>
          <a:solidFill>
            <a:srgbClr val="FBF1EA"/>
          </a:solidFill>
          <a:ln w="19050">
            <a:solidFill>
              <a:srgbClr val="A8572A"/>
            </a:solidFill>
          </a:ln>
        </p:spPr>
        <p:txBody>
          <a:bodyPr/>
          <a:lstStyle/>
          <a:p>
            <a:endParaRPr/>
          </a:p>
        </p:txBody>
      </p:sp>
      <p:sp>
        <p:nvSpPr>
          <p:cNvPr id="4" name="Label: Physical picture">
            <a:extLst>
              <a:ext uri="{FF2B5EF4-FFF2-40B4-BE49-F238E27FC236}">
                <a16:creationId xmlns:a16="http://schemas.microsoft.com/office/drawing/2014/main" id="{FBFA8A3B-06D0-41FF-8B49-188223E48665}"/>
              </a:ext>
            </a:extLst>
          </p:cNvPr>
          <p:cNvSpPr>
            <a:spLocks noGrp="1"/>
          </p:cNvSpPr>
          <p:nvPr/>
        </p:nvSpPr>
        <p:spPr>
          <a:xfrm>
            <a:off x="2914650" y="2486025"/>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Physical</a:t>
            </a:r>
          </a:p>
          <a:p>
            <a:pPr algn="ctr">
              <a:buNone/>
              <a:defRPr sz="1650" b="0">
                <a:solidFill>
                  <a:srgbClr val="252525"/>
                </a:solidFill>
                <a:latin typeface="Arial"/>
                <a:ea typeface="Arial"/>
                <a:cs typeface="Arial"/>
              </a:defRPr>
            </a:pPr>
            <a:r>
              <a:rPr sz="1650" b="0">
                <a:solidFill>
                  <a:srgbClr val="252525"/>
                </a:solidFill>
                <a:latin typeface="Arial"/>
                <a:ea typeface="Arial"/>
                <a:cs typeface="Arial"/>
              </a:rPr>
              <a:t>picture</a:t>
            </a:r>
          </a:p>
        </p:txBody>
      </p:sp>
      <p:sp>
        <p:nvSpPr>
          <p:cNvPr id="5" name="Stage 3: Quantitative phenomenon">
            <a:extLst>
              <a:ext uri="{FF2B5EF4-FFF2-40B4-BE49-F238E27FC236}">
                <a16:creationId xmlns:a16="http://schemas.microsoft.com/office/drawing/2014/main" id="{4952C625-33BF-4A46-AC4C-35B4D36899EB}"/>
              </a:ext>
            </a:extLst>
          </p:cNvPr>
          <p:cNvSpPr>
            <a:spLocks noGrp="1"/>
          </p:cNvSpPr>
          <p:nvPr/>
        </p:nvSpPr>
        <p:spPr>
          <a:xfrm>
            <a:off x="5200650" y="1352550"/>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6" name="Label: Quantitative phenomenon">
            <a:extLst>
              <a:ext uri="{FF2B5EF4-FFF2-40B4-BE49-F238E27FC236}">
                <a16:creationId xmlns:a16="http://schemas.microsoft.com/office/drawing/2014/main" id="{B92CC865-B32D-41E7-BECB-99F502126D6A}"/>
              </a:ext>
            </a:extLst>
          </p:cNvPr>
          <p:cNvSpPr>
            <a:spLocks noGrp="1"/>
          </p:cNvSpPr>
          <p:nvPr/>
        </p:nvSpPr>
        <p:spPr>
          <a:xfrm>
            <a:off x="5314950" y="2486025"/>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Quantitative</a:t>
            </a:r>
          </a:p>
          <a:p>
            <a:pPr algn="ctr">
              <a:buNone/>
              <a:defRPr sz="1650" b="0">
                <a:solidFill>
                  <a:srgbClr val="252525"/>
                </a:solidFill>
                <a:latin typeface="Arial"/>
                <a:ea typeface="Arial"/>
                <a:cs typeface="Arial"/>
              </a:defRPr>
            </a:pPr>
            <a:r>
              <a:rPr sz="1650" b="0">
                <a:solidFill>
                  <a:srgbClr val="252525"/>
                </a:solidFill>
                <a:latin typeface="Arial"/>
                <a:ea typeface="Arial"/>
                <a:cs typeface="Arial"/>
              </a:rPr>
              <a:t>phenomenon</a:t>
            </a:r>
          </a:p>
        </p:txBody>
      </p:sp>
      <p:sp>
        <p:nvSpPr>
          <p:cNvPr id="7" name="Stage 4: Model">
            <a:extLst>
              <a:ext uri="{FF2B5EF4-FFF2-40B4-BE49-F238E27FC236}">
                <a16:creationId xmlns:a16="http://schemas.microsoft.com/office/drawing/2014/main" id="{C78432A4-884D-4B41-9D6D-2143A98008F7}"/>
              </a:ext>
            </a:extLst>
          </p:cNvPr>
          <p:cNvSpPr>
            <a:spLocks noGrp="1"/>
          </p:cNvSpPr>
          <p:nvPr/>
        </p:nvSpPr>
        <p:spPr>
          <a:xfrm>
            <a:off x="7600950" y="1352550"/>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8" name="Label: Model">
            <a:extLst>
              <a:ext uri="{FF2B5EF4-FFF2-40B4-BE49-F238E27FC236}">
                <a16:creationId xmlns:a16="http://schemas.microsoft.com/office/drawing/2014/main" id="{27D7FCBF-1021-4D1A-8483-40A2B658E996}"/>
              </a:ext>
            </a:extLst>
          </p:cNvPr>
          <p:cNvSpPr>
            <a:spLocks noGrp="1"/>
          </p:cNvSpPr>
          <p:nvPr/>
        </p:nvSpPr>
        <p:spPr>
          <a:xfrm>
            <a:off x="7715250" y="2486025"/>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Model</a:t>
            </a:r>
          </a:p>
        </p:txBody>
      </p:sp>
      <p:sp>
        <p:nvSpPr>
          <p:cNvPr id="9" name="Stage 5: Mathematics">
            <a:extLst>
              <a:ext uri="{FF2B5EF4-FFF2-40B4-BE49-F238E27FC236}">
                <a16:creationId xmlns:a16="http://schemas.microsoft.com/office/drawing/2014/main" id="{07FB3C84-D1F2-46E0-A4EA-690185F1213C}"/>
              </a:ext>
            </a:extLst>
          </p:cNvPr>
          <p:cNvSpPr>
            <a:spLocks noGrp="1"/>
          </p:cNvSpPr>
          <p:nvPr/>
        </p:nvSpPr>
        <p:spPr>
          <a:xfrm>
            <a:off x="10001250" y="1352550"/>
            <a:ext cx="1809750" cy="1809750"/>
          </a:xfrm>
          <a:prstGeom prst="roundRect">
            <a:avLst>
              <a:gd name="adj" fmla="val 4211"/>
            </a:avLst>
          </a:prstGeom>
          <a:solidFill>
            <a:srgbClr val="F6F6F3"/>
          </a:solidFill>
          <a:ln w="19050">
            <a:solidFill>
              <a:srgbClr val="252525"/>
            </a:solidFill>
          </a:ln>
        </p:spPr>
        <p:txBody>
          <a:bodyPr/>
          <a:lstStyle/>
          <a:p>
            <a:endParaRPr/>
          </a:p>
        </p:txBody>
      </p:sp>
      <p:sp>
        <p:nvSpPr>
          <p:cNvPr id="10" name="Label: Mathematics">
            <a:extLst>
              <a:ext uri="{FF2B5EF4-FFF2-40B4-BE49-F238E27FC236}">
                <a16:creationId xmlns:a16="http://schemas.microsoft.com/office/drawing/2014/main" id="{9299256D-BA90-4B0E-AACE-CC44CFA76F59}"/>
              </a:ext>
            </a:extLst>
          </p:cNvPr>
          <p:cNvSpPr>
            <a:spLocks noGrp="1"/>
          </p:cNvSpPr>
          <p:nvPr/>
        </p:nvSpPr>
        <p:spPr>
          <a:xfrm>
            <a:off x="10115550" y="2486025"/>
            <a:ext cx="1581150" cy="552450"/>
          </a:xfrm>
          <a:prstGeom prst="rect">
            <a:avLst/>
          </a:prstGeom>
          <a:noFill/>
          <a:ln w="0">
            <a:noFill/>
          </a:ln>
        </p:spPr>
        <p:txBody>
          <a:bodyPr anchor="ctr">
            <a:noAutofit/>
          </a:bodyPr>
          <a:lstStyle/>
          <a:p>
            <a:pPr algn="ctr">
              <a:buNone/>
              <a:defRPr sz="1650" b="0">
                <a:solidFill>
                  <a:srgbClr val="252525"/>
                </a:solidFill>
                <a:latin typeface="Arial"/>
                <a:ea typeface="Arial"/>
                <a:cs typeface="Arial"/>
              </a:defRPr>
            </a:pPr>
            <a:r>
              <a:rPr sz="1650" b="0">
                <a:solidFill>
                  <a:srgbClr val="252525"/>
                </a:solidFill>
                <a:latin typeface="Arial"/>
                <a:ea typeface="Arial"/>
                <a:cs typeface="Arial"/>
              </a:rPr>
              <a:t>Mathematics</a:t>
            </a:r>
          </a:p>
        </p:txBody>
      </p:sp>
      <p:sp>
        <p:nvSpPr>
          <p:cNvPr id="11" name="Arrow 1">
            <a:extLst>
              <a:ext uri="{FF2B5EF4-FFF2-40B4-BE49-F238E27FC236}">
                <a16:creationId xmlns:a16="http://schemas.microsoft.com/office/drawing/2014/main" id="{14325F4C-77BE-49C1-AA9C-A5C33A850F34}"/>
              </a:ext>
            </a:extLst>
          </p:cNvPr>
          <p:cNvSpPr>
            <a:spLocks noGrp="1"/>
          </p:cNvSpPr>
          <p:nvPr/>
        </p:nvSpPr>
        <p:spPr>
          <a:xfrm>
            <a:off x="2343150" y="2095500"/>
            <a:ext cx="323850" cy="285750"/>
          </a:xfrm>
          <a:prstGeom prst="rightArrow">
            <a:avLst/>
          </a:prstGeom>
          <a:solidFill>
            <a:srgbClr val="666666"/>
          </a:solidFill>
          <a:ln w="0">
            <a:noFill/>
          </a:ln>
        </p:spPr>
        <p:txBody>
          <a:bodyPr/>
          <a:lstStyle/>
          <a:p>
            <a:endParaRPr/>
          </a:p>
        </p:txBody>
      </p:sp>
      <p:sp>
        <p:nvSpPr>
          <p:cNvPr id="12" name="Arrow 2">
            <a:extLst>
              <a:ext uri="{FF2B5EF4-FFF2-40B4-BE49-F238E27FC236}">
                <a16:creationId xmlns:a16="http://schemas.microsoft.com/office/drawing/2014/main" id="{47BB1C71-7714-4967-BA6D-7F50EBD71901}"/>
              </a:ext>
            </a:extLst>
          </p:cNvPr>
          <p:cNvSpPr>
            <a:spLocks noGrp="1"/>
          </p:cNvSpPr>
          <p:nvPr/>
        </p:nvSpPr>
        <p:spPr>
          <a:xfrm>
            <a:off x="4743450" y="2095500"/>
            <a:ext cx="323850" cy="285750"/>
          </a:xfrm>
          <a:prstGeom prst="rightArrow">
            <a:avLst/>
          </a:prstGeom>
          <a:solidFill>
            <a:srgbClr val="666666"/>
          </a:solidFill>
          <a:ln w="0">
            <a:noFill/>
          </a:ln>
        </p:spPr>
        <p:txBody>
          <a:bodyPr/>
          <a:lstStyle/>
          <a:p>
            <a:endParaRPr/>
          </a:p>
        </p:txBody>
      </p:sp>
      <p:sp>
        <p:nvSpPr>
          <p:cNvPr id="13" name="Arrow 3">
            <a:extLst>
              <a:ext uri="{FF2B5EF4-FFF2-40B4-BE49-F238E27FC236}">
                <a16:creationId xmlns:a16="http://schemas.microsoft.com/office/drawing/2014/main" id="{203C90C8-9AD3-418B-BCF0-A24EA15ED8D6}"/>
              </a:ext>
            </a:extLst>
          </p:cNvPr>
          <p:cNvSpPr>
            <a:spLocks noGrp="1"/>
          </p:cNvSpPr>
          <p:nvPr/>
        </p:nvSpPr>
        <p:spPr>
          <a:xfrm>
            <a:off x="7143750" y="2095500"/>
            <a:ext cx="323850" cy="285750"/>
          </a:xfrm>
          <a:prstGeom prst="rightArrow">
            <a:avLst/>
          </a:prstGeom>
          <a:solidFill>
            <a:srgbClr val="666666"/>
          </a:solidFill>
          <a:ln w="0">
            <a:noFill/>
          </a:ln>
        </p:spPr>
        <p:txBody>
          <a:bodyPr/>
          <a:lstStyle/>
          <a:p>
            <a:endParaRPr/>
          </a:p>
        </p:txBody>
      </p:sp>
      <p:sp>
        <p:nvSpPr>
          <p:cNvPr id="14" name="Arrow 4">
            <a:extLst>
              <a:ext uri="{FF2B5EF4-FFF2-40B4-BE49-F238E27FC236}">
                <a16:creationId xmlns:a16="http://schemas.microsoft.com/office/drawing/2014/main" id="{FD5AF92A-D294-42EC-8BEF-B2CF909919CA}"/>
              </a:ext>
            </a:extLst>
          </p:cNvPr>
          <p:cNvSpPr>
            <a:spLocks noGrp="1"/>
          </p:cNvSpPr>
          <p:nvPr/>
        </p:nvSpPr>
        <p:spPr>
          <a:xfrm>
            <a:off x="9544050" y="2095500"/>
            <a:ext cx="323850" cy="285750"/>
          </a:xfrm>
          <a:prstGeom prst="rightArrow">
            <a:avLst/>
          </a:prstGeom>
          <a:solidFill>
            <a:srgbClr val="666666"/>
          </a:solidFill>
          <a:ln w="0">
            <a:noFill/>
          </a:ln>
        </p:spPr>
        <p:txBody>
          <a:bodyPr/>
          <a:lstStyle/>
          <a:p>
            <a:endParaRPr/>
          </a:p>
        </p:txBody>
      </p:sp>
      <p:sp>
        <p:nvSpPr>
          <p:cNvPr id="15" name="Alien world planet">
            <a:extLst>
              <a:ext uri="{FF2B5EF4-FFF2-40B4-BE49-F238E27FC236}">
                <a16:creationId xmlns:a16="http://schemas.microsoft.com/office/drawing/2014/main" id="{3C20FC9D-E31C-44B3-A7F5-8DEE155F2C3A}"/>
              </a:ext>
            </a:extLst>
          </p:cNvPr>
          <p:cNvSpPr>
            <a:spLocks noGrp="1"/>
          </p:cNvSpPr>
          <p:nvPr/>
        </p:nvSpPr>
        <p:spPr>
          <a:xfrm>
            <a:off x="1066800" y="1647825"/>
            <a:ext cx="476250" cy="476250"/>
          </a:xfrm>
          <a:prstGeom prst="ellipse">
            <a:avLst/>
          </a:prstGeom>
          <a:noFill/>
          <a:ln w="28575">
            <a:solidFill>
              <a:srgbClr val="A8572A"/>
            </a:solidFill>
          </a:ln>
        </p:spPr>
        <p:txBody>
          <a:bodyPr/>
          <a:lstStyle/>
          <a:p>
            <a:endParaRPr/>
          </a:p>
        </p:txBody>
      </p:sp>
      <p:sp>
        <p:nvSpPr>
          <p:cNvPr id="16" name="Alien world orbit">
            <a:extLst>
              <a:ext uri="{FF2B5EF4-FFF2-40B4-BE49-F238E27FC236}">
                <a16:creationId xmlns:a16="http://schemas.microsoft.com/office/drawing/2014/main" id="{7B1C4DB0-5532-4507-A4E8-5DD6109E9A8E}"/>
              </a:ext>
            </a:extLst>
          </p:cNvPr>
          <p:cNvSpPr>
            <a:spLocks noGrp="1"/>
          </p:cNvSpPr>
          <p:nvPr/>
        </p:nvSpPr>
        <p:spPr>
          <a:xfrm>
            <a:off x="904875" y="1990725"/>
            <a:ext cx="819150" cy="38100"/>
          </a:xfrm>
          <a:prstGeom prst="line">
            <a:avLst/>
          </a:prstGeom>
          <a:solidFill>
            <a:srgbClr val="A8572A"/>
          </a:solidFill>
          <a:ln w="28575">
            <a:solidFill>
              <a:srgbClr val="A8572A"/>
            </a:solidFill>
          </a:ln>
        </p:spPr>
        <p:txBody>
          <a:bodyPr/>
          <a:lstStyle/>
          <a:p>
            <a:endParaRPr/>
          </a:p>
        </p:txBody>
      </p:sp>
      <p:sp>
        <p:nvSpPr>
          <p:cNvPr id="17" name="Alien world moon">
            <a:extLst>
              <a:ext uri="{FF2B5EF4-FFF2-40B4-BE49-F238E27FC236}">
                <a16:creationId xmlns:a16="http://schemas.microsoft.com/office/drawing/2014/main" id="{F1F5C938-B93E-4235-B600-AE7EC5E667FC}"/>
              </a:ext>
            </a:extLst>
          </p:cNvPr>
          <p:cNvSpPr>
            <a:spLocks noGrp="1"/>
          </p:cNvSpPr>
          <p:nvPr/>
        </p:nvSpPr>
        <p:spPr>
          <a:xfrm>
            <a:off x="1600200" y="1695450"/>
            <a:ext cx="76200" cy="76200"/>
          </a:xfrm>
          <a:prstGeom prst="ellipse">
            <a:avLst/>
          </a:prstGeom>
          <a:solidFill>
            <a:srgbClr val="A8572A"/>
          </a:solidFill>
          <a:ln w="0">
            <a:noFill/>
          </a:ln>
        </p:spPr>
        <p:txBody>
          <a:bodyPr/>
          <a:lstStyle/>
          <a:p>
            <a:endParaRPr/>
          </a:p>
        </p:txBody>
      </p:sp>
      <p:sp>
        <p:nvSpPr>
          <p:cNvPr id="18" name="Oval 17">
            <a:extLst>
              <a:ext uri="{FF2B5EF4-FFF2-40B4-BE49-F238E27FC236}">
                <a16:creationId xmlns:a16="http://schemas.microsoft.com/office/drawing/2014/main" id="{E63E55A1-BA2C-486A-9DD4-9DDE45835208}"/>
              </a:ext>
            </a:extLst>
          </p:cNvPr>
          <p:cNvSpPr>
            <a:spLocks noGrp="1"/>
          </p:cNvSpPr>
          <p:nvPr/>
        </p:nvSpPr>
        <p:spPr>
          <a:xfrm>
            <a:off x="3171825" y="1866900"/>
            <a:ext cx="285750" cy="285750"/>
          </a:xfrm>
          <a:prstGeom prst="ellipse">
            <a:avLst/>
          </a:prstGeom>
          <a:solidFill>
            <a:srgbClr val="FFFFFF"/>
          </a:solidFill>
          <a:ln w="19050">
            <a:solidFill>
              <a:srgbClr val="252525"/>
            </a:solidFill>
          </a:ln>
        </p:spPr>
        <p:txBody>
          <a:bodyPr/>
          <a:lstStyle/>
          <a:p>
            <a:endParaRPr/>
          </a:p>
        </p:txBody>
      </p:sp>
      <p:sp>
        <p:nvSpPr>
          <p:cNvPr id="19" name="Oval 18">
            <a:extLst>
              <a:ext uri="{FF2B5EF4-FFF2-40B4-BE49-F238E27FC236}">
                <a16:creationId xmlns:a16="http://schemas.microsoft.com/office/drawing/2014/main" id="{6F31567F-E82C-4D93-A9E2-989D504CCBC9}"/>
              </a:ext>
            </a:extLst>
          </p:cNvPr>
          <p:cNvSpPr>
            <a:spLocks noGrp="1"/>
          </p:cNvSpPr>
          <p:nvPr/>
        </p:nvSpPr>
        <p:spPr>
          <a:xfrm>
            <a:off x="3571875" y="1619250"/>
            <a:ext cx="285750" cy="285750"/>
          </a:xfrm>
          <a:prstGeom prst="ellipse">
            <a:avLst/>
          </a:prstGeom>
          <a:solidFill>
            <a:srgbClr val="FFFFFF"/>
          </a:solidFill>
          <a:ln w="19050">
            <a:solidFill>
              <a:srgbClr val="252525"/>
            </a:solidFill>
          </a:ln>
        </p:spPr>
        <p:txBody>
          <a:bodyPr/>
          <a:lstStyle/>
          <a:p>
            <a:endParaRPr/>
          </a:p>
        </p:txBody>
      </p:sp>
      <p:sp>
        <p:nvSpPr>
          <p:cNvPr id="20" name="Oval 19">
            <a:extLst>
              <a:ext uri="{FF2B5EF4-FFF2-40B4-BE49-F238E27FC236}">
                <a16:creationId xmlns:a16="http://schemas.microsoft.com/office/drawing/2014/main" id="{85640988-CF70-4A7B-8FCC-C9A0A85ACF14}"/>
              </a:ext>
            </a:extLst>
          </p:cNvPr>
          <p:cNvSpPr>
            <a:spLocks noGrp="1"/>
          </p:cNvSpPr>
          <p:nvPr/>
        </p:nvSpPr>
        <p:spPr>
          <a:xfrm>
            <a:off x="3971925" y="1866900"/>
            <a:ext cx="285750" cy="285750"/>
          </a:xfrm>
          <a:prstGeom prst="ellipse">
            <a:avLst/>
          </a:prstGeom>
          <a:solidFill>
            <a:srgbClr val="FFFFFF"/>
          </a:solidFill>
          <a:ln w="19050">
            <a:solidFill>
              <a:srgbClr val="252525"/>
            </a:solidFill>
          </a:ln>
        </p:spPr>
        <p:txBody>
          <a:bodyPr/>
          <a:lstStyle/>
          <a:p>
            <a:endParaRPr/>
          </a:p>
        </p:txBody>
      </p:sp>
      <p:sp>
        <p:nvSpPr>
          <p:cNvPr id="21" name="Rectangle 20">
            <a:extLst>
              <a:ext uri="{FF2B5EF4-FFF2-40B4-BE49-F238E27FC236}">
                <a16:creationId xmlns:a16="http://schemas.microsoft.com/office/drawing/2014/main" id="{17ED197A-7ADA-4F32-9BBC-FCE009B7F55B}"/>
              </a:ext>
            </a:extLst>
          </p:cNvPr>
          <p:cNvSpPr>
            <a:spLocks noGrp="1"/>
          </p:cNvSpPr>
          <p:nvPr/>
        </p:nvSpPr>
        <p:spPr>
          <a:xfrm>
            <a:off x="3438525" y="1924050"/>
            <a:ext cx="209550" cy="28575"/>
          </a:xfrm>
          <a:prstGeom prst="rect">
            <a:avLst/>
          </a:prstGeom>
          <a:solidFill>
            <a:srgbClr val="666666"/>
          </a:solidFill>
          <a:ln w="0">
            <a:noFill/>
          </a:ln>
        </p:spPr>
        <p:txBody>
          <a:bodyPr/>
          <a:lstStyle/>
          <a:p>
            <a:endParaRPr/>
          </a:p>
        </p:txBody>
      </p:sp>
      <p:sp>
        <p:nvSpPr>
          <p:cNvPr id="22" name="Rectangle 21">
            <a:extLst>
              <a:ext uri="{FF2B5EF4-FFF2-40B4-BE49-F238E27FC236}">
                <a16:creationId xmlns:a16="http://schemas.microsoft.com/office/drawing/2014/main" id="{6CC993DC-69A0-4D97-AD04-F4C28CFCD86F}"/>
              </a:ext>
            </a:extLst>
          </p:cNvPr>
          <p:cNvSpPr>
            <a:spLocks noGrp="1"/>
          </p:cNvSpPr>
          <p:nvPr/>
        </p:nvSpPr>
        <p:spPr>
          <a:xfrm>
            <a:off x="3790950" y="1924050"/>
            <a:ext cx="209550" cy="28575"/>
          </a:xfrm>
          <a:prstGeom prst="rect">
            <a:avLst/>
          </a:prstGeom>
          <a:solidFill>
            <a:srgbClr val="666666"/>
          </a:solidFill>
          <a:ln w="0">
            <a:noFill/>
          </a:ln>
        </p:spPr>
        <p:txBody>
          <a:bodyPr/>
          <a:lstStyle/>
          <a:p>
            <a:endParaRPr/>
          </a:p>
        </p:txBody>
      </p:sp>
      <p:sp>
        <p:nvSpPr>
          <p:cNvPr id="23" name="Rectangle 22">
            <a:extLst>
              <a:ext uri="{FF2B5EF4-FFF2-40B4-BE49-F238E27FC236}">
                <a16:creationId xmlns:a16="http://schemas.microsoft.com/office/drawing/2014/main" id="{938B5ABC-6001-4A62-B0A8-6C9A4500F509}"/>
              </a:ext>
            </a:extLst>
          </p:cNvPr>
          <p:cNvSpPr>
            <a:spLocks noGrp="1"/>
          </p:cNvSpPr>
          <p:nvPr/>
        </p:nvSpPr>
        <p:spPr>
          <a:xfrm>
            <a:off x="5705475" y="2019300"/>
            <a:ext cx="161925" cy="257175"/>
          </a:xfrm>
          <a:prstGeom prst="rect">
            <a:avLst/>
          </a:prstGeom>
          <a:solidFill>
            <a:srgbClr val="252525"/>
          </a:solidFill>
          <a:ln w="0">
            <a:noFill/>
          </a:ln>
        </p:spPr>
        <p:txBody>
          <a:bodyPr/>
          <a:lstStyle/>
          <a:p>
            <a:endParaRPr/>
          </a:p>
        </p:txBody>
      </p:sp>
      <p:sp>
        <p:nvSpPr>
          <p:cNvPr id="24" name="Rectangle 23">
            <a:extLst>
              <a:ext uri="{FF2B5EF4-FFF2-40B4-BE49-F238E27FC236}">
                <a16:creationId xmlns:a16="http://schemas.microsoft.com/office/drawing/2014/main" id="{8E265662-A501-4428-BC40-488BC08AB60E}"/>
              </a:ext>
            </a:extLst>
          </p:cNvPr>
          <p:cNvSpPr>
            <a:spLocks noGrp="1"/>
          </p:cNvSpPr>
          <p:nvPr/>
        </p:nvSpPr>
        <p:spPr>
          <a:xfrm>
            <a:off x="6019800" y="1809750"/>
            <a:ext cx="161925" cy="466725"/>
          </a:xfrm>
          <a:prstGeom prst="rect">
            <a:avLst/>
          </a:prstGeom>
          <a:solidFill>
            <a:srgbClr val="252525"/>
          </a:solidFill>
          <a:ln w="0">
            <a:noFill/>
          </a:ln>
        </p:spPr>
        <p:txBody>
          <a:bodyPr/>
          <a:lstStyle/>
          <a:p>
            <a:endParaRPr/>
          </a:p>
        </p:txBody>
      </p:sp>
      <p:sp>
        <p:nvSpPr>
          <p:cNvPr id="25" name="Rectangle 24">
            <a:extLst>
              <a:ext uri="{FF2B5EF4-FFF2-40B4-BE49-F238E27FC236}">
                <a16:creationId xmlns:a16="http://schemas.microsoft.com/office/drawing/2014/main" id="{3A203843-40E2-4E4D-8B1F-7A0D88E0F3FD}"/>
              </a:ext>
            </a:extLst>
          </p:cNvPr>
          <p:cNvSpPr>
            <a:spLocks noGrp="1"/>
          </p:cNvSpPr>
          <p:nvPr/>
        </p:nvSpPr>
        <p:spPr>
          <a:xfrm>
            <a:off x="6334125" y="1590675"/>
            <a:ext cx="161925" cy="685800"/>
          </a:xfrm>
          <a:prstGeom prst="rect">
            <a:avLst/>
          </a:prstGeom>
          <a:solidFill>
            <a:srgbClr val="252525"/>
          </a:solidFill>
          <a:ln w="0">
            <a:noFill/>
          </a:ln>
        </p:spPr>
        <p:txBody>
          <a:bodyPr/>
          <a:lstStyle/>
          <a:p>
            <a:endParaRPr/>
          </a:p>
        </p:txBody>
      </p:sp>
      <p:sp>
        <p:nvSpPr>
          <p:cNvPr id="26" name="Rectangle 25">
            <a:extLst>
              <a:ext uri="{FF2B5EF4-FFF2-40B4-BE49-F238E27FC236}">
                <a16:creationId xmlns:a16="http://schemas.microsoft.com/office/drawing/2014/main" id="{6151870E-667C-4918-A556-3AB5F828034E}"/>
              </a:ext>
            </a:extLst>
          </p:cNvPr>
          <p:cNvSpPr>
            <a:spLocks noGrp="1"/>
          </p:cNvSpPr>
          <p:nvPr/>
        </p:nvSpPr>
        <p:spPr>
          <a:xfrm>
            <a:off x="5600700" y="2276475"/>
            <a:ext cx="1000125" cy="28575"/>
          </a:xfrm>
          <a:prstGeom prst="rect">
            <a:avLst/>
          </a:prstGeom>
          <a:solidFill>
            <a:srgbClr val="666666"/>
          </a:solidFill>
          <a:ln w="0">
            <a:noFill/>
          </a:ln>
        </p:spPr>
        <p:txBody>
          <a:bodyPr/>
          <a:lstStyle/>
          <a:p>
            <a:endParaRPr/>
          </a:p>
        </p:txBody>
      </p:sp>
      <p:sp>
        <p:nvSpPr>
          <p:cNvPr id="27" name="Model boundary">
            <a:extLst>
              <a:ext uri="{FF2B5EF4-FFF2-40B4-BE49-F238E27FC236}">
                <a16:creationId xmlns:a16="http://schemas.microsoft.com/office/drawing/2014/main" id="{A5CEF605-D1FE-48D8-A733-02B31E760171}"/>
              </a:ext>
            </a:extLst>
          </p:cNvPr>
          <p:cNvSpPr>
            <a:spLocks noGrp="1"/>
          </p:cNvSpPr>
          <p:nvPr/>
        </p:nvSpPr>
        <p:spPr>
          <a:xfrm>
            <a:off x="8001000" y="1581150"/>
            <a:ext cx="1009650" cy="742950"/>
          </a:xfrm>
          <a:prstGeom prst="rect">
            <a:avLst/>
          </a:prstGeom>
          <a:solidFill>
            <a:srgbClr val="FFFFFF"/>
          </a:solidFill>
          <a:ln w="19050">
            <a:solidFill>
              <a:srgbClr val="252525"/>
            </a:solidFill>
          </a:ln>
        </p:spPr>
        <p:txBody>
          <a:bodyPr/>
          <a:lstStyle/>
          <a:p>
            <a:endParaRPr/>
          </a:p>
        </p:txBody>
      </p:sp>
      <p:sp>
        <p:nvSpPr>
          <p:cNvPr id="28" name="Oval 27">
            <a:extLst>
              <a:ext uri="{FF2B5EF4-FFF2-40B4-BE49-F238E27FC236}">
                <a16:creationId xmlns:a16="http://schemas.microsoft.com/office/drawing/2014/main" id="{CB027CDA-2BD8-4028-A635-4E102891151A}"/>
              </a:ext>
            </a:extLst>
          </p:cNvPr>
          <p:cNvSpPr>
            <a:spLocks noGrp="1"/>
          </p:cNvSpPr>
          <p:nvPr/>
        </p:nvSpPr>
        <p:spPr>
          <a:xfrm>
            <a:off x="8153400" y="1809750"/>
            <a:ext cx="209550" cy="209550"/>
          </a:xfrm>
          <a:prstGeom prst="ellipse">
            <a:avLst/>
          </a:prstGeom>
          <a:solidFill>
            <a:srgbClr val="252525"/>
          </a:solidFill>
          <a:ln w="0">
            <a:noFill/>
          </a:ln>
        </p:spPr>
        <p:txBody>
          <a:bodyPr/>
          <a:lstStyle/>
          <a:p>
            <a:endParaRPr/>
          </a:p>
        </p:txBody>
      </p:sp>
      <p:sp>
        <p:nvSpPr>
          <p:cNvPr id="29" name="Oval 28">
            <a:extLst>
              <a:ext uri="{FF2B5EF4-FFF2-40B4-BE49-F238E27FC236}">
                <a16:creationId xmlns:a16="http://schemas.microsoft.com/office/drawing/2014/main" id="{8D4D4A76-4D52-4CA7-8D19-68CA299E4629}"/>
              </a:ext>
            </a:extLst>
          </p:cNvPr>
          <p:cNvSpPr>
            <a:spLocks noGrp="1"/>
          </p:cNvSpPr>
          <p:nvPr/>
        </p:nvSpPr>
        <p:spPr>
          <a:xfrm>
            <a:off x="8648700" y="1809750"/>
            <a:ext cx="209550" cy="209550"/>
          </a:xfrm>
          <a:prstGeom prst="ellipse">
            <a:avLst/>
          </a:prstGeom>
          <a:solidFill>
            <a:srgbClr val="252525"/>
          </a:solidFill>
          <a:ln w="0">
            <a:noFill/>
          </a:ln>
        </p:spPr>
        <p:txBody>
          <a:bodyPr/>
          <a:lstStyle/>
          <a:p>
            <a:endParaRPr/>
          </a:p>
        </p:txBody>
      </p:sp>
      <p:sp>
        <p:nvSpPr>
          <p:cNvPr id="30" name="Right Arrow 29">
            <a:extLst>
              <a:ext uri="{FF2B5EF4-FFF2-40B4-BE49-F238E27FC236}">
                <a16:creationId xmlns:a16="http://schemas.microsoft.com/office/drawing/2014/main" id="{14B849E7-8A65-41C3-938D-00235360176B}"/>
              </a:ext>
            </a:extLst>
          </p:cNvPr>
          <p:cNvSpPr>
            <a:spLocks noGrp="1"/>
          </p:cNvSpPr>
          <p:nvPr/>
        </p:nvSpPr>
        <p:spPr>
          <a:xfrm>
            <a:off x="8382000" y="1838325"/>
            <a:ext cx="247650" cy="152400"/>
          </a:xfrm>
          <a:prstGeom prst="rightArrow">
            <a:avLst/>
          </a:prstGeom>
          <a:solidFill>
            <a:srgbClr val="666666"/>
          </a:solidFill>
          <a:ln w="0">
            <a:noFill/>
          </a:ln>
        </p:spPr>
        <p:txBody>
          <a:bodyPr/>
          <a:lstStyle/>
          <a:p>
            <a:endParaRPr/>
          </a:p>
        </p:txBody>
      </p:sp>
      <p:sp>
        <p:nvSpPr>
          <p:cNvPr id="31" name="Label: dx/dt = f(x)">
            <a:extLst>
              <a:ext uri="{FF2B5EF4-FFF2-40B4-BE49-F238E27FC236}">
                <a16:creationId xmlns:a16="http://schemas.microsoft.com/office/drawing/2014/main" id="{440FA458-204F-4741-BA91-9126C5C8AF3B}"/>
              </a:ext>
            </a:extLst>
          </p:cNvPr>
          <p:cNvSpPr>
            <a:spLocks noGrp="1"/>
          </p:cNvSpPr>
          <p:nvPr/>
        </p:nvSpPr>
        <p:spPr>
          <a:xfrm>
            <a:off x="10172700" y="1647825"/>
            <a:ext cx="1466850" cy="590550"/>
          </a:xfrm>
          <a:prstGeom prst="rect">
            <a:avLst/>
          </a:prstGeom>
          <a:noFill/>
          <a:ln w="0">
            <a:noFill/>
          </a:ln>
        </p:spPr>
        <p:txBody>
          <a:bodyPr anchor="ctr">
            <a:noAutofit/>
          </a:bodyPr>
          <a:lstStyle/>
          <a:p>
            <a:pPr algn="ctr">
              <a:buNone/>
              <a:defRPr sz="1950" b="0">
                <a:solidFill>
                  <a:srgbClr val="252525"/>
                </a:solidFill>
                <a:latin typeface="Arial"/>
                <a:ea typeface="Arial"/>
                <a:cs typeface="Arial"/>
              </a:defRPr>
            </a:pPr>
            <a:r>
              <a:rPr sz="1950" b="0">
                <a:solidFill>
                  <a:srgbClr val="252525"/>
                </a:solidFill>
                <a:latin typeface="Arial"/>
                <a:ea typeface="Arial"/>
                <a:cs typeface="Arial"/>
              </a:rPr>
              <a:t>dx/dt = f(x)</a:t>
            </a:r>
          </a:p>
        </p:txBody>
      </p:sp>
      <p:sp>
        <p:nvSpPr>
          <p:cNvPr id="32" name="Here we are arrow">
            <a:extLst>
              <a:ext uri="{FF2B5EF4-FFF2-40B4-BE49-F238E27FC236}">
                <a16:creationId xmlns:a16="http://schemas.microsoft.com/office/drawing/2014/main" id="{32B666E5-3EAE-4168-8D9F-52AEABCC9419}"/>
              </a:ext>
            </a:extLst>
          </p:cNvPr>
          <p:cNvSpPr>
            <a:spLocks noGrp="1"/>
          </p:cNvSpPr>
          <p:nvPr/>
        </p:nvSpPr>
        <p:spPr>
          <a:xfrm>
            <a:off x="3562350" y="3276600"/>
            <a:ext cx="285750" cy="400050"/>
          </a:xfrm>
          <a:prstGeom prst="upArrow">
            <a:avLst/>
          </a:prstGeom>
          <a:solidFill>
            <a:srgbClr val="A8572A"/>
          </a:solidFill>
          <a:ln w="0">
            <a:noFill/>
          </a:ln>
        </p:spPr>
        <p:txBody>
          <a:bodyPr/>
          <a:lstStyle/>
          <a:p>
            <a:endParaRPr/>
          </a:p>
        </p:txBody>
      </p:sp>
      <p:sp>
        <p:nvSpPr>
          <p:cNvPr id="33" name="Label: Here we are">
            <a:extLst>
              <a:ext uri="{FF2B5EF4-FFF2-40B4-BE49-F238E27FC236}">
                <a16:creationId xmlns:a16="http://schemas.microsoft.com/office/drawing/2014/main" id="{6997EB43-BB08-4221-B75D-22F2AB8F828C}"/>
              </a:ext>
            </a:extLst>
          </p:cNvPr>
          <p:cNvSpPr>
            <a:spLocks noGrp="1"/>
          </p:cNvSpPr>
          <p:nvPr/>
        </p:nvSpPr>
        <p:spPr>
          <a:xfrm>
            <a:off x="3133725" y="3667125"/>
            <a:ext cx="1143000" cy="266700"/>
          </a:xfrm>
          <a:prstGeom prst="rect">
            <a:avLst/>
          </a:prstGeom>
          <a:noFill/>
          <a:ln w="0">
            <a:noFill/>
          </a:ln>
        </p:spPr>
        <p:txBody>
          <a:bodyPr anchor="ctr">
            <a:noAutofit/>
          </a:bodyPr>
          <a:lstStyle/>
          <a:p>
            <a:pPr algn="ctr">
              <a:buNone/>
              <a:defRPr sz="1350" b="0">
                <a:solidFill>
                  <a:srgbClr val="A8572A"/>
                </a:solidFill>
                <a:latin typeface="Arial"/>
                <a:ea typeface="Arial"/>
                <a:cs typeface="Arial"/>
              </a:defRPr>
            </a:pPr>
            <a:r>
              <a:rPr sz="1350" b="0">
                <a:solidFill>
                  <a:srgbClr val="A8572A"/>
                </a:solidFill>
                <a:latin typeface="Arial"/>
                <a:ea typeface="Arial"/>
                <a:cs typeface="Arial"/>
              </a:rPr>
              <a:t>Here we are</a:t>
            </a:r>
          </a:p>
        </p:txBody>
      </p:sp>
      <p:sp>
        <p:nvSpPr>
          <p:cNvPr id="34" name="Rectangle 33">
            <a:extLst>
              <a:ext uri="{FF2B5EF4-FFF2-40B4-BE49-F238E27FC236}">
                <a16:creationId xmlns:a16="http://schemas.microsoft.com/office/drawing/2014/main" id="{525B70A5-4A06-49C5-9AAE-72C74A6569D1}"/>
              </a:ext>
            </a:extLst>
          </p:cNvPr>
          <p:cNvSpPr>
            <a:spLocks noGrp="1"/>
          </p:cNvSpPr>
          <p:nvPr/>
        </p:nvSpPr>
        <p:spPr>
          <a:xfrm>
            <a:off x="400050" y="4476750"/>
            <a:ext cx="6610350" cy="19050"/>
          </a:xfrm>
          <a:prstGeom prst="rect">
            <a:avLst/>
          </a:prstGeom>
          <a:solidFill>
            <a:srgbClr val="666666"/>
          </a:solidFill>
          <a:ln w="0">
            <a:noFill/>
          </a:ln>
        </p:spPr>
        <p:txBody>
          <a:bodyPr/>
          <a:lstStyle/>
          <a:p>
            <a:endParaRPr/>
          </a:p>
        </p:txBody>
      </p:sp>
      <p:sp>
        <p:nvSpPr>
          <p:cNvPr id="35" name="Rectangle 34">
            <a:extLst>
              <a:ext uri="{FF2B5EF4-FFF2-40B4-BE49-F238E27FC236}">
                <a16:creationId xmlns:a16="http://schemas.microsoft.com/office/drawing/2014/main" id="{2970A470-A1DB-420F-BBB2-E29B40861E81}"/>
              </a:ext>
            </a:extLst>
          </p:cNvPr>
          <p:cNvSpPr>
            <a:spLocks noGrp="1"/>
          </p:cNvSpPr>
          <p:nvPr/>
        </p:nvSpPr>
        <p:spPr>
          <a:xfrm>
            <a:off x="400050" y="4381500"/>
            <a:ext cx="19050" cy="114300"/>
          </a:xfrm>
          <a:prstGeom prst="rect">
            <a:avLst/>
          </a:prstGeom>
          <a:solidFill>
            <a:srgbClr val="666666"/>
          </a:solidFill>
          <a:ln w="0">
            <a:noFill/>
          </a:ln>
        </p:spPr>
        <p:txBody>
          <a:bodyPr/>
          <a:lstStyle/>
          <a:p>
            <a:endParaRPr/>
          </a:p>
        </p:txBody>
      </p:sp>
      <p:sp>
        <p:nvSpPr>
          <p:cNvPr id="36" name="Rectangle 35">
            <a:extLst>
              <a:ext uri="{FF2B5EF4-FFF2-40B4-BE49-F238E27FC236}">
                <a16:creationId xmlns:a16="http://schemas.microsoft.com/office/drawing/2014/main" id="{F4979FDD-047B-48A8-93DB-E42C0058F1C5}"/>
              </a:ext>
            </a:extLst>
          </p:cNvPr>
          <p:cNvSpPr>
            <a:spLocks noGrp="1"/>
          </p:cNvSpPr>
          <p:nvPr/>
        </p:nvSpPr>
        <p:spPr>
          <a:xfrm>
            <a:off x="6991350" y="4381500"/>
            <a:ext cx="19050" cy="114300"/>
          </a:xfrm>
          <a:prstGeom prst="rect">
            <a:avLst/>
          </a:prstGeom>
          <a:solidFill>
            <a:srgbClr val="666666"/>
          </a:solidFill>
          <a:ln w="0">
            <a:noFill/>
          </a:ln>
        </p:spPr>
        <p:txBody>
          <a:bodyPr/>
          <a:lstStyle/>
          <a:p>
            <a:endParaRPr/>
          </a:p>
        </p:txBody>
      </p:sp>
      <p:sp>
        <p:nvSpPr>
          <p:cNvPr id="37" name="Label: More comfortable for domain experts (cell biology in this case)">
            <a:extLst>
              <a:ext uri="{FF2B5EF4-FFF2-40B4-BE49-F238E27FC236}">
                <a16:creationId xmlns:a16="http://schemas.microsoft.com/office/drawing/2014/main" id="{2738EA53-A087-4EDF-8694-7B680D493523}"/>
              </a:ext>
            </a:extLst>
          </p:cNvPr>
          <p:cNvSpPr>
            <a:spLocks noGrp="1"/>
          </p:cNvSpPr>
          <p:nvPr/>
        </p:nvSpPr>
        <p:spPr>
          <a:xfrm>
            <a:off x="400050" y="4524375"/>
            <a:ext cx="6610350" cy="409575"/>
          </a:xfrm>
          <a:prstGeom prst="rect">
            <a:avLst/>
          </a:prstGeom>
          <a:noFill/>
          <a:ln w="0">
            <a:noFill/>
          </a:ln>
        </p:spPr>
        <p:txBody>
          <a:bodyPr anchor="ctr">
            <a:noAutofit/>
          </a:bodyPr>
          <a:lstStyle/>
          <a:p>
            <a:pPr algn="ctr">
              <a:buNone/>
              <a:defRPr sz="1200" b="0">
                <a:solidFill>
                  <a:srgbClr val="666666"/>
                </a:solidFill>
                <a:latin typeface="Arial"/>
                <a:ea typeface="Arial"/>
                <a:cs typeface="Arial"/>
              </a:defRPr>
            </a:pPr>
            <a:r>
              <a:rPr sz="1200" b="0">
                <a:solidFill>
                  <a:srgbClr val="666666"/>
                </a:solidFill>
                <a:latin typeface="Arial"/>
                <a:ea typeface="Arial"/>
                <a:cs typeface="Arial"/>
              </a:rPr>
              <a:t>More comfortable for domain experts</a:t>
            </a:r>
          </a:p>
          <a:p>
            <a:pPr algn="ctr">
              <a:buNone/>
              <a:defRPr sz="1200" b="0">
                <a:solidFill>
                  <a:srgbClr val="666666"/>
                </a:solidFill>
                <a:latin typeface="Arial"/>
                <a:ea typeface="Arial"/>
                <a:cs typeface="Arial"/>
              </a:defRPr>
            </a:pPr>
            <a:r>
              <a:rPr sz="1200" b="0">
                <a:solidFill>
                  <a:srgbClr val="666666"/>
                </a:solidFill>
                <a:latin typeface="Arial"/>
                <a:ea typeface="Arial"/>
                <a:cs typeface="Arial"/>
              </a:rPr>
              <a:t>(cell biology in this case)</a:t>
            </a:r>
          </a:p>
        </p:txBody>
      </p:sp>
      <p:sp>
        <p:nvSpPr>
          <p:cNvPr id="38" name="Rectangle 37">
            <a:extLst>
              <a:ext uri="{FF2B5EF4-FFF2-40B4-BE49-F238E27FC236}">
                <a16:creationId xmlns:a16="http://schemas.microsoft.com/office/drawing/2014/main" id="{A676713D-4627-45DB-9725-EB59ACF8F312}"/>
              </a:ext>
            </a:extLst>
          </p:cNvPr>
          <p:cNvSpPr>
            <a:spLocks noGrp="1"/>
          </p:cNvSpPr>
          <p:nvPr/>
        </p:nvSpPr>
        <p:spPr>
          <a:xfrm>
            <a:off x="2800350" y="5219700"/>
            <a:ext cx="6610350" cy="19050"/>
          </a:xfrm>
          <a:prstGeom prst="rect">
            <a:avLst/>
          </a:prstGeom>
          <a:solidFill>
            <a:srgbClr val="666666"/>
          </a:solidFill>
          <a:ln w="0">
            <a:noFill/>
          </a:ln>
        </p:spPr>
        <p:txBody>
          <a:bodyPr/>
          <a:lstStyle/>
          <a:p>
            <a:endParaRPr/>
          </a:p>
        </p:txBody>
      </p:sp>
      <p:sp>
        <p:nvSpPr>
          <p:cNvPr id="39" name="Rectangle 38">
            <a:extLst>
              <a:ext uri="{FF2B5EF4-FFF2-40B4-BE49-F238E27FC236}">
                <a16:creationId xmlns:a16="http://schemas.microsoft.com/office/drawing/2014/main" id="{DB934B77-84EF-4848-ADC2-754AF075953D}"/>
              </a:ext>
            </a:extLst>
          </p:cNvPr>
          <p:cNvSpPr>
            <a:spLocks noGrp="1"/>
          </p:cNvSpPr>
          <p:nvPr/>
        </p:nvSpPr>
        <p:spPr>
          <a:xfrm>
            <a:off x="2800350" y="5124450"/>
            <a:ext cx="19050" cy="114300"/>
          </a:xfrm>
          <a:prstGeom prst="rect">
            <a:avLst/>
          </a:prstGeom>
          <a:solidFill>
            <a:srgbClr val="666666"/>
          </a:solidFill>
          <a:ln w="0">
            <a:noFill/>
          </a:ln>
        </p:spPr>
        <p:txBody>
          <a:bodyPr/>
          <a:lstStyle/>
          <a:p>
            <a:endParaRPr/>
          </a:p>
        </p:txBody>
      </p:sp>
      <p:sp>
        <p:nvSpPr>
          <p:cNvPr id="40" name="Rectangle 39">
            <a:extLst>
              <a:ext uri="{FF2B5EF4-FFF2-40B4-BE49-F238E27FC236}">
                <a16:creationId xmlns:a16="http://schemas.microsoft.com/office/drawing/2014/main" id="{49CDB404-0F7F-43CB-AAA9-7C964B9CC336}"/>
              </a:ext>
            </a:extLst>
          </p:cNvPr>
          <p:cNvSpPr>
            <a:spLocks noGrp="1"/>
          </p:cNvSpPr>
          <p:nvPr/>
        </p:nvSpPr>
        <p:spPr>
          <a:xfrm>
            <a:off x="9391650" y="5124450"/>
            <a:ext cx="19050" cy="114300"/>
          </a:xfrm>
          <a:prstGeom prst="rect">
            <a:avLst/>
          </a:prstGeom>
          <a:solidFill>
            <a:srgbClr val="666666"/>
          </a:solidFill>
          <a:ln w="0">
            <a:noFill/>
          </a:ln>
        </p:spPr>
        <p:txBody>
          <a:bodyPr/>
          <a:lstStyle/>
          <a:p>
            <a:endParaRPr/>
          </a:p>
        </p:txBody>
      </p:sp>
      <p:sp>
        <p:nvSpPr>
          <p:cNvPr id="41" name="Label: Classical physics training">
            <a:extLst>
              <a:ext uri="{FF2B5EF4-FFF2-40B4-BE49-F238E27FC236}">
                <a16:creationId xmlns:a16="http://schemas.microsoft.com/office/drawing/2014/main" id="{B99372FA-6287-4C14-B959-D2C118EC18BF}"/>
              </a:ext>
            </a:extLst>
          </p:cNvPr>
          <p:cNvSpPr>
            <a:spLocks noGrp="1"/>
          </p:cNvSpPr>
          <p:nvPr/>
        </p:nvSpPr>
        <p:spPr>
          <a:xfrm>
            <a:off x="2800350" y="5267325"/>
            <a:ext cx="6610350" cy="285750"/>
          </a:xfrm>
          <a:prstGeom prst="rect">
            <a:avLst/>
          </a:prstGeom>
          <a:noFill/>
          <a:ln w="0">
            <a:noFill/>
          </a:ln>
        </p:spPr>
        <p:txBody>
          <a:bodyPr anchor="ctr">
            <a:noAutofit/>
          </a:bodyPr>
          <a:lstStyle/>
          <a:p>
            <a:pPr algn="ctr">
              <a:buNone/>
              <a:defRPr sz="1200" b="0">
                <a:solidFill>
                  <a:srgbClr val="666666"/>
                </a:solidFill>
                <a:latin typeface="Arial"/>
                <a:ea typeface="Arial"/>
                <a:cs typeface="Arial"/>
              </a:defRPr>
            </a:pPr>
            <a:r>
              <a:rPr sz="1200" b="0">
                <a:solidFill>
                  <a:srgbClr val="666666"/>
                </a:solidFill>
                <a:latin typeface="Arial"/>
                <a:ea typeface="Arial"/>
                <a:cs typeface="Arial"/>
              </a:rPr>
              <a:t>Classical physics training</a:t>
            </a:r>
          </a:p>
        </p:txBody>
      </p:sp>
      <p:sp>
        <p:nvSpPr>
          <p:cNvPr id="42" name="Rectangle 41">
            <a:extLst>
              <a:ext uri="{FF2B5EF4-FFF2-40B4-BE49-F238E27FC236}">
                <a16:creationId xmlns:a16="http://schemas.microsoft.com/office/drawing/2014/main" id="{9FD38710-257D-4C31-9392-066D11A9A4AE}"/>
              </a:ext>
            </a:extLst>
          </p:cNvPr>
          <p:cNvSpPr>
            <a:spLocks noGrp="1"/>
          </p:cNvSpPr>
          <p:nvPr/>
        </p:nvSpPr>
        <p:spPr>
          <a:xfrm>
            <a:off x="7600950" y="5867400"/>
            <a:ext cx="4210050" cy="19050"/>
          </a:xfrm>
          <a:prstGeom prst="rect">
            <a:avLst/>
          </a:prstGeom>
          <a:solidFill>
            <a:srgbClr val="666666"/>
          </a:solidFill>
          <a:ln w="0">
            <a:noFill/>
          </a:ln>
        </p:spPr>
        <p:txBody>
          <a:bodyPr/>
          <a:lstStyle/>
          <a:p>
            <a:endParaRPr/>
          </a:p>
        </p:txBody>
      </p:sp>
      <p:sp>
        <p:nvSpPr>
          <p:cNvPr id="43" name="Rectangle 42">
            <a:extLst>
              <a:ext uri="{FF2B5EF4-FFF2-40B4-BE49-F238E27FC236}">
                <a16:creationId xmlns:a16="http://schemas.microsoft.com/office/drawing/2014/main" id="{C586365F-82CE-4523-B351-9509A5400167}"/>
              </a:ext>
            </a:extLst>
          </p:cNvPr>
          <p:cNvSpPr>
            <a:spLocks noGrp="1"/>
          </p:cNvSpPr>
          <p:nvPr/>
        </p:nvSpPr>
        <p:spPr>
          <a:xfrm>
            <a:off x="7600950" y="5772150"/>
            <a:ext cx="19050" cy="114300"/>
          </a:xfrm>
          <a:prstGeom prst="rect">
            <a:avLst/>
          </a:prstGeom>
          <a:solidFill>
            <a:srgbClr val="666666"/>
          </a:solidFill>
          <a:ln w="0">
            <a:noFill/>
          </a:ln>
        </p:spPr>
        <p:txBody>
          <a:bodyPr/>
          <a:lstStyle/>
          <a:p>
            <a:endParaRPr/>
          </a:p>
        </p:txBody>
      </p:sp>
      <p:sp>
        <p:nvSpPr>
          <p:cNvPr id="44" name="Rectangle 43">
            <a:extLst>
              <a:ext uri="{FF2B5EF4-FFF2-40B4-BE49-F238E27FC236}">
                <a16:creationId xmlns:a16="http://schemas.microsoft.com/office/drawing/2014/main" id="{F42F6CF7-E752-4503-BF62-4B77B99F8A24}"/>
              </a:ext>
            </a:extLst>
          </p:cNvPr>
          <p:cNvSpPr>
            <a:spLocks noGrp="1"/>
          </p:cNvSpPr>
          <p:nvPr/>
        </p:nvSpPr>
        <p:spPr>
          <a:xfrm>
            <a:off x="11791950" y="5772150"/>
            <a:ext cx="19050" cy="114300"/>
          </a:xfrm>
          <a:prstGeom prst="rect">
            <a:avLst/>
          </a:prstGeom>
          <a:solidFill>
            <a:srgbClr val="666666"/>
          </a:solidFill>
          <a:ln w="0">
            <a:noFill/>
          </a:ln>
        </p:spPr>
        <p:txBody>
          <a:bodyPr/>
          <a:lstStyle/>
          <a:p>
            <a:endParaRPr/>
          </a:p>
        </p:txBody>
      </p:sp>
      <p:sp>
        <p:nvSpPr>
          <p:cNvPr id="45" name="Label: More comfortable for mathematicians and theoretical physicists">
            <a:extLst>
              <a:ext uri="{FF2B5EF4-FFF2-40B4-BE49-F238E27FC236}">
                <a16:creationId xmlns:a16="http://schemas.microsoft.com/office/drawing/2014/main" id="{EB699B8B-9624-4391-AA4C-C0A8EDCE55E9}"/>
              </a:ext>
            </a:extLst>
          </p:cNvPr>
          <p:cNvSpPr>
            <a:spLocks noGrp="1"/>
          </p:cNvSpPr>
          <p:nvPr/>
        </p:nvSpPr>
        <p:spPr>
          <a:xfrm>
            <a:off x="7600950" y="5915025"/>
            <a:ext cx="4210050" cy="419100"/>
          </a:xfrm>
          <a:prstGeom prst="rect">
            <a:avLst/>
          </a:prstGeom>
          <a:noFill/>
          <a:ln w="0">
            <a:noFill/>
          </a:ln>
        </p:spPr>
        <p:txBody>
          <a:bodyPr anchor="ctr">
            <a:noAutofit/>
          </a:bodyPr>
          <a:lstStyle/>
          <a:p>
            <a:pPr algn="ctr">
              <a:buNone/>
              <a:defRPr sz="1200" b="0">
                <a:solidFill>
                  <a:srgbClr val="666666"/>
                </a:solidFill>
                <a:latin typeface="Arial"/>
                <a:ea typeface="Arial"/>
                <a:cs typeface="Arial"/>
              </a:defRPr>
            </a:pPr>
            <a:r>
              <a:rPr sz="1200" b="0">
                <a:solidFill>
                  <a:srgbClr val="666666"/>
                </a:solidFill>
                <a:latin typeface="Arial"/>
                <a:ea typeface="Arial"/>
                <a:cs typeface="Arial"/>
              </a:rPr>
              <a:t>More comfortable for mathematicians</a:t>
            </a:r>
          </a:p>
          <a:p>
            <a:pPr algn="ctr">
              <a:buNone/>
              <a:defRPr sz="1200" b="0">
                <a:solidFill>
                  <a:srgbClr val="666666"/>
                </a:solidFill>
                <a:latin typeface="Arial"/>
                <a:ea typeface="Arial"/>
                <a:cs typeface="Arial"/>
              </a:defRPr>
            </a:pPr>
            <a:r>
              <a:rPr sz="1200" b="0">
                <a:solidFill>
                  <a:srgbClr val="666666"/>
                </a:solidFill>
                <a:latin typeface="Arial"/>
                <a:ea typeface="Arial"/>
                <a:cs typeface="Arial"/>
              </a:rPr>
              <a:t>and theoretical physicists</a:t>
            </a:r>
          </a:p>
        </p:txBody>
      </p:sp>
      <p:sp>
        <p:nvSpPr>
          <p:cNvPr id="47" name="Research loop: up from mathematics">
            <a:extLst>
              <a:ext uri="{FF2B5EF4-FFF2-40B4-BE49-F238E27FC236}">
                <a16:creationId xmlns:a16="http://schemas.microsoft.com/office/drawing/2014/main" id="{86926AAD-88D1-4C3D-BCF9-218C5812BAD5}"/>
              </a:ext>
            </a:extLst>
          </p:cNvPr>
          <p:cNvSpPr>
            <a:spLocks noGrp="1"/>
          </p:cNvSpPr>
          <p:nvPr/>
        </p:nvSpPr>
        <p:spPr>
          <a:xfrm>
            <a:off x="10887075" y="819150"/>
            <a:ext cx="28575" cy="533400"/>
          </a:xfrm>
          <a:prstGeom prst="rect">
            <a:avLst/>
          </a:prstGeom>
          <a:solidFill>
            <a:srgbClr val="666666"/>
          </a:solidFill>
          <a:ln w="0">
            <a:noFill/>
          </a:ln>
        </p:spPr>
        <p:txBody>
          <a:bodyPr/>
          <a:lstStyle/>
          <a:p>
            <a:endParaRPr lang="en-US"/>
          </a:p>
        </p:txBody>
      </p:sp>
      <p:sp>
        <p:nvSpPr>
          <p:cNvPr id="48" name="Research loop: mathematics to phenomenon">
            <a:extLst>
              <a:ext uri="{FF2B5EF4-FFF2-40B4-BE49-F238E27FC236}">
                <a16:creationId xmlns:a16="http://schemas.microsoft.com/office/drawing/2014/main" id="{7A65C6BF-3313-4EE1-8943-64558935C0C1}"/>
              </a:ext>
            </a:extLst>
          </p:cNvPr>
          <p:cNvSpPr>
            <a:spLocks noGrp="1"/>
          </p:cNvSpPr>
          <p:nvPr/>
        </p:nvSpPr>
        <p:spPr>
          <a:xfrm>
            <a:off x="6191250" y="733425"/>
            <a:ext cx="4724400" cy="171450"/>
          </a:xfrm>
          <a:prstGeom prst="leftArrow">
            <a:avLst/>
          </a:prstGeom>
          <a:solidFill>
            <a:srgbClr val="666666"/>
          </a:solidFill>
          <a:ln w="0">
            <a:noFill/>
          </a:ln>
        </p:spPr>
        <p:txBody>
          <a:bodyPr/>
          <a:lstStyle/>
          <a:p>
            <a:endParaRPr lang="en-US"/>
          </a:p>
        </p:txBody>
      </p:sp>
      <p:sp>
        <p:nvSpPr>
          <p:cNvPr id="49" name="Research loop: return to phenomenon">
            <a:extLst>
              <a:ext uri="{FF2B5EF4-FFF2-40B4-BE49-F238E27FC236}">
                <a16:creationId xmlns:a16="http://schemas.microsoft.com/office/drawing/2014/main" id="{B64C8DF6-5E54-4EB2-A1C7-CC69D7943249}"/>
              </a:ext>
            </a:extLst>
          </p:cNvPr>
          <p:cNvSpPr>
            <a:spLocks noGrp="1"/>
          </p:cNvSpPr>
          <p:nvPr/>
        </p:nvSpPr>
        <p:spPr>
          <a:xfrm>
            <a:off x="5972175" y="733425"/>
            <a:ext cx="266700" cy="619125"/>
          </a:xfrm>
          <a:prstGeom prst="downArrow">
            <a:avLst/>
          </a:prstGeom>
          <a:solidFill>
            <a:srgbClr val="666666"/>
          </a:solidFill>
          <a:ln w="0">
            <a:noFill/>
          </a:ln>
        </p:spPr>
        <p:txBody>
          <a:bodyPr/>
          <a:lstStyle/>
          <a:p>
            <a:endParaRPr lang="en-US"/>
          </a:p>
        </p:txBody>
      </p:sp>
      <p:sp>
        <p:nvSpPr>
          <p:cNvPr id="50" name="Label: Predictions return to phenomena">
            <a:extLst>
              <a:ext uri="{FF2B5EF4-FFF2-40B4-BE49-F238E27FC236}">
                <a16:creationId xmlns:a16="http://schemas.microsoft.com/office/drawing/2014/main" id="{CEC27C4A-3B59-4B47-A838-372F6CB60C4B}"/>
              </a:ext>
            </a:extLst>
          </p:cNvPr>
          <p:cNvSpPr>
            <a:spLocks noGrp="1"/>
          </p:cNvSpPr>
          <p:nvPr/>
        </p:nvSpPr>
        <p:spPr>
          <a:xfrm>
            <a:off x="7334250" y="342900"/>
            <a:ext cx="2857500" cy="266700"/>
          </a:xfrm>
          <a:prstGeom prst="rect">
            <a:avLst/>
          </a:prstGeom>
          <a:noFill/>
          <a:ln w="0">
            <a:noFill/>
          </a:ln>
        </p:spPr>
        <p:txBody>
          <a:bodyPr anchor="ctr">
            <a:noAutofit/>
          </a:bodyPr>
          <a:lstStyle/>
          <a:p>
            <a:pPr algn="ctr">
              <a:buNone/>
              <a:defRPr sz="1275" b="0">
                <a:solidFill>
                  <a:srgbClr val="666666"/>
                </a:solidFill>
                <a:latin typeface="Mazda Type"/>
                <a:ea typeface="Mazda Type"/>
                <a:cs typeface="Mazda Type"/>
              </a:defRPr>
            </a:pPr>
            <a:r>
              <a:rPr sz="1275" b="0">
                <a:solidFill>
                  <a:srgbClr val="666666"/>
                </a:solidFill>
                <a:latin typeface="Mazda Type"/>
                <a:ea typeface="Mazda Type"/>
                <a:cs typeface="Mazda Type"/>
              </a:rPr>
              <a:t>Predictions return to phenomena</a:t>
            </a:r>
          </a:p>
        </p:txBody>
      </p:sp>
      <p:sp>
        <p:nvSpPr>
          <p:cNvPr id="51" name="Feedback loop revision mask">
            <a:extLst>
              <a:ext uri="{FF2B5EF4-FFF2-40B4-BE49-F238E27FC236}">
                <a16:creationId xmlns:a16="http://schemas.microsoft.com/office/drawing/2014/main" id="{28C49F1C-DCCC-4238-9A00-3D29788AB540}"/>
              </a:ext>
            </a:extLst>
          </p:cNvPr>
          <p:cNvSpPr>
            <a:spLocks noGrp="1"/>
          </p:cNvSpPr>
          <p:nvPr/>
        </p:nvSpPr>
        <p:spPr>
          <a:xfrm>
            <a:off x="2667000" y="228600"/>
            <a:ext cx="8572500" cy="1104900"/>
          </a:xfrm>
          <a:prstGeom prst="rect">
            <a:avLst/>
          </a:prstGeom>
          <a:solidFill>
            <a:srgbClr val="FFFFFF"/>
          </a:solidFill>
          <a:ln w="0">
            <a:noFill/>
          </a:ln>
        </p:spPr>
        <p:txBody>
          <a:bodyPr/>
          <a:lstStyle/>
          <a:p>
            <a:endParaRPr lang="en-US"/>
          </a:p>
        </p:txBody>
      </p:sp>
      <p:sp>
        <p:nvSpPr>
          <p:cNvPr id="52" name="Feedback: mathematics to return line">
            <a:extLst>
              <a:ext uri="{FF2B5EF4-FFF2-40B4-BE49-F238E27FC236}">
                <a16:creationId xmlns:a16="http://schemas.microsoft.com/office/drawing/2014/main" id="{59463733-5700-43E5-A838-2EBFB7C4F682}"/>
              </a:ext>
            </a:extLst>
          </p:cNvPr>
          <p:cNvSpPr>
            <a:spLocks noGrp="1"/>
          </p:cNvSpPr>
          <p:nvPr/>
        </p:nvSpPr>
        <p:spPr>
          <a:xfrm>
            <a:off x="10887075" y="762000"/>
            <a:ext cx="28575" cy="590550"/>
          </a:xfrm>
          <a:prstGeom prst="rect">
            <a:avLst/>
          </a:prstGeom>
          <a:solidFill>
            <a:srgbClr val="666666"/>
          </a:solidFill>
          <a:ln w="0">
            <a:noFill/>
          </a:ln>
        </p:spPr>
        <p:txBody>
          <a:bodyPr/>
          <a:lstStyle/>
          <a:p>
            <a:endParaRPr lang="en-US"/>
          </a:p>
        </p:txBody>
      </p:sp>
      <p:sp>
        <p:nvSpPr>
          <p:cNvPr id="53" name="Feedback: right-to-left backbone">
            <a:extLst>
              <a:ext uri="{FF2B5EF4-FFF2-40B4-BE49-F238E27FC236}">
                <a16:creationId xmlns:a16="http://schemas.microsoft.com/office/drawing/2014/main" id="{9F111370-70F6-4E80-A5E3-ED2C181D91C5}"/>
              </a:ext>
            </a:extLst>
          </p:cNvPr>
          <p:cNvSpPr>
            <a:spLocks noGrp="1"/>
          </p:cNvSpPr>
          <p:nvPr/>
        </p:nvSpPr>
        <p:spPr>
          <a:xfrm>
            <a:off x="3705225" y="685800"/>
            <a:ext cx="7210425" cy="171450"/>
          </a:xfrm>
          <a:prstGeom prst="leftArrow">
            <a:avLst/>
          </a:prstGeom>
          <a:solidFill>
            <a:srgbClr val="666666"/>
          </a:solidFill>
          <a:ln w="0">
            <a:noFill/>
          </a:ln>
        </p:spPr>
        <p:txBody>
          <a:bodyPr/>
          <a:lstStyle/>
          <a:p>
            <a:endParaRPr lang="en-US"/>
          </a:p>
        </p:txBody>
      </p:sp>
      <p:sp>
        <p:nvSpPr>
          <p:cNvPr id="54" name="Feedback branch: physical picture">
            <a:extLst>
              <a:ext uri="{FF2B5EF4-FFF2-40B4-BE49-F238E27FC236}">
                <a16:creationId xmlns:a16="http://schemas.microsoft.com/office/drawing/2014/main" id="{9A8FD2D5-7A07-4CD1-A202-868CB8DB62DF}"/>
              </a:ext>
            </a:extLst>
          </p:cNvPr>
          <p:cNvSpPr>
            <a:spLocks noGrp="1"/>
          </p:cNvSpPr>
          <p:nvPr/>
        </p:nvSpPr>
        <p:spPr>
          <a:xfrm>
            <a:off x="3571875" y="685800"/>
            <a:ext cx="266700" cy="666750"/>
          </a:xfrm>
          <a:prstGeom prst="downArrow">
            <a:avLst/>
          </a:prstGeom>
          <a:solidFill>
            <a:srgbClr val="666666"/>
          </a:solidFill>
          <a:ln w="0">
            <a:noFill/>
          </a:ln>
        </p:spPr>
        <p:txBody>
          <a:bodyPr/>
          <a:lstStyle/>
          <a:p>
            <a:endParaRPr lang="en-US"/>
          </a:p>
        </p:txBody>
      </p:sp>
      <p:sp>
        <p:nvSpPr>
          <p:cNvPr id="55" name="Feedback branch: quantitative phenomenon">
            <a:extLst>
              <a:ext uri="{FF2B5EF4-FFF2-40B4-BE49-F238E27FC236}">
                <a16:creationId xmlns:a16="http://schemas.microsoft.com/office/drawing/2014/main" id="{75158571-5503-4228-BAB3-FBF80131D824}"/>
              </a:ext>
            </a:extLst>
          </p:cNvPr>
          <p:cNvSpPr>
            <a:spLocks noGrp="1"/>
          </p:cNvSpPr>
          <p:nvPr/>
        </p:nvSpPr>
        <p:spPr>
          <a:xfrm>
            <a:off x="5972175" y="685800"/>
            <a:ext cx="266700" cy="666750"/>
          </a:xfrm>
          <a:prstGeom prst="downArrow">
            <a:avLst/>
          </a:prstGeom>
          <a:solidFill>
            <a:srgbClr val="666666"/>
          </a:solidFill>
          <a:ln w="0">
            <a:noFill/>
          </a:ln>
        </p:spPr>
        <p:txBody>
          <a:bodyPr/>
          <a:lstStyle/>
          <a:p>
            <a:endParaRPr lang="en-US"/>
          </a:p>
        </p:txBody>
      </p:sp>
      <p:sp>
        <p:nvSpPr>
          <p:cNvPr id="56" name="Label: Mathematics informs the picture and the phenomenon">
            <a:extLst>
              <a:ext uri="{FF2B5EF4-FFF2-40B4-BE49-F238E27FC236}">
                <a16:creationId xmlns:a16="http://schemas.microsoft.com/office/drawing/2014/main" id="{A73AE8C3-B65D-41C4-9299-17310E02193C}"/>
              </a:ext>
            </a:extLst>
          </p:cNvPr>
          <p:cNvSpPr>
            <a:spLocks noGrp="1"/>
          </p:cNvSpPr>
          <p:nvPr/>
        </p:nvSpPr>
        <p:spPr>
          <a:xfrm>
            <a:off x="6191250" y="285750"/>
            <a:ext cx="4286250" cy="257175"/>
          </a:xfrm>
          <a:prstGeom prst="rect">
            <a:avLst/>
          </a:prstGeom>
          <a:noFill/>
          <a:ln w="0">
            <a:noFill/>
          </a:ln>
        </p:spPr>
        <p:txBody>
          <a:bodyPr anchor="ctr">
            <a:noAutofit/>
          </a:bodyPr>
          <a:lstStyle/>
          <a:p>
            <a:pPr algn="ctr">
              <a:defRPr sz="1275" b="0">
                <a:solidFill>
                  <a:srgbClr val="666666"/>
                </a:solidFill>
                <a:latin typeface="Mazda Type"/>
                <a:ea typeface="Mazda Type"/>
                <a:cs typeface="Mazda Type"/>
              </a:defRPr>
            </a:pPr>
            <a:r>
              <a:rPr sz="1275" b="0">
                <a:solidFill>
                  <a:srgbClr val="666666"/>
                </a:solidFill>
                <a:latin typeface="Mazda Type"/>
                <a:ea typeface="Mazda Type"/>
                <a:cs typeface="Mazda Type"/>
              </a:rPr>
              <a:t>Mathematics informs the picture and the phenomenon</a:t>
            </a:r>
          </a:p>
        </p:txBody>
      </p:sp>
    </p:spTree>
    <p:extLst>
      <p:ext uri="{BB962C8B-B14F-4D97-AF65-F5344CB8AC3E}">
        <p14:creationId xmlns:p14="http://schemas.microsoft.com/office/powerpoint/2010/main" val="2136198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896D11D-0473-44DD-BA27-C5F007B90FA5}"/>
              </a:ext>
            </a:extLst>
          </p:cNvPr>
          <p:cNvSpPr>
            <a:spLocks noGrp="1"/>
          </p:cNvSpPr>
          <p:nvPr/>
        </p:nvSpPr>
        <p:spPr>
          <a:xfrm>
            <a:off x="951971" y="636937"/>
            <a:ext cx="10288057" cy="646367"/>
          </a:xfrm>
          <a:prstGeom prst="rect">
            <a:avLst/>
          </a:prstGeom>
          <a:noFill/>
          <a:ln w="0">
            <a:noFill/>
          </a:ln>
        </p:spPr>
        <p:txBody>
          <a:bodyPr anchor="ctr">
            <a:noAutofit/>
          </a:bodyPr>
          <a:lstStyle/>
          <a:p>
            <a:pPr algn="ctr">
              <a:buNone/>
              <a:defRPr sz="3600" b="0">
                <a:solidFill>
                  <a:srgbClr val="202020"/>
                </a:solidFill>
                <a:latin typeface="Mazda Type"/>
                <a:ea typeface="Mazda Type"/>
                <a:cs typeface="Mazda Type"/>
              </a:defRPr>
            </a:pPr>
            <a:r>
              <a:rPr lang="en-US" sz="3600" b="0" dirty="0">
                <a:solidFill>
                  <a:srgbClr val="202020"/>
                </a:solidFill>
                <a:latin typeface="Mazda Type"/>
                <a:ea typeface="Mazda Type"/>
                <a:cs typeface="Mazda Type"/>
              </a:rPr>
              <a:t>The course is designed for heterogenous</a:t>
            </a:r>
            <a:r>
              <a:rPr sz="3600" b="0" dirty="0">
                <a:solidFill>
                  <a:srgbClr val="202020"/>
                </a:solidFill>
                <a:latin typeface="Mazda Type"/>
                <a:ea typeface="Mazda Type"/>
                <a:cs typeface="Mazda Type"/>
              </a:rPr>
              <a:t> backgrounds, </a:t>
            </a:r>
            <a:r>
              <a:rPr lang="en-US" sz="3600" b="0" dirty="0">
                <a:solidFill>
                  <a:srgbClr val="202020"/>
                </a:solidFill>
                <a:latin typeface="Mazda Type"/>
                <a:ea typeface="Mazda Type"/>
                <a:cs typeface="Mazda Type"/>
              </a:rPr>
              <a:t>but with </a:t>
            </a:r>
            <a:r>
              <a:rPr sz="3600" b="0" dirty="0">
                <a:solidFill>
                  <a:srgbClr val="202020"/>
                </a:solidFill>
                <a:latin typeface="Mazda Type"/>
                <a:ea typeface="Mazda Type"/>
                <a:cs typeface="Mazda Type"/>
              </a:rPr>
              <a:t>shared expectations</a:t>
            </a:r>
          </a:p>
        </p:txBody>
      </p:sp>
      <p:sp>
        <p:nvSpPr>
          <p:cNvPr id="2" name="Rectangle 1">
            <a:extLst>
              <a:ext uri="{FF2B5EF4-FFF2-40B4-BE49-F238E27FC236}">
                <a16:creationId xmlns:a16="http://schemas.microsoft.com/office/drawing/2014/main" id="{DB0CFCC4-3D81-4731-A4D2-FC7CB15472E2}"/>
              </a:ext>
            </a:extLst>
          </p:cNvPr>
          <p:cNvSpPr>
            <a:spLocks noGrp="1"/>
          </p:cNvSpPr>
          <p:nvPr/>
        </p:nvSpPr>
        <p:spPr>
          <a:xfrm>
            <a:off x="470210" y="1651935"/>
            <a:ext cx="11251580" cy="4569128"/>
          </a:xfrm>
          <a:prstGeom prst="rect">
            <a:avLst/>
          </a:prstGeom>
          <a:noFill/>
          <a:ln w="0">
            <a:noFill/>
          </a:ln>
        </p:spPr>
        <p:txBody>
          <a:bodyPr anchor="ctr">
            <a:noAutofit/>
          </a:bodyPr>
          <a:lstStyle/>
          <a:p>
            <a:pPr marL="304800" indent="-152400">
              <a:spcAft>
                <a:spcPts val="2200"/>
              </a:spcAft>
              <a:buChar char="•"/>
              <a:defRPr sz="2400" b="0">
                <a:solidFill>
                  <a:srgbClr val="202020"/>
                </a:solidFill>
                <a:latin typeface="Mazda Type"/>
                <a:ea typeface="Mazda Type"/>
                <a:cs typeface="Mazda Type"/>
              </a:defRPr>
            </a:pPr>
            <a:r>
              <a:rPr sz="2400" dirty="0">
                <a:solidFill>
                  <a:srgbClr val="202020"/>
                </a:solidFill>
                <a:latin typeface="Mazda Type"/>
                <a:ea typeface="Mazda Type"/>
                <a:cs typeface="Mazda Type"/>
              </a:rPr>
              <a:t>Biology: learn the core concepts, look up unfamiliar terms and ask questions. Use the gallery for orientation rather than memorization.</a:t>
            </a:r>
          </a:p>
          <a:p>
            <a:pPr marL="304800" indent="-152400">
              <a:spcAft>
                <a:spcPts val="2200"/>
              </a:spcAft>
              <a:buChar char="•"/>
              <a:defRPr sz="2400" b="0">
                <a:solidFill>
                  <a:srgbClr val="202020"/>
                </a:solidFill>
                <a:latin typeface="Mazda Type"/>
                <a:ea typeface="Mazda Type"/>
                <a:cs typeface="Mazda Type"/>
              </a:defRPr>
            </a:pPr>
            <a:r>
              <a:rPr sz="2400" dirty="0">
                <a:solidFill>
                  <a:srgbClr val="202020"/>
                </a:solidFill>
                <a:latin typeface="Mazda Type"/>
                <a:ea typeface="Mazda Type"/>
                <a:cs typeface="Mazda Type"/>
              </a:rPr>
              <a:t>Mathematics: review needed basics, such as ODEs, as they arise. Class will use real biological examples rather than a separate remediation sequence.</a:t>
            </a:r>
          </a:p>
          <a:p>
            <a:pPr marL="304800" indent="-152400">
              <a:spcAft>
                <a:spcPts val="2200"/>
              </a:spcAft>
              <a:buFontTx/>
              <a:buChar char="•"/>
              <a:defRPr sz="2400" b="0">
                <a:solidFill>
                  <a:srgbClr val="202020"/>
                </a:solidFill>
                <a:latin typeface="Mazda Type"/>
                <a:ea typeface="Mazda Type"/>
                <a:cs typeface="Mazda Type"/>
              </a:defRPr>
            </a:pPr>
            <a:r>
              <a:rPr sz="2400" dirty="0">
                <a:solidFill>
                  <a:srgbClr val="202020"/>
                </a:solidFill>
                <a:latin typeface="Mazda Type"/>
                <a:ea typeface="Mazda Type"/>
                <a:cs typeface="Mazda Type"/>
              </a:rPr>
              <a:t>Everyone: </a:t>
            </a:r>
            <a:r>
              <a:rPr lang="en-US" sz="2400" dirty="0">
                <a:solidFill>
                  <a:srgbClr val="202020"/>
                </a:solidFill>
                <a:latin typeface="Mazda Type"/>
              </a:rPr>
              <a:t>The course expects active information seeking. You are expected to become a professional researcher in a PhD program. </a:t>
            </a:r>
            <a:r>
              <a:rPr lang="en-US" sz="2400" dirty="0">
                <a:solidFill>
                  <a:srgbClr val="202020"/>
                </a:solidFill>
                <a:latin typeface="Mazda Type"/>
                <a:ea typeface="Mazda Type"/>
                <a:cs typeface="Mazda Type"/>
              </a:rPr>
              <a:t>Look stuff up or simply ask a question in class.</a:t>
            </a:r>
          </a:p>
        </p:txBody>
      </p:sp>
    </p:spTree>
    <p:extLst>
      <p:ext uri="{BB962C8B-B14F-4D97-AF65-F5344CB8AC3E}">
        <p14:creationId xmlns:p14="http://schemas.microsoft.com/office/powerpoint/2010/main" val="1619696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099757-9E60-40DE-9953-826700A1AF9C}"/>
              </a:ext>
            </a:extLst>
          </p:cNvPr>
          <p:cNvSpPr>
            <a:spLocks noGrp="1"/>
          </p:cNvSpPr>
          <p:nvPr/>
        </p:nvSpPr>
        <p:spPr>
          <a:xfrm>
            <a:off x="567785" y="636937"/>
            <a:ext cx="11128915" cy="646367"/>
          </a:xfrm>
          <a:prstGeom prst="rect">
            <a:avLst/>
          </a:prstGeom>
          <a:noFill/>
          <a:ln w="0">
            <a:noFill/>
          </a:ln>
        </p:spPr>
        <p:txBody>
          <a:bodyPr anchor="ctr">
            <a:noAutofit/>
          </a:bodyPr>
          <a:lstStyle/>
          <a:p>
            <a:pPr algn="ctr">
              <a:buNone/>
              <a:defRPr sz="3600" b="0">
                <a:solidFill>
                  <a:srgbClr val="202020"/>
                </a:solidFill>
                <a:latin typeface="Mazda Type"/>
                <a:ea typeface="Mazda Type"/>
                <a:cs typeface="Mazda Type"/>
              </a:defRPr>
            </a:pPr>
            <a:r>
              <a:rPr sz="3600" b="0" dirty="0">
                <a:solidFill>
                  <a:srgbClr val="202020"/>
                </a:solidFill>
                <a:latin typeface="Mazda Type"/>
                <a:ea typeface="Mazda Type"/>
                <a:cs typeface="Mazda Type"/>
              </a:rPr>
              <a:t>Where the course goes next</a:t>
            </a:r>
          </a:p>
        </p:txBody>
      </p:sp>
      <p:sp>
        <p:nvSpPr>
          <p:cNvPr id="2" name="Rectangle 1">
            <a:extLst>
              <a:ext uri="{FF2B5EF4-FFF2-40B4-BE49-F238E27FC236}">
                <a16:creationId xmlns:a16="http://schemas.microsoft.com/office/drawing/2014/main" id="{5C9647A5-5975-44B7-B810-EA75D57485CE}"/>
              </a:ext>
            </a:extLst>
          </p:cNvPr>
          <p:cNvSpPr>
            <a:spLocks noGrp="1"/>
          </p:cNvSpPr>
          <p:nvPr/>
        </p:nvSpPr>
        <p:spPr>
          <a:xfrm>
            <a:off x="1333500" y="1790700"/>
            <a:ext cx="9525000" cy="3714750"/>
          </a:xfrm>
          <a:prstGeom prst="rect">
            <a:avLst/>
          </a:prstGeom>
          <a:noFill/>
          <a:ln w="0">
            <a:noFill/>
          </a:ln>
        </p:spPr>
        <p:txBody>
          <a:bodyPr anchor="ctr">
            <a:noAutofit/>
          </a:bodyPr>
          <a:lstStyle/>
          <a:p>
            <a:pPr marL="304800" indent="-152400" algn="l">
              <a:spcAft>
                <a:spcPts val="2200"/>
              </a:spcAft>
              <a:buChar char="•"/>
              <a:defRPr sz="2400" b="0">
                <a:solidFill>
                  <a:srgbClr val="202020"/>
                </a:solidFill>
                <a:latin typeface="Mazda Type"/>
                <a:ea typeface="Mazda Type"/>
                <a:cs typeface="Mazda Type"/>
              </a:defRPr>
            </a:pPr>
            <a:r>
              <a:rPr sz="2400" b="0">
                <a:solidFill>
                  <a:srgbClr val="202020"/>
                </a:solidFill>
                <a:latin typeface="Mazda Type"/>
                <a:ea typeface="Mazda Type"/>
                <a:cs typeface="Mazda Type"/>
              </a:rPr>
              <a:t>Shift from numbers to nonlinear </a:t>
            </a:r>
            <a:r>
              <a:rPr sz="2400">
                <a:solidFill>
                  <a:srgbClr val="202020"/>
                </a:solidFill>
                <a:latin typeface="Mazda Type"/>
                <a:ea typeface="Mazda Type"/>
                <a:cs typeface="Mazda Type"/>
              </a:rPr>
              <a:t>dynamics (starting Sept. 15).</a:t>
            </a:r>
            <a:endParaRPr sz="2400" b="0">
              <a:solidFill>
                <a:srgbClr val="202020"/>
              </a:solidFill>
              <a:latin typeface="Mazda Type"/>
              <a:ea typeface="Mazda Type"/>
              <a:cs typeface="Mazda Type"/>
            </a:endParaRPr>
          </a:p>
          <a:p>
            <a:pPr marL="304800" indent="-152400">
              <a:spcAft>
                <a:spcPts val="2200"/>
              </a:spcAft>
              <a:buChar char="•"/>
              <a:defRPr sz="2400" b="0">
                <a:solidFill>
                  <a:srgbClr val="202020"/>
                </a:solidFill>
                <a:latin typeface="Mazda Type"/>
                <a:ea typeface="Mazda Type"/>
                <a:cs typeface="Mazda Type"/>
              </a:defRPr>
            </a:pPr>
            <a:r>
              <a:rPr sz="2400">
                <a:solidFill>
                  <a:srgbClr val="202020"/>
                </a:solidFill>
                <a:latin typeface="Mazda Type"/>
                <a:ea typeface="Mazda Type"/>
                <a:cs typeface="Mazda Type"/>
              </a:rPr>
              <a:t>We will turn physical pictures and quantitative phenomena into mathematical models. </a:t>
            </a:r>
          </a:p>
          <a:p>
            <a:pPr marL="304800" indent="-152400">
              <a:spcAft>
                <a:spcPts val="2200"/>
              </a:spcAft>
              <a:buFontTx/>
              <a:buChar char="•"/>
              <a:defRPr sz="2400" b="0">
                <a:solidFill>
                  <a:srgbClr val="202020"/>
                </a:solidFill>
                <a:latin typeface="Mazda Type"/>
                <a:ea typeface="Mazda Type"/>
                <a:cs typeface="Mazda Type"/>
              </a:defRPr>
            </a:pPr>
            <a:r>
              <a:rPr sz="2400">
                <a:solidFill>
                  <a:srgbClr val="202020"/>
                </a:solidFill>
                <a:latin typeface="Mazda Type"/>
                <a:ea typeface="Mazda Type"/>
                <a:cs typeface="Mazda Type"/>
              </a:rPr>
              <a:t>Throughout the course, we will use these models to reveal and test candidate organizing principles.</a:t>
            </a:r>
          </a:p>
          <a:p>
            <a:pPr marL="304800" indent="-152400">
              <a:spcAft>
                <a:spcPts val="2200"/>
              </a:spcAft>
              <a:buChar char="•"/>
              <a:defRPr sz="2400" b="0">
                <a:solidFill>
                  <a:srgbClr val="202020"/>
                </a:solidFill>
                <a:latin typeface="Mazda Type"/>
                <a:ea typeface="Mazda Type"/>
                <a:cs typeface="Mazda Type"/>
              </a:defRPr>
            </a:pPr>
            <a:r>
              <a:rPr sz="2400" b="0">
                <a:solidFill>
                  <a:srgbClr val="202020"/>
                </a:solidFill>
                <a:latin typeface="Mazda Type"/>
                <a:ea typeface="Mazda Type"/>
                <a:cs typeface="Mazda Type"/>
              </a:rPr>
              <a:t>You are expected to engage constructively and critically with these principles by testing them against real phenomenon and real data.</a:t>
            </a:r>
          </a:p>
        </p:txBody>
      </p:sp>
    </p:spTree>
    <p:extLst>
      <p:ext uri="{BB962C8B-B14F-4D97-AF65-F5344CB8AC3E}">
        <p14:creationId xmlns:p14="http://schemas.microsoft.com/office/powerpoint/2010/main" val="1524815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431</TotalTime>
  <Words>820</Words>
  <Application>Microsoft Macintosh PowerPoint</Application>
  <DocSecurity>0</DocSecurity>
  <PresentationFormat>Widescreen</PresentationFormat>
  <Paragraphs>110</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DejaVu Sans</vt:lpstr>
      <vt:lpstr>Aptos</vt:lpstr>
      <vt:lpstr>Aptos Display</vt:lpstr>
      <vt:lpstr>Arial</vt:lpstr>
      <vt:lpstr>Mazda Type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Yifan YANG 杨一帆</cp:lastModifiedBy>
  <cp:revision>27</cp:revision>
  <dcterms:created xsi:type="dcterms:W3CDTF">2026-09-11T02:10:08Z</dcterms:created>
  <dcterms:modified xsi:type="dcterms:W3CDTF">2026-09-11T09:43:22Z</dcterms:modified>
</cp:coreProperties>
</file>