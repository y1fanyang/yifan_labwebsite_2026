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0" r:id="rId26"/>
    <p:sldId id="281" r:id="rId27"/>
    <p:sldId id="283" r:id="rId28"/>
    <p:sldId id="282" r:id="rId29"/>
    <p:sldId id="29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4" r:id="rId40"/>
    <p:sldId id="296" r:id="rId41"/>
    <p:sldId id="295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51E"/>
    <a:srgbClr val="5475E7"/>
    <a:srgbClr val="6783C1"/>
    <a:srgbClr val="A2B8AB"/>
    <a:srgbClr val="BD6442"/>
    <a:srgbClr val="E3A664"/>
    <a:srgbClr val="E2B065"/>
    <a:srgbClr val="6A89C6"/>
    <a:srgbClr val="6A98D0"/>
    <a:srgbClr val="315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94660"/>
  </p:normalViewPr>
  <p:slideViewPr>
    <p:cSldViewPr snapToGrid="0">
      <p:cViewPr>
        <p:scale>
          <a:sx n="100" d="100"/>
          <a:sy n="100" d="100"/>
        </p:scale>
        <p:origin x="51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A8DD8-CE2B-AFF6-9264-5EA8A90C3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E071A5-BE89-B8CA-B71E-9D25B5774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4DD133-2483-C23D-3DB2-742317BFE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57814-6975-45D6-9F28-EDB8E0CE7A53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CD57F1-A7BF-C4B7-F0D5-F6B1B2C0E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F108E1-EFB8-9D9B-011E-9AA53AC99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8D340-19CE-4ECD-9CC0-A3DEDA9FB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738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4E2EF-6383-5F7A-4E1F-375CD733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89DB5A-C6EA-42D4-FC86-EC5B34F73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042529-3393-9AB5-C550-0D0FB45BC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57814-6975-45D6-9F28-EDB8E0CE7A53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A77A83-C025-88AE-2B90-15CCFC175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C168F8-DA61-FEF6-45B3-DDC62477E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8D340-19CE-4ECD-9CC0-A3DEDA9FB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298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00072A-8E53-E7C7-D797-5FF824C85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65C8B7-C350-3739-9D86-C13E7BFA3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91201C-F4B0-EFA9-95CA-3677680FB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57814-6975-45D6-9F28-EDB8E0CE7A53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DCB4AB-4495-4767-57CE-AA6B1631B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EB464-02FD-050E-6B60-EF33C849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8D340-19CE-4ECD-9CC0-A3DEDA9FB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104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99DED-6CAE-93B1-F2E6-752417E6B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3766D5-02CA-8FE4-000D-5BB6C89EB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4914EA-75B9-4B9F-A16D-A456D0AD1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F58B23-876F-B9FE-F749-30793AAFE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57814-6975-45D6-9F28-EDB8E0CE7A53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EF6A70-BA76-8D67-F240-2569BBAFC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EF2555-E2F4-C95D-B416-4CF0DDD2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8D340-19CE-4ECD-9CC0-A3DEDA9FB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278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53A470-2028-AB06-377C-71033F23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C83A4F-E212-BA66-753E-E998EB341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AEDAE1-09E7-8C4A-8F26-165F4F68F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EB0DB6-B555-D8D4-5D1F-841459886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4BE29B-E8B7-F0B0-C6EF-09C0C27E7A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1C41D4-A8F7-3190-F142-82C5A4225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57814-6975-45D6-9F28-EDB8E0CE7A53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D3B3D9-2366-3DED-0763-72933E81A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5D4A1DA-9679-B41C-EA65-C922E593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8D340-19CE-4ECD-9CC0-A3DEDA9FB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620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AE4EC-914A-4F5B-234F-507AC1004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1E783F-E308-9E8A-D614-0FB701322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57814-6975-45D6-9F28-EDB8E0CE7A53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C8658C-2E96-3AB4-83D1-667B97B75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0B5ED4-9889-E02B-0EE1-76B6A9E6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8D340-19CE-4ECD-9CC0-A3DEDA9FB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853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F8D480-76D3-F3B0-7400-E57362592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57814-6975-45D6-9F28-EDB8E0CE7A53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33C4E25-4B08-748F-9C10-BB7DC7B52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779FF3-8E1D-C701-E389-01DEC82FC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8D340-19CE-4ECD-9CC0-A3DEDA9FB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61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BE0B59-8F8D-F97C-F1F2-7AA526247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1E305A-55A6-EE3D-F6FF-36EC650C7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28FF6E-DEE9-D95A-4471-F3C568E53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E37793-7ADE-1B15-254F-F944884A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57814-6975-45D6-9F28-EDB8E0CE7A53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9DF086-7B5F-B527-A60F-E0364EE3A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E290D5-0C07-ACC6-E7D8-A68E777CC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8D340-19CE-4ECD-9CC0-A3DEDA9FB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199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B524E-13AA-B829-2CC3-418A34114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879D63-E06D-B58E-6803-C00A1D029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897813-B761-1BC0-4AD1-9B769A684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78F532-EAAD-A0EA-F573-1C4DB857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57814-6975-45D6-9F28-EDB8E0CE7A53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C0D98D-DF0E-0129-AB2D-E28AC03AB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325D14-A3DB-B592-CB7E-27FDC545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8D340-19CE-4ECD-9CC0-A3DEDA9FB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959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56001-31C2-CE62-7209-78B04BAE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1DE54F-AC37-79EE-7DE7-D8ABFD4EC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50734E-B9CC-167B-C053-D967302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57814-6975-45D6-9F28-EDB8E0CE7A53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355D2A-D72E-B1C3-46F8-2281E8F91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6F996D-3A66-FB6F-397C-AA57C4BB5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8D340-19CE-4ECD-9CC0-A3DEDA9FB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792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EE1869-0A18-C8B6-2270-837555FF4D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B19B0E-F41C-57E0-532D-274731BFD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61F64E-B880-9CBF-F9C9-16033F0B1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57814-6975-45D6-9F28-EDB8E0CE7A53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952DF3-9701-6F56-7A03-FF41F409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E459BE-E3BF-9FD5-AE24-5D79ADCC8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8D340-19CE-4ECD-9CC0-A3DEDA9FB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504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A23B5FD-4627-2E0E-51FA-4B820B838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C05789-C51E-403E-7A13-37E1157F2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D4E035-B287-ABEA-D8F6-272F96094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57814-6975-45D6-9F28-EDB8E0CE7A53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DB6AC1-5DB1-00B0-65C4-6FE5AFBB6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DDC1CF-FDCA-9680-87DD-C065113EC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8D340-19CE-4ECD-9CC0-A3DEDA9FB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64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izmann.ac.il/plants/milo/bio-numbers?utm_source=chatgpt.com" TargetMode="External"/><Relationship Id="rId2" Type="http://schemas.openxmlformats.org/officeDocument/2006/relationships/hyperlink" Target="https://book.bionumbers.org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teomaps.net/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69194AC-D978-507F-9FF9-FC6FF56493C6}"/>
              </a:ext>
            </a:extLst>
          </p:cNvPr>
          <p:cNvSpPr txBox="1"/>
          <p:nvPr/>
        </p:nvSpPr>
        <p:spPr>
          <a:xfrm>
            <a:off x="0" y="171276"/>
            <a:ext cx="60970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2"/>
              </a:rPr>
              <a:t>https://book.bionumbers.org/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教材的电子版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zh-CN" dirty="0">
                <a:hlinkClick r:id="rId3"/>
              </a:rPr>
              <a:t>https://www.weizmann.ac.il/plants/milo/bio-numbers?utm_source=chatgpt.com</a:t>
            </a:r>
            <a:endParaRPr lang="en-US" altLang="zh-CN" dirty="0"/>
          </a:p>
          <a:p>
            <a:r>
              <a:rPr lang="zh-CN" altLang="en-US" dirty="0"/>
              <a:t>课程官网</a:t>
            </a:r>
          </a:p>
        </p:txBody>
      </p:sp>
    </p:spTree>
    <p:extLst>
      <p:ext uri="{BB962C8B-B14F-4D97-AF65-F5344CB8AC3E}">
        <p14:creationId xmlns:p14="http://schemas.microsoft.com/office/powerpoint/2010/main" val="3435316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AD2F-D6EF-72E9-577F-8B12D581B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B8D5926-A64B-1C63-BBFE-08076AC1F4D0}"/>
              </a:ext>
            </a:extLst>
          </p:cNvPr>
          <p:cNvSpPr txBox="1"/>
          <p:nvPr/>
        </p:nvSpPr>
        <p:spPr>
          <a:xfrm>
            <a:off x="1953925" y="2304670"/>
            <a:ext cx="80264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/>
              <a:t>Sizes Gallery </a:t>
            </a:r>
            <a:endParaRPr lang="en-US" altLang="zh-CN" sz="3600" b="1" dirty="0"/>
          </a:p>
          <a:p>
            <a:pPr algn="ctr"/>
            <a:endParaRPr lang="en-US" altLang="zh-CN" sz="3600" dirty="0"/>
          </a:p>
          <a:p>
            <a:pPr algn="ctr"/>
            <a:r>
              <a:rPr lang="zh-CN" altLang="en-US" sz="2800" dirty="0"/>
              <a:t>From: </a:t>
            </a:r>
            <a:endParaRPr lang="en-US" altLang="zh-CN" sz="2800" dirty="0"/>
          </a:p>
          <a:p>
            <a:pPr algn="ctr"/>
            <a:r>
              <a:rPr lang="zh-CN" altLang="en-US" sz="2800" dirty="0"/>
              <a:t>"Cell Biology by the Numbers" </a:t>
            </a:r>
            <a:endParaRPr lang="en-US" altLang="zh-CN" sz="2800" dirty="0"/>
          </a:p>
          <a:p>
            <a:pPr algn="ctr"/>
            <a:r>
              <a:rPr lang="zh-CN" altLang="en-US" sz="2800" dirty="0"/>
              <a:t>Ron Milo &amp; Rob Phillips</a:t>
            </a:r>
          </a:p>
        </p:txBody>
      </p:sp>
    </p:spTree>
    <p:extLst>
      <p:ext uri="{BB962C8B-B14F-4D97-AF65-F5344CB8AC3E}">
        <p14:creationId xmlns:p14="http://schemas.microsoft.com/office/powerpoint/2010/main" val="2805995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430F8-7736-52D8-EAD6-A61C1792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6126829-237A-DFBE-22E8-40243AC79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49" y="2365225"/>
            <a:ext cx="11633198" cy="297509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268EBFC-7FBB-4D3F-E8F8-E7C11BB5DD1A}"/>
              </a:ext>
            </a:extLst>
          </p:cNvPr>
          <p:cNvSpPr txBox="1"/>
          <p:nvPr/>
        </p:nvSpPr>
        <p:spPr>
          <a:xfrm>
            <a:off x="737235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30, Fig. 1.</a:t>
            </a:r>
            <a:endParaRPr lang="zh-CN" altLang="en-US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09A88A-032E-9222-8647-B92D2A3D6C86}"/>
              </a:ext>
            </a:extLst>
          </p:cNvPr>
          <p:cNvSpPr txBox="1"/>
          <p:nvPr/>
        </p:nvSpPr>
        <p:spPr>
          <a:xfrm>
            <a:off x="981075" y="344320"/>
            <a:ext cx="102298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order of magnitude in linear size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(i.e. 100,000) span cell biology</a:t>
            </a:r>
          </a:p>
        </p:txBody>
      </p:sp>
    </p:spTree>
    <p:extLst>
      <p:ext uri="{BB962C8B-B14F-4D97-AF65-F5344CB8AC3E}">
        <p14:creationId xmlns:p14="http://schemas.microsoft.com/office/powerpoint/2010/main" val="2274663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20B75-FAF5-0A44-C967-2B05CB27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3CB31B3-16A0-2B5A-8E1B-250B927FB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56" y="1692782"/>
            <a:ext cx="10224807" cy="460154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5748365-6C7C-2220-3F0C-57F1AC073B88}"/>
              </a:ext>
            </a:extLst>
          </p:cNvPr>
          <p:cNvSpPr txBox="1"/>
          <p:nvPr/>
        </p:nvSpPr>
        <p:spPr>
          <a:xfrm>
            <a:off x="964735" y="397203"/>
            <a:ext cx="98835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Nuts and bolts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(ions, amino acids, nucleotides)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C76D89-20DF-0190-111F-67FED4ED4CAB}"/>
              </a:ext>
            </a:extLst>
          </p:cNvPr>
          <p:cNvSpPr txBox="1"/>
          <p:nvPr/>
        </p:nvSpPr>
        <p:spPr>
          <a:xfrm>
            <a:off x="739140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73</a:t>
            </a:r>
            <a:r>
              <a:rPr lang="zh-CN" altLang="zh-CN" sz="1400" dirty="0"/>
              <a:t>, Fig. 1.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35338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32B37-493D-754D-F043-62D6794F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809758B-C65B-1935-8722-415E1D0FC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903" y="1370752"/>
            <a:ext cx="7505797" cy="514356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00AE8EC-76B6-14C9-63DD-A4E7B733C485}"/>
              </a:ext>
            </a:extLst>
          </p:cNvPr>
          <p:cNvSpPr txBox="1"/>
          <p:nvPr/>
        </p:nvSpPr>
        <p:spPr>
          <a:xfrm>
            <a:off x="7366000" y="6587542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76</a:t>
            </a:r>
            <a:r>
              <a:rPr lang="zh-CN" altLang="zh-CN" sz="1400" dirty="0"/>
              <a:t>, Fig. 1.</a:t>
            </a:r>
            <a:endParaRPr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AD89D9-9E7F-9086-2A2E-F0CD32E45879}"/>
              </a:ext>
            </a:extLst>
          </p:cNvPr>
          <p:cNvSpPr txBox="1"/>
          <p:nvPr/>
        </p:nvSpPr>
        <p:spPr>
          <a:xfrm>
            <a:off x="488950" y="216585"/>
            <a:ext cx="10909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mRNA next to its protein –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blueprint is larger than coded structure</a:t>
            </a:r>
          </a:p>
        </p:txBody>
      </p:sp>
    </p:spTree>
    <p:extLst>
      <p:ext uri="{BB962C8B-B14F-4D97-AF65-F5344CB8AC3E}">
        <p14:creationId xmlns:p14="http://schemas.microsoft.com/office/powerpoint/2010/main" val="2930867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E8A27-978D-5FC5-40F8-0B7A10470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80E04C3-5054-8AC6-A89D-AC67FCCC066B}"/>
              </a:ext>
            </a:extLst>
          </p:cNvPr>
          <p:cNvSpPr txBox="1"/>
          <p:nvPr/>
        </p:nvSpPr>
        <p:spPr>
          <a:xfrm>
            <a:off x="269280" y="1276796"/>
            <a:ext cx="42773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Monomeric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Globular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proteins are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5nm in diameter.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work in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complexes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7C15A0-4F96-B865-11F3-8605D3EFCE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18" b="5425"/>
          <a:stretch>
            <a:fillRect/>
          </a:stretch>
        </p:blipFill>
        <p:spPr>
          <a:xfrm>
            <a:off x="5677076" y="136525"/>
            <a:ext cx="5940654" cy="65849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A52D704-0A78-205D-FECB-7B64DEEB23AE}"/>
              </a:ext>
            </a:extLst>
          </p:cNvPr>
          <p:cNvSpPr txBox="1"/>
          <p:nvPr/>
        </p:nvSpPr>
        <p:spPr>
          <a:xfrm>
            <a:off x="44450" y="6485942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79</a:t>
            </a:r>
            <a:r>
              <a:rPr lang="zh-CN" altLang="zh-CN" sz="1400" dirty="0"/>
              <a:t>, Fig. 1.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97413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7D5AD-8CDD-746C-EC2A-B87FCF65D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712F692-F789-8F63-D6EE-5320C443E1D9}"/>
              </a:ext>
            </a:extLst>
          </p:cNvPr>
          <p:cNvSpPr txBox="1"/>
          <p:nvPr/>
        </p:nvSpPr>
        <p:spPr>
          <a:xfrm>
            <a:off x="1778000" y="427688"/>
            <a:ext cx="7893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Proteins are usually 200-500 aa long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A927905-931A-4304-B31B-747421ED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75" y="1714277"/>
            <a:ext cx="10401920" cy="373402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13098E1-7ED4-E627-0F8B-0DB4674BE4BF}"/>
              </a:ext>
            </a:extLst>
          </p:cNvPr>
          <p:cNvSpPr txBox="1"/>
          <p:nvPr/>
        </p:nvSpPr>
        <p:spPr>
          <a:xfrm>
            <a:off x="737235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83</a:t>
            </a:r>
            <a:r>
              <a:rPr lang="zh-CN" altLang="zh-CN" sz="1400" dirty="0"/>
              <a:t>, Fig. </a:t>
            </a:r>
            <a:r>
              <a:rPr lang="en-US" altLang="zh-CN" sz="1400" dirty="0"/>
              <a:t>3</a:t>
            </a:r>
            <a:r>
              <a:rPr lang="zh-CN" altLang="zh-CN" sz="1400" dirty="0"/>
              <a:t>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78903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9CA12-5B2F-3A9F-EF58-D0BA04DB8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15DD19F-9E40-29AB-4B84-6F6EC0D0DD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079" r="17314"/>
          <a:stretch>
            <a:fillRect/>
          </a:stretch>
        </p:blipFill>
        <p:spPr>
          <a:xfrm>
            <a:off x="1696301" y="1291681"/>
            <a:ext cx="8644052" cy="22898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FFCDE44-FFA5-48B4-A459-2DC9334E16A2}"/>
              </a:ext>
            </a:extLst>
          </p:cNvPr>
          <p:cNvSpPr txBox="1"/>
          <p:nvPr/>
        </p:nvSpPr>
        <p:spPr>
          <a:xfrm>
            <a:off x="1779702" y="439109"/>
            <a:ext cx="8477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 of gene expression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875FDD-46C8-C4C5-1546-EAC72B25748E}"/>
              </a:ext>
            </a:extLst>
          </p:cNvPr>
          <p:cNvSpPr txBox="1"/>
          <p:nvPr/>
        </p:nvSpPr>
        <p:spPr>
          <a:xfrm>
            <a:off x="737235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85</a:t>
            </a:r>
            <a:r>
              <a:rPr lang="zh-CN" altLang="zh-CN" sz="1400" dirty="0"/>
              <a:t>, Fig. </a:t>
            </a:r>
            <a:r>
              <a:rPr lang="en-US" altLang="zh-CN" sz="1400" dirty="0"/>
              <a:t>2</a:t>
            </a:r>
            <a:r>
              <a:rPr lang="zh-CN" altLang="zh-CN" sz="1400" dirty="0"/>
              <a:t>.</a:t>
            </a:r>
            <a:endParaRPr lang="zh-CN" altLang="en-US" sz="14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6DACCE2-92DF-094B-BDB1-A368685CBF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016"/>
          <a:stretch>
            <a:fillRect/>
          </a:stretch>
        </p:blipFill>
        <p:spPr>
          <a:xfrm>
            <a:off x="160521" y="3479801"/>
            <a:ext cx="11595408" cy="293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30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A0031-5F45-A7AD-C478-8B27E9809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DA2BD38-1D1E-1D73-B171-3D45923E6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685" y="623482"/>
            <a:ext cx="4900758" cy="61277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4FEF282-64D7-F940-21FC-33BE8C37DA85}"/>
              </a:ext>
            </a:extLst>
          </p:cNvPr>
          <p:cNvSpPr txBox="1"/>
          <p:nvPr/>
        </p:nvSpPr>
        <p:spPr>
          <a:xfrm>
            <a:off x="1073150" y="1905506"/>
            <a:ext cx="4851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Mega Da mass range </a:t>
            </a:r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Complexes of tens of proteins. </a:t>
            </a:r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Ribosome (prokaryotic): </a:t>
            </a:r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~4000 nucleotides and ~7000 aa </a:t>
            </a:r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rRNA is ~2/3 of mass in ribosome.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FC0904-4796-BFF4-B4B2-C6D1D55304F7}"/>
              </a:ext>
            </a:extLst>
          </p:cNvPr>
          <p:cNvSpPr txBox="1"/>
          <p:nvPr/>
        </p:nvSpPr>
        <p:spPr>
          <a:xfrm>
            <a:off x="2673985" y="106768"/>
            <a:ext cx="6121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Machines of central dogma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2D8962-B102-5D90-07DE-76C7072AF483}"/>
              </a:ext>
            </a:extLst>
          </p:cNvPr>
          <p:cNvSpPr txBox="1"/>
          <p:nvPr/>
        </p:nvSpPr>
        <p:spPr>
          <a:xfrm>
            <a:off x="737235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86</a:t>
            </a:r>
            <a:r>
              <a:rPr lang="zh-CN" altLang="zh-CN" sz="1400" dirty="0"/>
              <a:t>, Fig. </a:t>
            </a:r>
            <a:r>
              <a:rPr lang="en-US" altLang="zh-CN" sz="1400" dirty="0"/>
              <a:t>3</a:t>
            </a:r>
            <a:r>
              <a:rPr lang="zh-CN" altLang="zh-CN" sz="1400" dirty="0"/>
              <a:t>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04027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B4EEE-1E9E-5C06-8982-65C9BBBAB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CFAD206-B80D-9B2F-7C1A-090F24189D22}"/>
              </a:ext>
            </a:extLst>
          </p:cNvPr>
          <p:cNvSpPr txBox="1"/>
          <p:nvPr/>
        </p:nvSpPr>
        <p:spPr>
          <a:xfrm>
            <a:off x="2467772" y="284568"/>
            <a:ext cx="67506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Membranes are about 4nm thick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(without sticking out parts…)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627F85-F9DA-6ECD-0049-928F24B900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4" b="3332"/>
          <a:stretch>
            <a:fillRect/>
          </a:stretch>
        </p:blipFill>
        <p:spPr>
          <a:xfrm>
            <a:off x="2865785" y="1484897"/>
            <a:ext cx="6352672" cy="52016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DFC9E90-9DB5-8841-A477-C13D8320F0DC}"/>
              </a:ext>
            </a:extLst>
          </p:cNvPr>
          <p:cNvSpPr txBox="1"/>
          <p:nvPr/>
        </p:nvSpPr>
        <p:spPr>
          <a:xfrm>
            <a:off x="737235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88</a:t>
            </a:r>
            <a:r>
              <a:rPr lang="zh-CN" altLang="zh-CN" sz="1400" dirty="0"/>
              <a:t>, Fig. </a:t>
            </a:r>
            <a:r>
              <a:rPr lang="en-US" altLang="zh-CN" sz="1400" dirty="0"/>
              <a:t>1</a:t>
            </a:r>
            <a:r>
              <a:rPr lang="zh-CN" altLang="zh-CN" sz="1400" dirty="0"/>
              <a:t>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35321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FE16C-A9D4-EB78-87AF-B13A2730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A3D63AA-C188-7AED-16CA-369B41EE5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986" y="1323203"/>
            <a:ext cx="8440328" cy="553479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ACB7A8E-3509-6913-EF48-78AE10A31015}"/>
              </a:ext>
            </a:extLst>
          </p:cNvPr>
          <p:cNvSpPr txBox="1"/>
          <p:nvPr/>
        </p:nvSpPr>
        <p:spPr>
          <a:xfrm>
            <a:off x="419100" y="75018"/>
            <a:ext cx="10642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Proteins and membrane are about the same size.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Lots of protein are embedded in the membrane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(about half of mass)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BD44B6-D04F-21CF-6D5E-54CB201AE36B}"/>
              </a:ext>
            </a:extLst>
          </p:cNvPr>
          <p:cNvSpPr txBox="1"/>
          <p:nvPr/>
        </p:nvSpPr>
        <p:spPr>
          <a:xfrm>
            <a:off x="737235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91</a:t>
            </a:r>
            <a:r>
              <a:rPr lang="zh-CN" altLang="zh-CN" sz="1400" dirty="0"/>
              <a:t>, Fig. </a:t>
            </a:r>
            <a:r>
              <a:rPr lang="en-US" altLang="zh-CN" sz="1400" dirty="0"/>
              <a:t>3</a:t>
            </a:r>
            <a:r>
              <a:rPr lang="zh-CN" altLang="zh-CN" sz="1400" dirty="0"/>
              <a:t>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94469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B48B1-FF29-2628-7627-4F8D50E66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7621D4A-2C11-0714-3AEA-3D1057878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591" y="718835"/>
            <a:ext cx="5779259" cy="608201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F68ED56-4B99-0EE9-9224-ECA5751C5453}"/>
              </a:ext>
            </a:extLst>
          </p:cNvPr>
          <p:cNvSpPr txBox="1"/>
          <p:nvPr/>
        </p:nvSpPr>
        <p:spPr>
          <a:xfrm>
            <a:off x="463170" y="129654"/>
            <a:ext cx="10642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protein are usually oligomers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F4BC5D-4DD4-5FDD-31D2-509B7AD17599}"/>
              </a:ext>
            </a:extLst>
          </p:cNvPr>
          <p:cNvSpPr txBox="1"/>
          <p:nvPr/>
        </p:nvSpPr>
        <p:spPr>
          <a:xfrm>
            <a:off x="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80</a:t>
            </a:r>
            <a:r>
              <a:rPr lang="zh-CN" altLang="zh-CN" sz="1400" dirty="0"/>
              <a:t>, Fig. </a:t>
            </a:r>
            <a:r>
              <a:rPr lang="en-US" altLang="zh-CN" sz="1400" dirty="0"/>
              <a:t>2</a:t>
            </a:r>
            <a:r>
              <a:rPr lang="zh-CN" altLang="zh-CN" sz="1400" dirty="0"/>
              <a:t>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90228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B5F60-DD70-7718-8DB6-173C8AC2C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0059ECA-E82C-F870-F5EA-D819107562D8}"/>
              </a:ext>
            </a:extLst>
          </p:cNvPr>
          <p:cNvSpPr txBox="1"/>
          <p:nvPr/>
        </p:nvSpPr>
        <p:spPr>
          <a:xfrm>
            <a:off x="666370" y="390004"/>
            <a:ext cx="10642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Skeleton of the cell is built of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repeating protein monomers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560C15-39E3-D8DC-2B43-FBC34DB61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54" y="1809746"/>
            <a:ext cx="11384492" cy="415290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0729F85-63F7-92BE-640C-0B3B727E43A7}"/>
              </a:ext>
            </a:extLst>
          </p:cNvPr>
          <p:cNvSpPr txBox="1"/>
          <p:nvPr/>
        </p:nvSpPr>
        <p:spPr>
          <a:xfrm>
            <a:off x="737235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92</a:t>
            </a:r>
            <a:r>
              <a:rPr lang="zh-CN" altLang="zh-CN" sz="1400" dirty="0"/>
              <a:t>, Fig. </a:t>
            </a:r>
            <a:r>
              <a:rPr lang="en-US" altLang="zh-CN" sz="1400" dirty="0"/>
              <a:t>1</a:t>
            </a:r>
            <a:r>
              <a:rPr lang="zh-CN" altLang="zh-CN" sz="1400" dirty="0"/>
              <a:t>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72183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4EBDA-2275-4ACE-4A61-570B9034D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092563A-DA1F-43B3-DE13-D1A3C4E0E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996" y="1653892"/>
            <a:ext cx="8078308" cy="475325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B757F44-5DA8-DD4E-0256-A69123C5CE2E}"/>
              </a:ext>
            </a:extLst>
          </p:cNvPr>
          <p:cNvSpPr txBox="1"/>
          <p:nvPr/>
        </p:nvSpPr>
        <p:spPr>
          <a:xfrm>
            <a:off x="737235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119</a:t>
            </a:r>
            <a:r>
              <a:rPr lang="zh-CN" altLang="zh-CN" sz="1400" dirty="0"/>
              <a:t>, Fig. </a:t>
            </a:r>
            <a:r>
              <a:rPr lang="en-US" altLang="zh-CN" sz="1400" dirty="0"/>
              <a:t>1</a:t>
            </a:r>
            <a:r>
              <a:rPr lang="zh-CN" altLang="zh-CN" sz="1400" dirty="0"/>
              <a:t>.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20957C-9FFE-6A1B-EE60-C4855D77AD53}"/>
              </a:ext>
            </a:extLst>
          </p:cNvPr>
          <p:cNvSpPr txBox="1"/>
          <p:nvPr/>
        </p:nvSpPr>
        <p:spPr>
          <a:xfrm>
            <a:off x="710820" y="310490"/>
            <a:ext cx="10642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Characteristic density as saturation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(it is hard to realistically show the 3D in 2D)</a:t>
            </a:r>
          </a:p>
        </p:txBody>
      </p:sp>
    </p:spTree>
    <p:extLst>
      <p:ext uri="{BB962C8B-B14F-4D97-AF65-F5344CB8AC3E}">
        <p14:creationId xmlns:p14="http://schemas.microsoft.com/office/powerpoint/2010/main" val="3072493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35FDC-7E1E-73A3-B7C5-2D4F487C2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C726CE0-F37D-E13E-F3A0-339B01662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26" y="1581150"/>
            <a:ext cx="10880473" cy="427063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AAFEF80-C374-93CE-84E4-F5B89B706FBE}"/>
              </a:ext>
            </a:extLst>
          </p:cNvPr>
          <p:cNvSpPr txBox="1"/>
          <p:nvPr/>
        </p:nvSpPr>
        <p:spPr>
          <a:xfrm>
            <a:off x="737235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120</a:t>
            </a:r>
            <a:r>
              <a:rPr lang="zh-CN" altLang="zh-CN" sz="1400" dirty="0"/>
              <a:t>, Fig. </a:t>
            </a:r>
            <a:r>
              <a:rPr lang="en-US" altLang="zh-CN" sz="1400" dirty="0"/>
              <a:t>2</a:t>
            </a:r>
            <a:r>
              <a:rPr lang="zh-CN" altLang="zh-CN" sz="1400" dirty="0"/>
              <a:t>.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AB4659-4EE9-D2ED-7B24-BEEBB9FBFEAB}"/>
              </a:ext>
            </a:extLst>
          </p:cNvPr>
          <p:cNvSpPr txBox="1"/>
          <p:nvPr/>
        </p:nvSpPr>
        <p:spPr>
          <a:xfrm>
            <a:off x="450470" y="412090"/>
            <a:ext cx="10642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Microbial saturation in nature</a:t>
            </a:r>
          </a:p>
        </p:txBody>
      </p:sp>
    </p:spTree>
    <p:extLst>
      <p:ext uri="{BB962C8B-B14F-4D97-AF65-F5344CB8AC3E}">
        <p14:creationId xmlns:p14="http://schemas.microsoft.com/office/powerpoint/2010/main" val="643634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0670F-3AAE-4B62-D856-836B1E73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AB71F63-D139-CC40-A766-5A456B4EF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405" y="1044238"/>
            <a:ext cx="9109189" cy="491169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17A955D-4E04-3C39-497D-9880973E0C50}"/>
              </a:ext>
            </a:extLst>
          </p:cNvPr>
          <p:cNvSpPr txBox="1"/>
          <p:nvPr/>
        </p:nvSpPr>
        <p:spPr>
          <a:xfrm>
            <a:off x="729615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388</a:t>
            </a:r>
            <a:r>
              <a:rPr lang="zh-CN" altLang="zh-CN" sz="1400" dirty="0"/>
              <a:t>, Fig. </a:t>
            </a:r>
            <a:r>
              <a:rPr lang="en-US" altLang="zh-CN" sz="1400" dirty="0"/>
              <a:t>1</a:t>
            </a:r>
            <a:r>
              <a:rPr lang="zh-CN" altLang="zh-CN" sz="1400" dirty="0"/>
              <a:t>.</a:t>
            </a:r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4D5769F-03CF-34B5-5D84-EBC603AC061D}"/>
              </a:ext>
            </a:extLst>
          </p:cNvPr>
          <p:cNvSpPr txBox="1"/>
          <p:nvPr/>
        </p:nvSpPr>
        <p:spPr>
          <a:xfrm>
            <a:off x="1447420" y="5884847"/>
            <a:ext cx="9544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ransmission electron micrograph of E coli infected with Bacteriophage T4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26BB1F4-356E-2331-0226-1FA13492D185}"/>
              </a:ext>
            </a:extLst>
          </p:cNvPr>
          <p:cNvSpPr txBox="1"/>
          <p:nvPr/>
        </p:nvSpPr>
        <p:spPr>
          <a:xfrm>
            <a:off x="393320" y="397907"/>
            <a:ext cx="10642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Viruses filing up a bacteria</a:t>
            </a:r>
          </a:p>
        </p:txBody>
      </p:sp>
    </p:spTree>
    <p:extLst>
      <p:ext uri="{BB962C8B-B14F-4D97-AF65-F5344CB8AC3E}">
        <p14:creationId xmlns:p14="http://schemas.microsoft.com/office/powerpoint/2010/main" val="364497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76D69-4762-D063-F72E-3D465F42C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C80FF2C-2EDE-6D88-40C4-9D4475551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831" y="665617"/>
            <a:ext cx="8335538" cy="488700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51455B3-4391-1A5F-3441-4B141C5DE09D}"/>
              </a:ext>
            </a:extLst>
          </p:cNvPr>
          <p:cNvSpPr txBox="1"/>
          <p:nvPr/>
        </p:nvSpPr>
        <p:spPr>
          <a:xfrm>
            <a:off x="161925" y="5453403"/>
            <a:ext cx="115887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Figure 1: A gallery of microbial cell shapes. These drawings are based upon microscopy images from the original literature. (A) Stella strain IFAM1312 (380); (B) Microcyclus (a genus since renamed Ancylobacter) flavus (367); (C) Bifidobacterium bifidum; (D) Clostridium cocleatum; (E) Aquaspirillum autotrophicum; (F) Pyroditium abyssi (380); (G) Escherichia coli; (H) Bifidobacteriumsp.; (I) transverse section of ratoon stunt-associated bacterium; (J) Planctomyces sp. (133); (K) Nocardia opaca; (L) Chain of ratoon stunt-associated bacteria; (M) Caulobacter sp. (380); (N Spirochaeta halophila; (O) Prosthecobacter fusiformis; (P) Methanogenium cariaci; (Q) Arthrobacter globiformis growth cycle; (R) gram-negative Alphaproteobacteria from marine sponges (240); (S) Ancalomicrobium sp. (380); (T) Nevskia ramosa (133); (U) Rhodomicrobium vanniellii; (V) Streptomyces sp.; (W) Caryophanon latum; (X) Calothrix sp. (Y) A schematic of part of the giant bacterium Thiomargarita namibiensis (290). All images are drawn to the same scale. (Adapted from K. D. Young, Microbiology &amp; Molecular Bio. Rev., 70:660, 2006.)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A67B5D-EBD4-5D67-7787-45C4AA9B5B45}"/>
              </a:ext>
            </a:extLst>
          </p:cNvPr>
          <p:cNvSpPr txBox="1"/>
          <p:nvPr/>
        </p:nvSpPr>
        <p:spPr>
          <a:xfrm>
            <a:off x="729615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51</a:t>
            </a:r>
            <a:r>
              <a:rPr lang="zh-CN" altLang="zh-CN" sz="1400" dirty="0"/>
              <a:t>, Fig. </a:t>
            </a:r>
            <a:r>
              <a:rPr lang="en-US" altLang="zh-CN" sz="1400" dirty="0"/>
              <a:t>1</a:t>
            </a:r>
            <a:r>
              <a:rPr lang="zh-CN" altLang="zh-CN" sz="1400" dirty="0"/>
              <a:t>.</a:t>
            </a:r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1B7774-9946-0789-65B0-E8B94864B97C}"/>
              </a:ext>
            </a:extLst>
          </p:cNvPr>
          <p:cNvSpPr txBox="1"/>
          <p:nvPr/>
        </p:nvSpPr>
        <p:spPr>
          <a:xfrm>
            <a:off x="3019235" y="188357"/>
            <a:ext cx="58741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diversity of bacteria</a:t>
            </a:r>
          </a:p>
        </p:txBody>
      </p:sp>
    </p:spTree>
    <p:extLst>
      <p:ext uri="{BB962C8B-B14F-4D97-AF65-F5344CB8AC3E}">
        <p14:creationId xmlns:p14="http://schemas.microsoft.com/office/powerpoint/2010/main" val="1206512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D31CE-DBC9-BDF1-8114-57B28D9A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2E01D79-6E27-101F-2E26-4AA035694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8" y="0"/>
            <a:ext cx="7054843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A728304-B153-A5B4-0318-83FF4C79E5A3}"/>
              </a:ext>
            </a:extLst>
          </p:cNvPr>
          <p:cNvSpPr txBox="1"/>
          <p:nvPr/>
        </p:nvSpPr>
        <p:spPr>
          <a:xfrm>
            <a:off x="6794500" y="2399774"/>
            <a:ext cx="55181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Cartoons of several different types of cells all referenced to a standard E. coli ruler of 1 micron width drawn in grey.</a:t>
            </a:r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(A) The protist Giardia lamblia, (B) a plant cell, (C) a budding yeastcell, (D) a red blood cell, (E) a fibroblast cell, (F) a eukaryotic nerve cell, and (G) a rod cell from</a:t>
            </a:r>
          </a:p>
          <a:p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retina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A79205-42CB-AE3F-6217-70CDCBF92EE3}"/>
              </a:ext>
            </a:extLst>
          </p:cNvPr>
          <p:cNvSpPr txBox="1"/>
          <p:nvPr/>
        </p:nvSpPr>
        <p:spPr>
          <a:xfrm>
            <a:off x="729615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54</a:t>
            </a:r>
            <a:r>
              <a:rPr lang="zh-CN" altLang="zh-CN" sz="1400" dirty="0"/>
              <a:t>, Fig. </a:t>
            </a:r>
            <a:r>
              <a:rPr lang="en-US" altLang="zh-CN" sz="1400" dirty="0"/>
              <a:t>5</a:t>
            </a:r>
            <a:r>
              <a:rPr lang="zh-CN" altLang="zh-CN" sz="1400" dirty="0"/>
              <a:t>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83238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9E1AC-C055-30B7-07B0-DA5111C31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484D9672-398C-01D1-CBA9-E1CD6B3EB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46" y="3257623"/>
            <a:ext cx="2471337" cy="7940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96D6CCB-CCEB-2EF5-494F-1068AAFFD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931" y="4270945"/>
            <a:ext cx="9893834" cy="51684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6C0F143-7D62-A357-535F-71892EFFBB0B}"/>
              </a:ext>
            </a:extLst>
          </p:cNvPr>
          <p:cNvSpPr txBox="1"/>
          <p:nvPr/>
        </p:nvSpPr>
        <p:spPr>
          <a:xfrm>
            <a:off x="2485450" y="5144590"/>
            <a:ext cx="2049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Avogadro number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0FDAA9A-F835-9E91-3857-1482CBF872BD}"/>
              </a:ext>
            </a:extLst>
          </p:cNvPr>
          <p:cNvSpPr txBox="1"/>
          <p:nvPr/>
        </p:nvSpPr>
        <p:spPr>
          <a:xfrm>
            <a:off x="4829059" y="5144590"/>
            <a:ext cx="2467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Hydrogen atom mass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D21C025-F932-05BA-0CD6-85BA20F2451C}"/>
              </a:ext>
            </a:extLst>
          </p:cNvPr>
          <p:cNvCxnSpPr>
            <a:cxnSpLocks/>
          </p:cNvCxnSpPr>
          <p:nvPr/>
        </p:nvCxnSpPr>
        <p:spPr>
          <a:xfrm flipV="1">
            <a:off x="4013541" y="4708869"/>
            <a:ext cx="79780" cy="478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27A7102-2C9E-1F16-F133-88B0E21D40D7}"/>
              </a:ext>
            </a:extLst>
          </p:cNvPr>
          <p:cNvCxnSpPr>
            <a:cxnSpLocks/>
          </p:cNvCxnSpPr>
          <p:nvPr/>
        </p:nvCxnSpPr>
        <p:spPr>
          <a:xfrm flipH="1" flipV="1">
            <a:off x="5246037" y="4726849"/>
            <a:ext cx="129898" cy="460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D86F1C09-E07D-2DD3-CBFA-2F9E35DC9E4D}"/>
              </a:ext>
            </a:extLst>
          </p:cNvPr>
          <p:cNvSpPr/>
          <p:nvPr/>
        </p:nvSpPr>
        <p:spPr>
          <a:xfrm rot="18888210">
            <a:off x="990789" y="2256417"/>
            <a:ext cx="1522598" cy="7415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0386FED1-E277-6617-28E5-A00D1E20B340}"/>
              </a:ext>
            </a:extLst>
          </p:cNvPr>
          <p:cNvSpPr/>
          <p:nvPr/>
        </p:nvSpPr>
        <p:spPr>
          <a:xfrm>
            <a:off x="1614007" y="2489110"/>
            <a:ext cx="276162" cy="2761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5BBB2BA-36FE-4419-AE6A-E9587F48BA65}"/>
              </a:ext>
            </a:extLst>
          </p:cNvPr>
          <p:cNvSpPr/>
          <p:nvPr/>
        </p:nvSpPr>
        <p:spPr>
          <a:xfrm>
            <a:off x="2197015" y="1992020"/>
            <a:ext cx="147286" cy="152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4060CCA-034D-CC77-4DA7-19138567A9E4}"/>
              </a:ext>
            </a:extLst>
          </p:cNvPr>
          <p:cNvSpPr txBox="1"/>
          <p:nvPr/>
        </p:nvSpPr>
        <p:spPr>
          <a:xfrm>
            <a:off x="1777511" y="2234477"/>
            <a:ext cx="29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8AEC413-1E24-EEC6-1F4F-6AD708712269}"/>
              </a:ext>
            </a:extLst>
          </p:cNvPr>
          <p:cNvSpPr txBox="1"/>
          <p:nvPr/>
        </p:nvSpPr>
        <p:spPr>
          <a:xfrm>
            <a:off x="2311120" y="1621200"/>
            <a:ext cx="295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65C2033-BC68-1793-702E-C299D116F0C9}"/>
              </a:ext>
            </a:extLst>
          </p:cNvPr>
          <p:cNvSpPr txBox="1"/>
          <p:nvPr/>
        </p:nvSpPr>
        <p:spPr>
          <a:xfrm>
            <a:off x="2606713" y="2377251"/>
            <a:ext cx="2049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 atom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344269E-190E-EEA0-EDBF-711835CEC105}"/>
              </a:ext>
            </a:extLst>
          </p:cNvPr>
          <p:cNvSpPr txBox="1"/>
          <p:nvPr/>
        </p:nvSpPr>
        <p:spPr>
          <a:xfrm>
            <a:off x="2197015" y="931711"/>
            <a:ext cx="8014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cs typeface="Calibri" panose="020F0502020204030204" pitchFamily="34" charset="0"/>
              </a:rPr>
              <a:t>Converting between Daltons and grams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785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1B2FA-91A4-7264-02D1-63C3A02A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B4D3FFB-1045-3C0B-1633-EDD59C5CC17C}"/>
              </a:ext>
            </a:extLst>
          </p:cNvPr>
          <p:cNvSpPr txBox="1"/>
          <p:nvPr/>
        </p:nvSpPr>
        <p:spPr>
          <a:xfrm>
            <a:off x="1886419" y="2488777"/>
            <a:ext cx="80264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/>
              <a:t>Concentrations</a:t>
            </a:r>
            <a:r>
              <a:rPr lang="zh-CN" altLang="en-US" sz="3600" b="1" dirty="0"/>
              <a:t> Gallery </a:t>
            </a:r>
            <a:endParaRPr lang="en-US" altLang="zh-CN" sz="3600" b="1" dirty="0"/>
          </a:p>
          <a:p>
            <a:pPr algn="ctr"/>
            <a:endParaRPr lang="en-US" altLang="zh-CN" sz="3600" dirty="0"/>
          </a:p>
          <a:p>
            <a:pPr algn="ctr"/>
            <a:r>
              <a:rPr lang="zh-CN" altLang="en-US" sz="2800" dirty="0"/>
              <a:t>From: </a:t>
            </a:r>
            <a:endParaRPr lang="en-US" altLang="zh-CN" sz="2800" dirty="0"/>
          </a:p>
          <a:p>
            <a:pPr algn="ctr"/>
            <a:r>
              <a:rPr lang="zh-CN" altLang="en-US" sz="2800" dirty="0"/>
              <a:t>"Cell Biology by the Numbers" </a:t>
            </a:r>
            <a:endParaRPr lang="en-US" altLang="zh-CN" sz="2800" dirty="0"/>
          </a:p>
          <a:p>
            <a:pPr algn="ctr"/>
            <a:r>
              <a:rPr lang="zh-CN" altLang="en-US" sz="2800" dirty="0"/>
              <a:t>Ron Milo &amp; Rob Phillips</a:t>
            </a:r>
          </a:p>
        </p:txBody>
      </p:sp>
    </p:spTree>
    <p:extLst>
      <p:ext uri="{BB962C8B-B14F-4D97-AF65-F5344CB8AC3E}">
        <p14:creationId xmlns:p14="http://schemas.microsoft.com/office/powerpoint/2010/main" val="2044332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C7077-49C1-5058-A2F1-48FBD6CD5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7A44192-FDCA-5AB1-BBCC-EB3BC73AAC11}"/>
              </a:ext>
            </a:extLst>
          </p:cNvPr>
          <p:cNvSpPr txBox="1"/>
          <p:nvPr/>
        </p:nvSpPr>
        <p:spPr>
          <a:xfrm>
            <a:off x="1186469" y="810073"/>
            <a:ext cx="9819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&gt;? orders of magnitude span in concentrations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 bacterial cell ?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06DEFC-3CDE-3163-1C7C-0A78A8FE5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52" y="2698362"/>
            <a:ext cx="11694910" cy="20317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5EAA6AC-04D4-50F7-B74A-ABBA436EDA2B}"/>
              </a:ext>
            </a:extLst>
          </p:cNvPr>
          <p:cNvSpPr/>
          <p:nvPr/>
        </p:nvSpPr>
        <p:spPr>
          <a:xfrm>
            <a:off x="932811" y="4130142"/>
            <a:ext cx="613691" cy="3068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83633A-F6BD-47C7-AA44-0AAB0FCA1052}"/>
              </a:ext>
            </a:extLst>
          </p:cNvPr>
          <p:cNvSpPr/>
          <p:nvPr/>
        </p:nvSpPr>
        <p:spPr>
          <a:xfrm>
            <a:off x="3914328" y="4129119"/>
            <a:ext cx="613691" cy="3068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E9199A-745E-18FC-54F6-E419A2172A59}"/>
              </a:ext>
            </a:extLst>
          </p:cNvPr>
          <p:cNvSpPr/>
          <p:nvPr/>
        </p:nvSpPr>
        <p:spPr>
          <a:xfrm>
            <a:off x="6895845" y="4129119"/>
            <a:ext cx="613691" cy="3068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322412-5762-AD13-43A7-2A944A729A05}"/>
              </a:ext>
            </a:extLst>
          </p:cNvPr>
          <p:cNvSpPr txBox="1"/>
          <p:nvPr/>
        </p:nvSpPr>
        <p:spPr>
          <a:xfrm>
            <a:off x="4033485" y="3990154"/>
            <a:ext cx="459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zh-CN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8FE78CA-ECC4-384F-F3DD-F4650DA7E476}"/>
              </a:ext>
            </a:extLst>
          </p:cNvPr>
          <p:cNvSpPr txBox="1"/>
          <p:nvPr/>
        </p:nvSpPr>
        <p:spPr>
          <a:xfrm>
            <a:off x="1168058" y="3990154"/>
            <a:ext cx="294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zh-CN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4A9B5C4-BBEB-E5B7-17E0-194DE174B3FD}"/>
              </a:ext>
            </a:extLst>
          </p:cNvPr>
          <p:cNvSpPr txBox="1"/>
          <p:nvPr/>
        </p:nvSpPr>
        <p:spPr>
          <a:xfrm>
            <a:off x="7172007" y="3990154"/>
            <a:ext cx="294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zh-CN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688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904B6-3D15-B080-BA31-4508A31E4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32EEB5E-A741-6828-00F3-B8E43BDA3CC8}"/>
              </a:ext>
            </a:extLst>
          </p:cNvPr>
          <p:cNvSpPr txBox="1"/>
          <p:nvPr/>
        </p:nvSpPr>
        <p:spPr>
          <a:xfrm>
            <a:off x="723900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101</a:t>
            </a:r>
            <a:r>
              <a:rPr lang="zh-CN" altLang="zh-CN" sz="1400" dirty="0"/>
              <a:t>, Fig. 1.</a:t>
            </a:r>
            <a:endParaRPr lang="zh-CN" altLang="en-US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F46FFD-B781-0BEA-48D0-34671F896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63" y="2698362"/>
            <a:ext cx="11694910" cy="20317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D29BFA9-9650-A142-51C9-4C335E41564E}"/>
              </a:ext>
            </a:extLst>
          </p:cNvPr>
          <p:cNvSpPr txBox="1"/>
          <p:nvPr/>
        </p:nvSpPr>
        <p:spPr>
          <a:xfrm>
            <a:off x="1186469" y="803936"/>
            <a:ext cx="9819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&gt;8 orders of magnitude span in concentrations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(i.e. 100,000,000) in a bacterial cell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80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5C72E-86E1-9605-8F3C-47893971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8785E1D-3F10-D491-D64A-E7C0BA9F21B5}"/>
              </a:ext>
            </a:extLst>
          </p:cNvPr>
          <p:cNvSpPr txBox="1"/>
          <p:nvPr/>
        </p:nvSpPr>
        <p:spPr>
          <a:xfrm>
            <a:off x="1033108" y="290619"/>
            <a:ext cx="9819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ratio of protein to mRNA?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F728231-BA80-A73A-B5E7-0C3D1740A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340" y="1263539"/>
            <a:ext cx="5052599" cy="509906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B37783E-5878-BCA4-83F0-1526251F0D4C}"/>
              </a:ext>
            </a:extLst>
          </p:cNvPr>
          <p:cNvSpPr txBox="1"/>
          <p:nvPr/>
        </p:nvSpPr>
        <p:spPr>
          <a:xfrm>
            <a:off x="723900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165</a:t>
            </a:r>
            <a:r>
              <a:rPr lang="zh-CN" altLang="zh-CN" sz="1400" dirty="0"/>
              <a:t>, Fig. 1.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2E1509-7F4C-4BCC-8D02-3445F8951309}"/>
              </a:ext>
            </a:extLst>
          </p:cNvPr>
          <p:cNvSpPr/>
          <p:nvPr/>
        </p:nvSpPr>
        <p:spPr>
          <a:xfrm>
            <a:off x="5681758" y="1263539"/>
            <a:ext cx="613691" cy="3068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F80EDFF-F6B8-9D57-1F46-B52764C10F96}"/>
              </a:ext>
            </a:extLst>
          </p:cNvPr>
          <p:cNvSpPr txBox="1"/>
          <p:nvPr/>
        </p:nvSpPr>
        <p:spPr>
          <a:xfrm>
            <a:off x="5988603" y="1124574"/>
            <a:ext cx="459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zh-CN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409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D97C3-B304-7DA7-E387-21E632155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0CA1C2-F8E2-F5BF-3BDC-AF4407881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185" y="1490948"/>
            <a:ext cx="8781524" cy="459890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827C95A-88E7-7EA5-C926-971C7BDC060A}"/>
              </a:ext>
            </a:extLst>
          </p:cNvPr>
          <p:cNvSpPr txBox="1"/>
          <p:nvPr/>
        </p:nvSpPr>
        <p:spPr>
          <a:xfrm>
            <a:off x="723900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165</a:t>
            </a:r>
            <a:r>
              <a:rPr lang="zh-CN" altLang="zh-CN" sz="1400" dirty="0"/>
              <a:t>, Fig. 1.</a:t>
            </a:r>
            <a:endParaRPr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A8B7B4-5277-169C-93AF-5FDD518BB115}"/>
              </a:ext>
            </a:extLst>
          </p:cNvPr>
          <p:cNvSpPr txBox="1"/>
          <p:nvPr/>
        </p:nvSpPr>
        <p:spPr>
          <a:xfrm>
            <a:off x="1033108" y="290619"/>
            <a:ext cx="9819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~1:1000 for yeast (here), bacteria and mammalian cells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717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2D092-ABB7-5946-02C7-161A6F471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33AE2C1-AD55-DD81-E6C5-CF3F92FB54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08"/>
          <a:stretch>
            <a:fillRect/>
          </a:stretch>
        </p:blipFill>
        <p:spPr>
          <a:xfrm>
            <a:off x="2645749" y="1063430"/>
            <a:ext cx="6900501" cy="540740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8FB2BC9-4B7B-A1AF-FD2D-8F9D2892701E}"/>
              </a:ext>
            </a:extLst>
          </p:cNvPr>
          <p:cNvSpPr txBox="1"/>
          <p:nvPr/>
        </p:nvSpPr>
        <p:spPr>
          <a:xfrm>
            <a:off x="1097568" y="333721"/>
            <a:ext cx="9819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Cells are electroneutral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FBEE0B-43F5-123F-386F-1A8D9A912712}"/>
              </a:ext>
            </a:extLst>
          </p:cNvPr>
          <p:cNvSpPr txBox="1"/>
          <p:nvPr/>
        </p:nvSpPr>
        <p:spPr>
          <a:xfrm>
            <a:off x="723900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130</a:t>
            </a:r>
            <a:r>
              <a:rPr lang="zh-CN" altLang="zh-CN" sz="1400" dirty="0"/>
              <a:t>, Fig. 1.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72027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E79C-E562-EC25-EAA2-B46FD443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F86FB5-C890-FFFB-2FD0-76F79F73E6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599"/>
          <a:stretch>
            <a:fillRect/>
          </a:stretch>
        </p:blipFill>
        <p:spPr>
          <a:xfrm>
            <a:off x="2103798" y="5817330"/>
            <a:ext cx="8135096" cy="76482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0BA74C1-C9EE-1F9D-BE80-0A67AB996C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08"/>
          <a:stretch>
            <a:fillRect/>
          </a:stretch>
        </p:blipFill>
        <p:spPr>
          <a:xfrm>
            <a:off x="2850138" y="838200"/>
            <a:ext cx="6491723" cy="508708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0970DA5-3F38-9E2B-92FC-7989F45263CE}"/>
              </a:ext>
            </a:extLst>
          </p:cNvPr>
          <p:cNvSpPr txBox="1"/>
          <p:nvPr/>
        </p:nvSpPr>
        <p:spPr>
          <a:xfrm>
            <a:off x="723900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130</a:t>
            </a:r>
            <a:r>
              <a:rPr lang="zh-CN" altLang="zh-CN" sz="1400" dirty="0"/>
              <a:t>, Fig. 1.</a:t>
            </a:r>
            <a:endParaRPr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797DB7-95D7-9E20-47A2-0CF41A42BA9E}"/>
              </a:ext>
            </a:extLst>
          </p:cNvPr>
          <p:cNvSpPr/>
          <p:nvPr/>
        </p:nvSpPr>
        <p:spPr>
          <a:xfrm>
            <a:off x="3835400" y="5817330"/>
            <a:ext cx="463550" cy="3929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AA5373-EB85-6E9D-CAF0-5C8634EE62A9}"/>
              </a:ext>
            </a:extLst>
          </p:cNvPr>
          <p:cNvSpPr/>
          <p:nvPr/>
        </p:nvSpPr>
        <p:spPr>
          <a:xfrm>
            <a:off x="4668091" y="5844874"/>
            <a:ext cx="463550" cy="3929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76DF80-AFFC-FF09-A353-F789BC60DCE4}"/>
              </a:ext>
            </a:extLst>
          </p:cNvPr>
          <p:cNvSpPr/>
          <p:nvPr/>
        </p:nvSpPr>
        <p:spPr>
          <a:xfrm>
            <a:off x="6399693" y="5866716"/>
            <a:ext cx="463550" cy="3929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3D9B70-EABA-2758-0B79-F9920BC72A9A}"/>
              </a:ext>
            </a:extLst>
          </p:cNvPr>
          <p:cNvSpPr txBox="1"/>
          <p:nvPr/>
        </p:nvSpPr>
        <p:spPr>
          <a:xfrm>
            <a:off x="3921075" y="5721427"/>
            <a:ext cx="459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zh-CN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E630A3F-6028-97B9-D61D-6EB3DC44C30E}"/>
              </a:ext>
            </a:extLst>
          </p:cNvPr>
          <p:cNvSpPr txBox="1"/>
          <p:nvPr/>
        </p:nvSpPr>
        <p:spPr>
          <a:xfrm>
            <a:off x="4703352" y="5721426"/>
            <a:ext cx="459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zh-CN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933D57F-ECAD-159C-80B2-DEF05706130B}"/>
              </a:ext>
            </a:extLst>
          </p:cNvPr>
          <p:cNvSpPr txBox="1"/>
          <p:nvPr/>
        </p:nvSpPr>
        <p:spPr>
          <a:xfrm>
            <a:off x="6403995" y="5721425"/>
            <a:ext cx="459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zh-CN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7AA4E23-67EA-B7B7-2F97-988FB3FAFF77}"/>
              </a:ext>
            </a:extLst>
          </p:cNvPr>
          <p:cNvSpPr txBox="1"/>
          <p:nvPr/>
        </p:nvSpPr>
        <p:spPr>
          <a:xfrm>
            <a:off x="2037548" y="2247900"/>
            <a:ext cx="8788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altLang="zh-CN" sz="24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</a:p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US" altLang="zh-CN" sz="24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</a:p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</a:t>
            </a:r>
            <a:r>
              <a:rPr lang="en-US" altLang="zh-CN" sz="24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141AA7-34F1-463F-8559-33602C80B5AA}"/>
              </a:ext>
            </a:extLst>
          </p:cNvPr>
          <p:cNvSpPr txBox="1"/>
          <p:nvPr/>
        </p:nvSpPr>
        <p:spPr>
          <a:xfrm>
            <a:off x="1186468" y="228632"/>
            <a:ext cx="9819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Ionic composition of cells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424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68D6D-A3DF-8674-1A6E-800E92A2A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C476A48-22C2-849E-1D16-F39B694368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599"/>
          <a:stretch>
            <a:fillRect/>
          </a:stretch>
        </p:blipFill>
        <p:spPr>
          <a:xfrm>
            <a:off x="2103798" y="5817330"/>
            <a:ext cx="8135096" cy="76482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4CA7FA-09F9-688C-5467-BC03012679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08"/>
          <a:stretch>
            <a:fillRect/>
          </a:stretch>
        </p:blipFill>
        <p:spPr>
          <a:xfrm>
            <a:off x="2850138" y="838200"/>
            <a:ext cx="6491723" cy="508708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CBC1B5E-9FF9-B4F6-161E-51E1CBDB55F5}"/>
              </a:ext>
            </a:extLst>
          </p:cNvPr>
          <p:cNvSpPr txBox="1"/>
          <p:nvPr/>
        </p:nvSpPr>
        <p:spPr>
          <a:xfrm>
            <a:off x="723900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130</a:t>
            </a:r>
            <a:r>
              <a:rPr lang="zh-CN" altLang="zh-CN" sz="1400" dirty="0"/>
              <a:t>, Fig. 1.</a:t>
            </a:r>
            <a:endParaRPr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F939A5-6410-78B2-7FF0-9BE6F89170DF}"/>
              </a:ext>
            </a:extLst>
          </p:cNvPr>
          <p:cNvSpPr/>
          <p:nvPr/>
        </p:nvSpPr>
        <p:spPr>
          <a:xfrm>
            <a:off x="4668091" y="5844874"/>
            <a:ext cx="463550" cy="3929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4C73071-7DDD-C96D-18B4-85EDA91761AC}"/>
              </a:ext>
            </a:extLst>
          </p:cNvPr>
          <p:cNvSpPr txBox="1"/>
          <p:nvPr/>
        </p:nvSpPr>
        <p:spPr>
          <a:xfrm>
            <a:off x="1338868" y="296990"/>
            <a:ext cx="9819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Ionic composition of cells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331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3B200-28D1-7F6E-707D-9A654C547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7EBB5FA-A0CF-8F4E-1E96-112998AAB624}"/>
              </a:ext>
            </a:extLst>
          </p:cNvPr>
          <p:cNvSpPr txBox="1"/>
          <p:nvPr/>
        </p:nvSpPr>
        <p:spPr>
          <a:xfrm>
            <a:off x="7168348" y="1657350"/>
            <a:ext cx="3302802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DNA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mRNA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tRNA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rRNA 23s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rRNA 16s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rRNA 5s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Protein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Lipids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Metabolites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Peptidoglycan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Lipopolysaccharide</a:t>
            </a:r>
            <a:endParaRPr lang="en-US" altLang="zh-C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Polyamines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Glycogen</a:t>
            </a:r>
          </a:p>
          <a:p>
            <a:endParaRPr lang="en-US" altLang="zh-C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2400" b="1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797CD4-8510-12E8-CF3C-504B3E9ED7BB}"/>
              </a:ext>
            </a:extLst>
          </p:cNvPr>
          <p:cNvSpPr txBox="1"/>
          <p:nvPr/>
        </p:nvSpPr>
        <p:spPr>
          <a:xfrm>
            <a:off x="767860" y="150940"/>
            <a:ext cx="10707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cell resources are invested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(biomass, nutrients, production machinery, cell volume)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8CC9E5-F07C-8106-1714-B497EAAD4E6B}"/>
              </a:ext>
            </a:extLst>
          </p:cNvPr>
          <p:cNvSpPr txBox="1"/>
          <p:nvPr/>
        </p:nvSpPr>
        <p:spPr>
          <a:xfrm>
            <a:off x="9594850" y="6550223"/>
            <a:ext cx="264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</a:t>
            </a:r>
            <a:r>
              <a:rPr lang="en-US" altLang="zh-CN" sz="1400" dirty="0"/>
              <a:t>: Neidhardt et al, 1999</a:t>
            </a:r>
            <a:r>
              <a:rPr lang="zh-CN" altLang="zh-CN" sz="1400" dirty="0"/>
              <a:t>.</a:t>
            </a:r>
            <a:endParaRPr lang="zh-CN" altLang="en-US" sz="1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95EC1A9-7B4A-526C-A88C-0E7E7C038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1657350"/>
            <a:ext cx="4993356" cy="496345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0AB2A67-B00D-7BF5-BBF4-480BCA4039D8}"/>
              </a:ext>
            </a:extLst>
          </p:cNvPr>
          <p:cNvSpPr/>
          <p:nvPr/>
        </p:nvSpPr>
        <p:spPr>
          <a:xfrm>
            <a:off x="2330450" y="4565650"/>
            <a:ext cx="2997200" cy="977900"/>
          </a:xfrm>
          <a:prstGeom prst="rect">
            <a:avLst/>
          </a:prstGeom>
          <a:solidFill>
            <a:srgbClr val="D96C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D1AC5C-6DA4-085A-9DC1-F04773D2BEF9}"/>
              </a:ext>
            </a:extLst>
          </p:cNvPr>
          <p:cNvSpPr/>
          <p:nvPr/>
        </p:nvSpPr>
        <p:spPr>
          <a:xfrm>
            <a:off x="5454650" y="4793069"/>
            <a:ext cx="927100" cy="419100"/>
          </a:xfrm>
          <a:prstGeom prst="rect">
            <a:avLst/>
          </a:prstGeom>
          <a:solidFill>
            <a:srgbClr val="D96C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7B330CE-7913-DAE0-EE0B-693832181AAC}"/>
              </a:ext>
            </a:extLst>
          </p:cNvPr>
          <p:cNvSpPr/>
          <p:nvPr/>
        </p:nvSpPr>
        <p:spPr>
          <a:xfrm>
            <a:off x="5327650" y="5777319"/>
            <a:ext cx="927100" cy="419100"/>
          </a:xfrm>
          <a:prstGeom prst="rect">
            <a:avLst/>
          </a:prstGeom>
          <a:solidFill>
            <a:srgbClr val="D96C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A73C22-7E75-0270-DB81-7CFE87ABB3FE}"/>
              </a:ext>
            </a:extLst>
          </p:cNvPr>
          <p:cNvSpPr/>
          <p:nvPr/>
        </p:nvSpPr>
        <p:spPr>
          <a:xfrm>
            <a:off x="2127250" y="3741196"/>
            <a:ext cx="927100" cy="419100"/>
          </a:xfrm>
          <a:prstGeom prst="rect">
            <a:avLst/>
          </a:prstGeom>
          <a:solidFill>
            <a:srgbClr val="D96C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FC33517-601A-8C1C-C0B9-E0F6E3EDE2BC}"/>
              </a:ext>
            </a:extLst>
          </p:cNvPr>
          <p:cNvSpPr/>
          <p:nvPr/>
        </p:nvSpPr>
        <p:spPr>
          <a:xfrm>
            <a:off x="2324098" y="2663940"/>
            <a:ext cx="1485901" cy="419100"/>
          </a:xfrm>
          <a:prstGeom prst="rect">
            <a:avLst/>
          </a:prstGeom>
          <a:solidFill>
            <a:srgbClr val="6C92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B2E363B-1524-5D2B-6A46-F6C89BCFAE88}"/>
              </a:ext>
            </a:extLst>
          </p:cNvPr>
          <p:cNvSpPr/>
          <p:nvPr/>
        </p:nvSpPr>
        <p:spPr>
          <a:xfrm>
            <a:off x="2127250" y="1803534"/>
            <a:ext cx="723900" cy="289040"/>
          </a:xfrm>
          <a:prstGeom prst="rect">
            <a:avLst/>
          </a:prstGeom>
          <a:solidFill>
            <a:srgbClr val="3159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4E67149-6DCE-CC83-5410-CFF703A12357}"/>
              </a:ext>
            </a:extLst>
          </p:cNvPr>
          <p:cNvSpPr/>
          <p:nvPr/>
        </p:nvSpPr>
        <p:spPr>
          <a:xfrm>
            <a:off x="3809999" y="2092574"/>
            <a:ext cx="723900" cy="289040"/>
          </a:xfrm>
          <a:prstGeom prst="rect">
            <a:avLst/>
          </a:prstGeom>
          <a:solidFill>
            <a:srgbClr val="6A9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6253A54-2B45-2A8B-A68D-444E2FF8136C}"/>
              </a:ext>
            </a:extLst>
          </p:cNvPr>
          <p:cNvSpPr/>
          <p:nvPr/>
        </p:nvSpPr>
        <p:spPr>
          <a:xfrm>
            <a:off x="3930650" y="2398655"/>
            <a:ext cx="387349" cy="289040"/>
          </a:xfrm>
          <a:prstGeom prst="rect">
            <a:avLst/>
          </a:prstGeom>
          <a:solidFill>
            <a:srgbClr val="6A9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20D3166-5079-A2EA-4DD4-B41C9E62C1BF}"/>
              </a:ext>
            </a:extLst>
          </p:cNvPr>
          <p:cNvSpPr/>
          <p:nvPr/>
        </p:nvSpPr>
        <p:spPr>
          <a:xfrm>
            <a:off x="4619625" y="2600440"/>
            <a:ext cx="600075" cy="289040"/>
          </a:xfrm>
          <a:prstGeom prst="rect">
            <a:avLst/>
          </a:prstGeom>
          <a:solidFill>
            <a:srgbClr val="6A89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70B42D6-2974-7C9F-5F1D-70B45E3EE6E0}"/>
              </a:ext>
            </a:extLst>
          </p:cNvPr>
          <p:cNvSpPr/>
          <p:nvPr/>
        </p:nvSpPr>
        <p:spPr>
          <a:xfrm>
            <a:off x="5781675" y="3352912"/>
            <a:ext cx="927100" cy="476138"/>
          </a:xfrm>
          <a:prstGeom prst="rect">
            <a:avLst/>
          </a:prstGeom>
          <a:solidFill>
            <a:srgbClr val="E2B0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59AB362-07FA-001A-A42B-0C04F67D2CD5}"/>
              </a:ext>
            </a:extLst>
          </p:cNvPr>
          <p:cNvSpPr/>
          <p:nvPr/>
        </p:nvSpPr>
        <p:spPr>
          <a:xfrm>
            <a:off x="5318125" y="2583035"/>
            <a:ext cx="711201" cy="345490"/>
          </a:xfrm>
          <a:prstGeom prst="rect">
            <a:avLst/>
          </a:prstGeom>
          <a:solidFill>
            <a:srgbClr val="E3A6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0704906-F1C9-59EF-04D2-95746575CCF5}"/>
              </a:ext>
            </a:extLst>
          </p:cNvPr>
          <p:cNvSpPr/>
          <p:nvPr/>
        </p:nvSpPr>
        <p:spPr>
          <a:xfrm>
            <a:off x="5861050" y="2225910"/>
            <a:ext cx="971550" cy="162983"/>
          </a:xfrm>
          <a:prstGeom prst="rect">
            <a:avLst/>
          </a:prstGeom>
          <a:solidFill>
            <a:srgbClr val="BD64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97857FC-DEAF-853A-EB7F-C691A6C33C17}"/>
              </a:ext>
            </a:extLst>
          </p:cNvPr>
          <p:cNvSpPr/>
          <p:nvPr/>
        </p:nvSpPr>
        <p:spPr>
          <a:xfrm>
            <a:off x="5057776" y="1808405"/>
            <a:ext cx="1101724" cy="223363"/>
          </a:xfrm>
          <a:prstGeom prst="rect">
            <a:avLst/>
          </a:prstGeom>
          <a:solidFill>
            <a:srgbClr val="A2B8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1213634-7BC7-5332-BA3B-0450EABFB8BA}"/>
              </a:ext>
            </a:extLst>
          </p:cNvPr>
          <p:cNvSpPr/>
          <p:nvPr/>
        </p:nvSpPr>
        <p:spPr>
          <a:xfrm>
            <a:off x="4533899" y="1876757"/>
            <a:ext cx="412751" cy="168092"/>
          </a:xfrm>
          <a:prstGeom prst="rect">
            <a:avLst/>
          </a:prstGeom>
          <a:solidFill>
            <a:srgbClr val="678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018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3A2B7-A2DF-3327-41A6-CD9C1987F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3827875-3C06-FDF8-3F5E-55F121A0CFFF}"/>
              </a:ext>
            </a:extLst>
          </p:cNvPr>
          <p:cNvSpPr txBox="1"/>
          <p:nvPr/>
        </p:nvSpPr>
        <p:spPr>
          <a:xfrm>
            <a:off x="767860" y="150940"/>
            <a:ext cx="10707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cell resources are invested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(biomass, nutrients, production machinery, cell volume)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852985-3338-8F3E-5A3E-9A4A87D90F4F}"/>
              </a:ext>
            </a:extLst>
          </p:cNvPr>
          <p:cNvSpPr txBox="1"/>
          <p:nvPr/>
        </p:nvSpPr>
        <p:spPr>
          <a:xfrm>
            <a:off x="9594850" y="6550223"/>
            <a:ext cx="264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</a:t>
            </a:r>
            <a:r>
              <a:rPr lang="en-US" altLang="zh-CN" sz="1400" dirty="0"/>
              <a:t>: Neidhardt et al, 1999</a:t>
            </a:r>
            <a:r>
              <a:rPr lang="zh-CN" altLang="zh-CN" sz="1400" dirty="0"/>
              <a:t>.</a:t>
            </a:r>
            <a:endParaRPr lang="zh-CN" altLang="en-US" sz="1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C32F50A-4422-A5A9-D6FA-E763A99FE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450" y="1351269"/>
            <a:ext cx="5474732" cy="544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674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C681F-E53B-8CB1-FBAF-18DD3DF7C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8EB1E29-44D5-7FC3-828F-77AA6E0B7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899" y="1142542"/>
            <a:ext cx="6864350" cy="525379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D6B9E1F-2B82-D738-29F1-3EE802655D96}"/>
              </a:ext>
            </a:extLst>
          </p:cNvPr>
          <p:cNvSpPr txBox="1"/>
          <p:nvPr/>
        </p:nvSpPr>
        <p:spPr>
          <a:xfrm>
            <a:off x="624985" y="162577"/>
            <a:ext cx="10707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bacterial cell metabolome is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dominated by a few components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648B2F-7E28-15A6-95D1-4CB3601D7D2B}"/>
              </a:ext>
            </a:extLst>
          </p:cNvPr>
          <p:cNvSpPr txBox="1"/>
          <p:nvPr/>
        </p:nvSpPr>
        <p:spPr>
          <a:xfrm>
            <a:off x="3295650" y="6396335"/>
            <a:ext cx="9036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/>
              <a:t>Bennett, B., Kimball, E., Gao, M. </a:t>
            </a:r>
            <a:r>
              <a:rPr lang="zh-CN" altLang="zh-CN" sz="1200" i="1" dirty="0"/>
              <a:t>et al.</a:t>
            </a:r>
            <a:r>
              <a:rPr lang="zh-CN" altLang="zh-CN" sz="1200" dirty="0"/>
              <a:t> Absolute metabolite concentrations and implied enzyme active site occupancy in </a:t>
            </a:r>
            <a:r>
              <a:rPr lang="zh-CN" altLang="zh-CN" sz="1200" i="1" dirty="0"/>
              <a:t>Escherichia coli</a:t>
            </a:r>
            <a:r>
              <a:rPr lang="zh-CN" altLang="zh-CN" sz="1200" dirty="0"/>
              <a:t>. </a:t>
            </a:r>
            <a:endParaRPr lang="en-US" altLang="zh-CN" sz="1200" dirty="0"/>
          </a:p>
          <a:p>
            <a:r>
              <a:rPr lang="zh-CN" altLang="zh-CN" sz="1200" i="1" dirty="0"/>
              <a:t>Nat Chem Biol</a:t>
            </a:r>
            <a:r>
              <a:rPr lang="zh-CN" altLang="zh-CN" sz="1200" dirty="0"/>
              <a:t> </a:t>
            </a:r>
            <a:r>
              <a:rPr lang="zh-CN" altLang="zh-CN" sz="1200" b="1" dirty="0"/>
              <a:t>5</a:t>
            </a:r>
            <a:r>
              <a:rPr lang="zh-CN" altLang="zh-CN" sz="1200" dirty="0"/>
              <a:t>, 593–599 (2009). https://doi.org/10.1038/nchembio.186</a:t>
            </a:r>
            <a:endParaRPr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316553-8E91-2673-903C-5C29EE71B7FB}"/>
              </a:ext>
            </a:extLst>
          </p:cNvPr>
          <p:cNvSpPr txBox="1"/>
          <p:nvPr/>
        </p:nvSpPr>
        <p:spPr>
          <a:xfrm>
            <a:off x="7893051" y="2342871"/>
            <a:ext cx="359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Sum of concentrations </a:t>
            </a:r>
            <a:r>
              <a:rPr lang="zh-CN" altLang="en-US" dirty="0"/>
              <a:t>≈</a:t>
            </a:r>
            <a:r>
              <a:rPr lang="en-US" altLang="zh-CN" dirty="0"/>
              <a:t> 200 mM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5144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EBD84-4264-7356-977F-868BDF025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1315AE4-0CF6-1FA2-1C60-B58211AF13AD}"/>
              </a:ext>
            </a:extLst>
          </p:cNvPr>
          <p:cNvSpPr txBox="1"/>
          <p:nvPr/>
        </p:nvSpPr>
        <p:spPr>
          <a:xfrm>
            <a:off x="723900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144</a:t>
            </a:r>
            <a:r>
              <a:rPr lang="zh-CN" altLang="zh-CN" sz="1400" dirty="0"/>
              <a:t>, Fig. 1.</a:t>
            </a:r>
            <a:endParaRPr lang="zh-CN" altLang="en-US" sz="1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264E9FA-64AB-D2DA-A31C-BECED439C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450" y="739696"/>
            <a:ext cx="8909577" cy="575972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CA2D75C-B2C9-447A-4453-EE87FEEE7210}"/>
              </a:ext>
            </a:extLst>
          </p:cNvPr>
          <p:cNvSpPr txBox="1"/>
          <p:nvPr/>
        </p:nvSpPr>
        <p:spPr>
          <a:xfrm>
            <a:off x="742460" y="154921"/>
            <a:ext cx="107070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Calibri" panose="020F0502020204030204" pitchFamily="34" charset="0"/>
                <a:cs typeface="Calibri" panose="020F0502020204030204" pitchFamily="34" charset="0"/>
              </a:rPr>
              <a:t>Estimating the number of protein per cell volume</a:t>
            </a:r>
            <a:endParaRPr lang="zh-CN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6605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596D1-0E38-AD54-A524-8FE322BBC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4BE4241-420C-7A56-5076-0FF5D41E174A}"/>
              </a:ext>
            </a:extLst>
          </p:cNvPr>
          <p:cNvSpPr txBox="1"/>
          <p:nvPr/>
        </p:nvSpPr>
        <p:spPr>
          <a:xfrm>
            <a:off x="685310" y="1577321"/>
            <a:ext cx="107070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cs typeface="Calibri" panose="020F0502020204030204" pitchFamily="34" charset="0"/>
              </a:rPr>
              <a:t>What are the functions that require the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cs typeface="Calibri" panose="020F0502020204030204" pitchFamily="34" charset="0"/>
              </a:rPr>
              <a:t>most protein investment in a cell?</a:t>
            </a:r>
          </a:p>
          <a:p>
            <a:pPr algn="ctr"/>
            <a:endParaRPr lang="en-US" altLang="zh-CN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altLang="zh-CN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cs typeface="Calibri" panose="020F0502020204030204" pitchFamily="34" charset="0"/>
              </a:rPr>
              <a:t>What are the “top 10” most highly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cs typeface="Calibri" panose="020F0502020204030204" pitchFamily="34" charset="0"/>
              </a:rPr>
              <a:t>expressed proteins?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1935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B3381-C9E5-0FDA-F509-BDCDFA22D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0474BFE-ECDE-762B-5A45-CDD5CE6AFEB2}"/>
              </a:ext>
            </a:extLst>
          </p:cNvPr>
          <p:cNvSpPr txBox="1"/>
          <p:nvPr/>
        </p:nvSpPr>
        <p:spPr>
          <a:xfrm>
            <a:off x="613350" y="190859"/>
            <a:ext cx="10707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Proteomaps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 quantitative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at the functional level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4E9807-80CD-ABB9-A126-3813340A6319}"/>
              </a:ext>
            </a:extLst>
          </p:cNvPr>
          <p:cNvSpPr txBox="1"/>
          <p:nvPr/>
        </p:nvSpPr>
        <p:spPr>
          <a:xfrm>
            <a:off x="1746691" y="2711450"/>
            <a:ext cx="35568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Metabolism</a:t>
            </a:r>
            <a:endParaRPr lang="en-US" altLang="zh-CN" sz="2400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Signaling</a:t>
            </a:r>
            <a:endParaRPr lang="en-US" altLang="zh-CN" sz="2400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Genetic information 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processing</a:t>
            </a:r>
            <a:endParaRPr lang="en-US" altLang="zh-CN" sz="2400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C229750-983A-1CDF-8EBD-8A981221C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493" y="1471278"/>
            <a:ext cx="5116857" cy="498032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422B880-F919-F3D4-1608-906136E436DE}"/>
              </a:ext>
            </a:extLst>
          </p:cNvPr>
          <p:cNvSpPr txBox="1"/>
          <p:nvPr/>
        </p:nvSpPr>
        <p:spPr>
          <a:xfrm>
            <a:off x="5727700" y="6334516"/>
            <a:ext cx="4416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 Cerevisiae proteome in rich medium 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DED070-5BE6-CF1F-4823-71CAF89AFA7A}"/>
              </a:ext>
            </a:extLst>
          </p:cNvPr>
          <p:cNvSpPr txBox="1"/>
          <p:nvPr/>
        </p:nvSpPr>
        <p:spPr>
          <a:xfrm>
            <a:off x="9837471" y="6580737"/>
            <a:ext cx="2620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W. Liebermeister </a:t>
            </a:r>
            <a:r>
              <a:rPr lang="en-US" altLang="zh-CN" sz="1400" dirty="0"/>
              <a:t>et al.</a:t>
            </a:r>
            <a:r>
              <a:rPr lang="zh-CN" altLang="en-US" sz="1400" dirty="0"/>
              <a:t>, 2014.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0F4797-A787-9B88-D34B-EF051C3DB77B}"/>
              </a:ext>
            </a:extLst>
          </p:cNvPr>
          <p:cNvSpPr/>
          <p:nvPr/>
        </p:nvSpPr>
        <p:spPr>
          <a:xfrm>
            <a:off x="5727700" y="2098824"/>
            <a:ext cx="3344618" cy="1571050"/>
          </a:xfrm>
          <a:prstGeom prst="rect">
            <a:avLst/>
          </a:prstGeom>
          <a:solidFill>
            <a:srgbClr val="547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10958B7-7431-2E93-A94A-530D46AD2ABD}"/>
              </a:ext>
            </a:extLst>
          </p:cNvPr>
          <p:cNvSpPr/>
          <p:nvPr/>
        </p:nvSpPr>
        <p:spPr>
          <a:xfrm>
            <a:off x="5618344" y="4627232"/>
            <a:ext cx="3955240" cy="1293866"/>
          </a:xfrm>
          <a:prstGeom prst="rect">
            <a:avLst/>
          </a:prstGeom>
          <a:solidFill>
            <a:srgbClr val="FFB5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D40E5F-E0BD-48D0-00D7-C9C2177E6A8D}"/>
              </a:ext>
            </a:extLst>
          </p:cNvPr>
          <p:cNvSpPr txBox="1"/>
          <p:nvPr/>
        </p:nvSpPr>
        <p:spPr>
          <a:xfrm>
            <a:off x="7136716" y="2476548"/>
            <a:ext cx="4592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zh-CN" altLang="en-US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D129D98-D025-9BA0-62DA-BF38E902F8E2}"/>
              </a:ext>
            </a:extLst>
          </p:cNvPr>
          <p:cNvSpPr txBox="1"/>
          <p:nvPr/>
        </p:nvSpPr>
        <p:spPr>
          <a:xfrm>
            <a:off x="7170385" y="4743206"/>
            <a:ext cx="4592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zh-CN" altLang="en-US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14F485B-B7E3-A7D7-A81E-C6000E9FDD32}"/>
              </a:ext>
            </a:extLst>
          </p:cNvPr>
          <p:cNvSpPr txBox="1"/>
          <p:nvPr/>
        </p:nvSpPr>
        <p:spPr>
          <a:xfrm>
            <a:off x="10275953" y="4465776"/>
            <a:ext cx="4592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zh-CN" altLang="en-US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0248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B7472-4665-BB4C-E6B8-024E671C5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7E2CC4F-1F3B-47F9-0965-8A3B8C540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148" y="1416046"/>
            <a:ext cx="5116857" cy="498032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D4A1D53-92E7-5E0C-774C-96C4B3657A66}"/>
              </a:ext>
            </a:extLst>
          </p:cNvPr>
          <p:cNvSpPr txBox="1"/>
          <p:nvPr/>
        </p:nvSpPr>
        <p:spPr>
          <a:xfrm>
            <a:off x="9837471" y="6580737"/>
            <a:ext cx="2620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W. Liebermeister </a:t>
            </a:r>
            <a:r>
              <a:rPr lang="en-US" altLang="zh-CN" sz="1400" dirty="0"/>
              <a:t>et al.</a:t>
            </a:r>
            <a:r>
              <a:rPr lang="zh-CN" altLang="en-US" sz="1400" dirty="0"/>
              <a:t>, 2014.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687C50-33C0-7F30-96EC-CA7D03A877C8}"/>
              </a:ext>
            </a:extLst>
          </p:cNvPr>
          <p:cNvSpPr txBox="1"/>
          <p:nvPr/>
        </p:nvSpPr>
        <p:spPr>
          <a:xfrm>
            <a:off x="5801343" y="6288497"/>
            <a:ext cx="4416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 Cerevisiae proteome in rich medium 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1E77C6-5A4F-BD6D-FA4E-54845451CFA3}"/>
              </a:ext>
            </a:extLst>
          </p:cNvPr>
          <p:cNvSpPr txBox="1"/>
          <p:nvPr/>
        </p:nvSpPr>
        <p:spPr>
          <a:xfrm>
            <a:off x="613350" y="190859"/>
            <a:ext cx="10707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Proteomaps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 quantitative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at the functional level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CF228B9-12E1-14C7-BC61-CC983F9505D8}"/>
              </a:ext>
            </a:extLst>
          </p:cNvPr>
          <p:cNvSpPr txBox="1"/>
          <p:nvPr/>
        </p:nvSpPr>
        <p:spPr>
          <a:xfrm>
            <a:off x="951221" y="1529308"/>
            <a:ext cx="4137480" cy="3642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Metabolism and the 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 dogma 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dominate the 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investment in single-cell organisms</a:t>
            </a:r>
          </a:p>
          <a:p>
            <a:endParaRPr lang="en-US" altLang="zh-CN" sz="2800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Signaling (yellow-green) is a minor fraction</a:t>
            </a:r>
          </a:p>
          <a:p>
            <a:endParaRPr lang="en-US" altLang="zh-CN" sz="2400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9758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23F34-7412-1692-28C6-4884083A2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C95A6EC-79AA-464E-627E-E930CF1AD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250" y="1166793"/>
            <a:ext cx="5336486" cy="524164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E3D30A7-ECF2-DF96-58A6-3354E93C6D31}"/>
              </a:ext>
            </a:extLst>
          </p:cNvPr>
          <p:cNvSpPr txBox="1"/>
          <p:nvPr/>
        </p:nvSpPr>
        <p:spPr>
          <a:xfrm>
            <a:off x="5966889" y="6334515"/>
            <a:ext cx="4416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 Cerevisiae proteome in rich medium 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932D38-01DC-7BD4-C52B-07B13578E3CD}"/>
              </a:ext>
            </a:extLst>
          </p:cNvPr>
          <p:cNvSpPr txBox="1"/>
          <p:nvPr/>
        </p:nvSpPr>
        <p:spPr>
          <a:xfrm>
            <a:off x="9837471" y="6580737"/>
            <a:ext cx="2620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W. Liebermeister </a:t>
            </a:r>
            <a:r>
              <a:rPr lang="en-US" altLang="zh-CN" sz="1400" dirty="0"/>
              <a:t>et al.</a:t>
            </a:r>
            <a:r>
              <a:rPr lang="zh-CN" altLang="en-US" sz="1400" dirty="0"/>
              <a:t>, 2014.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058764-F5DD-3EE5-A8BA-1283CF4C7AFF}"/>
              </a:ext>
            </a:extLst>
          </p:cNvPr>
          <p:cNvSpPr txBox="1"/>
          <p:nvPr/>
        </p:nvSpPr>
        <p:spPr>
          <a:xfrm>
            <a:off x="509023" y="77209"/>
            <a:ext cx="10707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Proteomaps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 quantitative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at the functional level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C5F6DF4-D14F-C49D-0DC7-E4A78BF62826}"/>
              </a:ext>
            </a:extLst>
          </p:cNvPr>
          <p:cNvSpPr txBox="1"/>
          <p:nvPr/>
        </p:nvSpPr>
        <p:spPr>
          <a:xfrm>
            <a:off x="945214" y="1354299"/>
            <a:ext cx="4579678" cy="3272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Functional clustering 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color code</a:t>
            </a:r>
          </a:p>
          <a:p>
            <a:endParaRPr lang="en-US" altLang="zh-CN" sz="2800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Investment in central 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dogma is not 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homogenous: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Translation &gt;&gt; Transcription</a:t>
            </a: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Translation &gt;&gt; Replication</a:t>
            </a:r>
          </a:p>
        </p:txBody>
      </p:sp>
    </p:spTree>
    <p:extLst>
      <p:ext uri="{BB962C8B-B14F-4D97-AF65-F5344CB8AC3E}">
        <p14:creationId xmlns:p14="http://schemas.microsoft.com/office/powerpoint/2010/main" val="26029457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07E72-2163-558E-2945-62A68C650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042FB67-B97E-C7DD-134C-78F521D17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114" y="1254122"/>
            <a:ext cx="5137923" cy="513173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AA47C82-D38A-12D6-50D5-5434E88B1A05}"/>
              </a:ext>
            </a:extLst>
          </p:cNvPr>
          <p:cNvSpPr txBox="1"/>
          <p:nvPr/>
        </p:nvSpPr>
        <p:spPr>
          <a:xfrm>
            <a:off x="6096000" y="6281249"/>
            <a:ext cx="4416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 Cerevisiae proteome in rich medium 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A311E5-E3B9-AB2E-F813-5CE214EE20BB}"/>
              </a:ext>
            </a:extLst>
          </p:cNvPr>
          <p:cNvSpPr txBox="1"/>
          <p:nvPr/>
        </p:nvSpPr>
        <p:spPr>
          <a:xfrm>
            <a:off x="9837471" y="6580737"/>
            <a:ext cx="2620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W. Liebermeister </a:t>
            </a:r>
            <a:r>
              <a:rPr lang="en-US" altLang="zh-CN" sz="1400" dirty="0"/>
              <a:t>et al.</a:t>
            </a:r>
            <a:r>
              <a:rPr lang="zh-CN" altLang="en-US" sz="1400" dirty="0"/>
              <a:t>, 2014.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6BBFAF-BD45-3AEF-F3DD-D6EFFE8124AB}"/>
              </a:ext>
            </a:extLst>
          </p:cNvPr>
          <p:cNvSpPr txBox="1"/>
          <p:nvPr/>
        </p:nvSpPr>
        <p:spPr>
          <a:xfrm>
            <a:off x="440623" y="103167"/>
            <a:ext cx="10707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Proteomaps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 quantitative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at the functional level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5EA19D-89A5-C3F4-1D78-8C1BE4B410C7}"/>
              </a:ext>
            </a:extLst>
          </p:cNvPr>
          <p:cNvSpPr txBox="1"/>
          <p:nvPr/>
        </p:nvSpPr>
        <p:spPr>
          <a:xfrm>
            <a:off x="1303029" y="1372709"/>
            <a:ext cx="3442679" cy="3765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Functional clustering 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color code</a:t>
            </a:r>
          </a:p>
          <a:p>
            <a:endParaRPr lang="en-US" altLang="zh-CN" sz="2800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Glycolysis &gt;10% of 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proteome though 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 1% of genome</a:t>
            </a:r>
          </a:p>
          <a:p>
            <a:endParaRPr lang="en-US" altLang="zh-C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7788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20448-CC6F-045C-0034-03736848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9797D73-1B88-9A7C-1504-F35F1BF3B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024" y="1257330"/>
            <a:ext cx="5114931" cy="508849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C4BD8A7-38CF-330A-C567-B22F37C90CBA}"/>
              </a:ext>
            </a:extLst>
          </p:cNvPr>
          <p:cNvSpPr txBox="1"/>
          <p:nvPr/>
        </p:nvSpPr>
        <p:spPr>
          <a:xfrm>
            <a:off x="440623" y="103167"/>
            <a:ext cx="10707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Proteomaps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 quantitative </a:t>
            </a:r>
          </a:p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at the functional level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411E88-D264-DE6F-D3F2-CBBF03E73FF7}"/>
              </a:ext>
            </a:extLst>
          </p:cNvPr>
          <p:cNvSpPr txBox="1"/>
          <p:nvPr/>
        </p:nvSpPr>
        <p:spPr>
          <a:xfrm>
            <a:off x="6096000" y="6299660"/>
            <a:ext cx="4416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 Cerevisiae proteome in rich medium 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BFCA7F-DA4C-820E-3340-6D1DB47A2F98}"/>
              </a:ext>
            </a:extLst>
          </p:cNvPr>
          <p:cNvSpPr txBox="1"/>
          <p:nvPr/>
        </p:nvSpPr>
        <p:spPr>
          <a:xfrm>
            <a:off x="9837471" y="6580737"/>
            <a:ext cx="2620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W. Liebermeister </a:t>
            </a:r>
            <a:r>
              <a:rPr lang="en-US" altLang="zh-CN" sz="1400" dirty="0"/>
              <a:t>et al.</a:t>
            </a:r>
            <a:r>
              <a:rPr lang="zh-CN" altLang="en-US" sz="1400" dirty="0"/>
              <a:t>, 2014.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EEE4C7F-B86A-8C12-88F2-353FF494FDA0}"/>
              </a:ext>
            </a:extLst>
          </p:cNvPr>
          <p:cNvSpPr txBox="1"/>
          <p:nvPr/>
        </p:nvSpPr>
        <p:spPr>
          <a:xfrm>
            <a:off x="1501365" y="1361767"/>
            <a:ext cx="4088659" cy="4257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Most abundant proteins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easily recognized</a:t>
            </a:r>
          </a:p>
          <a:p>
            <a:endParaRPr lang="en-US" altLang="zh-CN" sz="2800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Our brain are good at extracting information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images</a:t>
            </a:r>
          </a:p>
          <a:p>
            <a:endParaRPr lang="en-US" altLang="zh-C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Our intuition &amp; memory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Gains from images (rather 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 only tables etc.)</a:t>
            </a:r>
          </a:p>
        </p:txBody>
      </p:sp>
    </p:spTree>
    <p:extLst>
      <p:ext uri="{BB962C8B-B14F-4D97-AF65-F5344CB8AC3E}">
        <p14:creationId xmlns:p14="http://schemas.microsoft.com/office/powerpoint/2010/main" val="19144407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49C43-4087-C2C2-E0C7-49CC3796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EB94C45-1DF9-7BC4-B3D7-7C070FA7EA16}"/>
              </a:ext>
            </a:extLst>
          </p:cNvPr>
          <p:cNvSpPr txBox="1"/>
          <p:nvPr/>
        </p:nvSpPr>
        <p:spPr>
          <a:xfrm>
            <a:off x="1479807" y="1476618"/>
            <a:ext cx="46407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Proteomaps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created </a:t>
            </a:r>
          </a:p>
          <a:p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consecutively refined </a:t>
            </a:r>
          </a:p>
          <a:p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Voronoi diagrams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E4A293-CC99-A365-EBB0-54EAE5A8F34A}"/>
              </a:ext>
            </a:extLst>
          </p:cNvPr>
          <p:cNvSpPr txBox="1"/>
          <p:nvPr/>
        </p:nvSpPr>
        <p:spPr>
          <a:xfrm>
            <a:off x="1435521" y="4159292"/>
            <a:ext cx="50752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Bernhardt J, Funke S, Hecker M, Siebourg J (2009) in Sixth International Symposium on Voronoi Diagrams, pp. 233-241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E06AF15-3FDF-945E-0528-DC9E59019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747" y="1528089"/>
            <a:ext cx="3922006" cy="370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945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DF83A-20BE-8530-5245-28FAAC84F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EA7BC7-B079-D59B-9563-1B8A0238A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07" y="1514598"/>
            <a:ext cx="8175799" cy="501200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3E69615-4E52-0459-57E9-0F7C5163EB16}"/>
              </a:ext>
            </a:extLst>
          </p:cNvPr>
          <p:cNvSpPr txBox="1"/>
          <p:nvPr/>
        </p:nvSpPr>
        <p:spPr>
          <a:xfrm>
            <a:off x="374351" y="194003"/>
            <a:ext cx="110157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这里的饼图和柱状图需要自己画，我们需要使用这一张</a:t>
            </a:r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slides</a:t>
            </a:r>
            <a:r>
              <a:rPr lang="zh-CN" alt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吗？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9693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5DF3E-B6E5-0E3A-DDB1-62EE8C768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828E84C-AF0A-DCA6-65A5-D7CB3A743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995" y="0"/>
            <a:ext cx="3535739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5981BA1-08C2-0B74-21B6-66DF13797C8B}"/>
              </a:ext>
            </a:extLst>
          </p:cNvPr>
          <p:cNvSpPr txBox="1"/>
          <p:nvPr/>
        </p:nvSpPr>
        <p:spPr>
          <a:xfrm>
            <a:off x="366681" y="2125463"/>
            <a:ext cx="60970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Different measurement</a:t>
            </a:r>
            <a:endParaRPr lang="en-US" altLang="zh-CN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zh-CN" alt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methods give a </a:t>
            </a:r>
            <a:endParaRPr lang="en-US" altLang="zh-CN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zh-CN" alt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consistent picture of </a:t>
            </a:r>
            <a:endParaRPr lang="en-US" altLang="zh-CN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zh-CN" alt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 major cellular</a:t>
            </a:r>
            <a:endParaRPr lang="en-US" altLang="zh-CN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zh-CN" alt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investments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F89A06-160B-EFA3-81FB-4A6E638081D2}"/>
              </a:ext>
            </a:extLst>
          </p:cNvPr>
          <p:cNvSpPr txBox="1"/>
          <p:nvPr/>
        </p:nvSpPr>
        <p:spPr>
          <a:xfrm>
            <a:off x="79780" y="6482546"/>
            <a:ext cx="2620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W. Liebermeister </a:t>
            </a:r>
            <a:r>
              <a:rPr lang="en-US" altLang="zh-CN" sz="1400" dirty="0"/>
              <a:t>et al.</a:t>
            </a:r>
            <a:r>
              <a:rPr lang="zh-CN" altLang="en-US" sz="1400" dirty="0"/>
              <a:t>, 2014.</a:t>
            </a:r>
          </a:p>
        </p:txBody>
      </p:sp>
    </p:spTree>
    <p:extLst>
      <p:ext uri="{BB962C8B-B14F-4D97-AF65-F5344CB8AC3E}">
        <p14:creationId xmlns:p14="http://schemas.microsoft.com/office/powerpoint/2010/main" val="41232672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0BF1A-9F7E-59A2-365C-83A74691B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3410051-7FBB-2A6F-5F2A-712377004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247"/>
            <a:ext cx="12192000" cy="335018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A14D40A-7207-7D8E-2A81-8D171D7FEC1F}"/>
              </a:ext>
            </a:extLst>
          </p:cNvPr>
          <p:cNvSpPr txBox="1"/>
          <p:nvPr/>
        </p:nvSpPr>
        <p:spPr>
          <a:xfrm>
            <a:off x="723900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148</a:t>
            </a:r>
            <a:r>
              <a:rPr lang="zh-CN" altLang="zh-CN" sz="1400" dirty="0"/>
              <a:t>, Fig. </a:t>
            </a:r>
            <a:r>
              <a:rPr lang="en-US" altLang="zh-CN" sz="1400" dirty="0"/>
              <a:t>2</a:t>
            </a:r>
            <a:r>
              <a:rPr lang="zh-CN" altLang="zh-CN" sz="1400" dirty="0"/>
              <a:t>.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B3FABB-3FD4-1D3D-D97A-4E4995531802}"/>
              </a:ext>
            </a:extLst>
          </p:cNvPr>
          <p:cNvSpPr txBox="1"/>
          <p:nvPr/>
        </p:nvSpPr>
        <p:spPr>
          <a:xfrm>
            <a:off x="1485944" y="314241"/>
            <a:ext cx="90081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Comparative view of the proteome: commonalities and species-specific trends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9868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AEA2A-D91E-8728-F03E-C51D87E10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503B481-2A61-AE3A-AE2A-AE1FF0E1C570}"/>
              </a:ext>
            </a:extLst>
          </p:cNvPr>
          <p:cNvSpPr txBox="1"/>
          <p:nvPr/>
        </p:nvSpPr>
        <p:spPr>
          <a:xfrm>
            <a:off x="1675378" y="283109"/>
            <a:ext cx="843825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Top proteins abundance and function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zh-CN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Highest expressing protein usually 3-5% of proteome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Usually 10-20 proteins &gt;1% of proteome each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</a:t>
            </a:r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Common top 10 stars: Glycolytic (Eno, Gap, Pgk, Pyk),</a:t>
            </a:r>
          </a:p>
          <a:p>
            <a:r>
              <a:rPr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  Elongation factors (Tuf/Yef), Chaperones (GroEL, DnaK)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3C7575-4F52-ECBF-D216-34A2289A538B}"/>
              </a:ext>
            </a:extLst>
          </p:cNvPr>
          <p:cNvSpPr txBox="1"/>
          <p:nvPr/>
        </p:nvSpPr>
        <p:spPr>
          <a:xfrm>
            <a:off x="7239000" y="6550223"/>
            <a:ext cx="495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/>
              <a:t>Source: </a:t>
            </a:r>
            <a:r>
              <a:rPr lang="zh-CN" altLang="zh-CN" sz="1400" i="1" dirty="0"/>
              <a:t>Cell Biology by the Numbers</a:t>
            </a:r>
            <a:r>
              <a:rPr lang="zh-CN" altLang="zh-CN" sz="1400" dirty="0"/>
              <a:t> (July 2015), p. </a:t>
            </a:r>
            <a:r>
              <a:rPr lang="en-US" altLang="zh-CN" sz="1400" dirty="0"/>
              <a:t>148</a:t>
            </a:r>
            <a:r>
              <a:rPr lang="zh-CN" altLang="zh-CN" sz="1400" dirty="0"/>
              <a:t>, Fig. </a:t>
            </a:r>
            <a:r>
              <a:rPr lang="en-US" altLang="zh-CN" sz="1400" dirty="0"/>
              <a:t>2</a:t>
            </a:r>
            <a:r>
              <a:rPr lang="zh-CN" altLang="zh-CN" sz="1400" dirty="0"/>
              <a:t>.</a:t>
            </a:r>
            <a:endParaRPr lang="zh-CN" altLang="en-US" sz="1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B2E313D-33EA-7FCB-06CD-B4230F46D7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6"/>
          <a:stretch>
            <a:fillRect/>
          </a:stretch>
        </p:blipFill>
        <p:spPr>
          <a:xfrm>
            <a:off x="52164" y="3506450"/>
            <a:ext cx="12087672" cy="304377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E31D153-BD76-B12D-BC88-385D30C03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89053"/>
            <a:ext cx="12192000" cy="51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2639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C34A3-2D43-9D47-34F8-B39945A1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8E0F1FD-A256-591F-9C0F-23450EB14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682" y="839922"/>
            <a:ext cx="5799449" cy="596727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F9DBA1F-6D24-C01E-07F5-6DE6FFD1771D}"/>
              </a:ext>
            </a:extLst>
          </p:cNvPr>
          <p:cNvSpPr txBox="1"/>
          <p:nvPr/>
        </p:nvSpPr>
        <p:spPr>
          <a:xfrm>
            <a:off x="9837471" y="6580737"/>
            <a:ext cx="2620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W. Liebermeister </a:t>
            </a:r>
            <a:r>
              <a:rPr lang="en-US" altLang="zh-CN" sz="1400" dirty="0"/>
              <a:t>et al.</a:t>
            </a:r>
            <a:r>
              <a:rPr lang="zh-CN" altLang="en-US" sz="1400" dirty="0"/>
              <a:t>, 2014.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B426E4-9CCD-6752-9697-3D3FAB673E29}"/>
              </a:ext>
            </a:extLst>
          </p:cNvPr>
          <p:cNvSpPr txBox="1"/>
          <p:nvPr/>
        </p:nvSpPr>
        <p:spPr>
          <a:xfrm>
            <a:off x="1701844" y="193591"/>
            <a:ext cx="9008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similar are different cell lines?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232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D8DAC-717E-32DE-29E5-9A83BC87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5274820-2C11-D854-9085-B70A88B4FDAC}"/>
              </a:ext>
            </a:extLst>
          </p:cNvPr>
          <p:cNvSpPr txBox="1"/>
          <p:nvPr/>
        </p:nvSpPr>
        <p:spPr>
          <a:xfrm>
            <a:off x="1591911" y="307891"/>
            <a:ext cx="9008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similar are we to a chimp?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780DFE-A247-2335-8371-311D462899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2"/>
          <a:stretch>
            <a:fillRect/>
          </a:stretch>
        </p:blipFill>
        <p:spPr>
          <a:xfrm>
            <a:off x="1591911" y="1433189"/>
            <a:ext cx="9008177" cy="463932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0E939FB-5955-B1F3-9EF6-F7E90091B68C}"/>
              </a:ext>
            </a:extLst>
          </p:cNvPr>
          <p:cNvSpPr txBox="1"/>
          <p:nvPr/>
        </p:nvSpPr>
        <p:spPr>
          <a:xfrm>
            <a:off x="9837471" y="6580737"/>
            <a:ext cx="2620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W. Liebermeister </a:t>
            </a:r>
            <a:r>
              <a:rPr lang="en-US" altLang="zh-CN" sz="1400" dirty="0"/>
              <a:t>et al.</a:t>
            </a:r>
            <a:r>
              <a:rPr lang="zh-CN" altLang="en-US" sz="1400" dirty="0"/>
              <a:t>, 2014.</a:t>
            </a:r>
          </a:p>
        </p:txBody>
      </p:sp>
    </p:spTree>
    <p:extLst>
      <p:ext uri="{BB962C8B-B14F-4D97-AF65-F5344CB8AC3E}">
        <p14:creationId xmlns:p14="http://schemas.microsoft.com/office/powerpoint/2010/main" val="17335518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C6FC0-B870-FE78-8110-4EACB6D4C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F4544AB-5D5B-0B5A-5797-C4D866E40C00}"/>
              </a:ext>
            </a:extLst>
          </p:cNvPr>
          <p:cNvSpPr txBox="1"/>
          <p:nvPr/>
        </p:nvSpPr>
        <p:spPr>
          <a:xfrm>
            <a:off x="1581150" y="1720840"/>
            <a:ext cx="39179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/>
              <a:t>How different is a</a:t>
            </a:r>
          </a:p>
          <a:p>
            <a:pPr algn="ctr"/>
            <a:r>
              <a:rPr lang="zh-CN" altLang="en-US" sz="3600" dirty="0"/>
              <a:t>human cell line</a:t>
            </a:r>
          </a:p>
          <a:p>
            <a:pPr algn="ctr"/>
            <a:r>
              <a:rPr lang="zh-CN" altLang="en-US" sz="3600" dirty="0"/>
              <a:t>from other human</a:t>
            </a:r>
          </a:p>
          <a:p>
            <a:pPr algn="ctr"/>
            <a:r>
              <a:rPr lang="zh-CN" altLang="en-US" sz="3600" dirty="0"/>
              <a:t>cell lines and from</a:t>
            </a:r>
          </a:p>
          <a:p>
            <a:pPr algn="ctr"/>
            <a:r>
              <a:rPr lang="zh-CN" altLang="en-US" sz="3600" dirty="0"/>
              <a:t>the same cell line</a:t>
            </a:r>
          </a:p>
          <a:p>
            <a:pPr algn="ctr"/>
            <a:r>
              <a:rPr lang="zh-CN" altLang="en-US" sz="3600" dirty="0"/>
              <a:t>in chimp?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E8DE180-329F-50DD-24A0-1AC102D55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062" y="136525"/>
            <a:ext cx="4186768" cy="65849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A4429D7-3FA5-633D-5451-B6C99AC49DC7}"/>
              </a:ext>
            </a:extLst>
          </p:cNvPr>
          <p:cNvSpPr txBox="1"/>
          <p:nvPr/>
        </p:nvSpPr>
        <p:spPr>
          <a:xfrm>
            <a:off x="9837471" y="6612487"/>
            <a:ext cx="2620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W. Liebermeister </a:t>
            </a:r>
            <a:r>
              <a:rPr lang="en-US" altLang="zh-CN" sz="1400" dirty="0"/>
              <a:t>et al.</a:t>
            </a:r>
            <a:r>
              <a:rPr lang="zh-CN" altLang="en-US" sz="1400" dirty="0"/>
              <a:t>, 2014.</a:t>
            </a:r>
          </a:p>
        </p:txBody>
      </p:sp>
    </p:spTree>
    <p:extLst>
      <p:ext uri="{BB962C8B-B14F-4D97-AF65-F5344CB8AC3E}">
        <p14:creationId xmlns:p14="http://schemas.microsoft.com/office/powerpoint/2010/main" val="27479043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ACE87-A3D3-C9AA-6B52-8B52B0A63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5F6976D-CC63-B127-6252-FDC00ABD49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2" t="60247" r="1241" b="2185"/>
          <a:stretch>
            <a:fillRect/>
          </a:stretch>
        </p:blipFill>
        <p:spPr>
          <a:xfrm>
            <a:off x="2298700" y="3429000"/>
            <a:ext cx="7842250" cy="32766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E6F43E1-FF64-1BA0-61AC-0CB1397F3B2D}"/>
              </a:ext>
            </a:extLst>
          </p:cNvPr>
          <p:cNvSpPr txBox="1"/>
          <p:nvPr/>
        </p:nvSpPr>
        <p:spPr>
          <a:xfrm>
            <a:off x="3683000" y="18415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hlinkClick r:id="rId3"/>
              </a:rPr>
              <a:t>https://www.proteomaps.net</a:t>
            </a:r>
            <a:endParaRPr lang="en-US" altLang="zh-CN" sz="2800" dirty="0"/>
          </a:p>
          <a:p>
            <a:endParaRPr lang="zh-CN" altLang="en-US" sz="2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5304CBE-CAF5-7712-DE45-EE0462BD6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862732"/>
            <a:ext cx="3209952" cy="27051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D44F06E-B441-DE9E-1B61-E842525092EA}"/>
              </a:ext>
            </a:extLst>
          </p:cNvPr>
          <p:cNvSpPr txBox="1"/>
          <p:nvPr/>
        </p:nvSpPr>
        <p:spPr>
          <a:xfrm>
            <a:off x="4924452" y="991704"/>
            <a:ext cx="62705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/>
              <a:t>Depicting the protein composition of cells</a:t>
            </a:r>
          </a:p>
          <a:p>
            <a:pPr>
              <a:buNone/>
            </a:pPr>
            <a:r>
              <a:rPr lang="zh-CN" altLang="zh-CN" dirty="0"/>
              <a:t>Proteomaps show the quantitative composition of proteomes with a focus on protein function. They are built automatically from proteome data and based on the KEGG Pathways gene classification. Each protein is shown by a polygon and functionally related proteins are arranged in common regions. To emphasize highly expressed proteins, polygon areas represent protein abundances, weighted by protein size.</a:t>
            </a:r>
          </a:p>
        </p:txBody>
      </p:sp>
    </p:spTree>
    <p:extLst>
      <p:ext uri="{BB962C8B-B14F-4D97-AF65-F5344CB8AC3E}">
        <p14:creationId xmlns:p14="http://schemas.microsoft.com/office/powerpoint/2010/main" val="1268863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4816</Words>
  <Application>Microsoft Office PowerPoint</Application>
  <PresentationFormat>宽屏</PresentationFormat>
  <Paragraphs>232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1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奕豪 林</dc:creator>
  <cp:lastModifiedBy>奕豪 林</cp:lastModifiedBy>
  <cp:revision>19</cp:revision>
  <dcterms:created xsi:type="dcterms:W3CDTF">2026-08-19T02:38:46Z</dcterms:created>
  <dcterms:modified xsi:type="dcterms:W3CDTF">2026-08-19T12:41:44Z</dcterms:modified>
</cp:coreProperties>
</file>